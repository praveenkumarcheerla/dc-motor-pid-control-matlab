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312" r:id="rId2"/>
    <p:sldId id="315" r:id="rId3"/>
    <p:sldId id="378" r:id="rId4"/>
    <p:sldId id="362" r:id="rId5"/>
    <p:sldId id="374" r:id="rId6"/>
    <p:sldId id="369" r:id="rId7"/>
    <p:sldId id="373" r:id="rId8"/>
    <p:sldId id="375" r:id="rId9"/>
    <p:sldId id="372" r:id="rId10"/>
    <p:sldId id="377" r:id="rId11"/>
    <p:sldId id="366" r:id="rId12"/>
    <p:sldId id="376" r:id="rId13"/>
    <p:sldId id="370" r:id="rId14"/>
    <p:sldId id="380" r:id="rId15"/>
    <p:sldId id="379" r:id="rId16"/>
  </p:sldIdLst>
  <p:sldSz cx="12192000" cy="6858000"/>
  <p:notesSz cx="6797675" cy="9926638"/>
  <p:custShowLst>
    <p:custShow name="Zielgruppenpräsentation 1" id="0">
      <p:sldLst>
        <p:sld r:id="rId2"/>
        <p:sld r:id="rId3"/>
      </p:sldLst>
    </p:custShow>
  </p:custShowLst>
  <p:custDataLst>
    <p:tags r:id="rId1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47" userDrawn="1">
          <p15:clr>
            <a:srgbClr val="A4A3A4"/>
          </p15:clr>
        </p15:guide>
        <p15:guide id="3" orient="horz" pos="187" userDrawn="1">
          <p15:clr>
            <a:srgbClr val="A4A3A4"/>
          </p15:clr>
        </p15:guide>
        <p15:guide id="4" orient="horz" pos="37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 lastIdx="1" clrIdx="0">
    <p:extLst>
      <p:ext uri="{19B8F6BF-5375-455C-9EA6-DF929625EA0E}">
        <p15:presenceInfo xmlns:p15="http://schemas.microsoft.com/office/powerpoint/2012/main" userId=" "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273"/>
    <a:srgbClr val="009F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90265" autoAdjust="0"/>
  </p:normalViewPr>
  <p:slideViewPr>
    <p:cSldViewPr snapToGrid="0" showGuides="1">
      <p:cViewPr varScale="1">
        <p:scale>
          <a:sx n="112" d="100"/>
          <a:sy n="112" d="100"/>
        </p:scale>
        <p:origin x="384" y="102"/>
      </p:cViewPr>
      <p:guideLst>
        <p:guide pos="347"/>
        <p:guide orient="horz" pos="187"/>
        <p:guide orient="horz" pos="37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 Id="rId4"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 Id="rId4"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2718F5-D738-6947-9155-59731A541109}" type="doc">
      <dgm:prSet loTypeId="urn:microsoft.com/office/officeart/2005/8/layout/pList1" loCatId="" qsTypeId="urn:microsoft.com/office/officeart/2005/8/quickstyle/simple1" qsCatId="simple" csTypeId="urn:microsoft.com/office/officeart/2005/8/colors/accent1_2" csCatId="accent1" phldr="1"/>
      <dgm:spPr/>
      <dgm:t>
        <a:bodyPr/>
        <a:lstStyle/>
        <a:p>
          <a:endParaRPr lang="en-US"/>
        </a:p>
      </dgm:t>
    </dgm:pt>
    <dgm:pt modelId="{E6854AEA-B0D7-7E4F-91CB-249C23CE77BD}">
      <dgm:prSet phldrT="[Text]"/>
      <dgm:spPr/>
      <dgm:t>
        <a:bodyPr/>
        <a:lstStyle/>
        <a:p>
          <a:pPr>
            <a:buClrTx/>
            <a:buSzTx/>
            <a:buFontTx/>
            <a:buNone/>
          </a:pPr>
          <a:r>
            <a:rPr lang="en-GB" dirty="0">
              <a:solidFill>
                <a:srgbClr val="193C66"/>
              </a:solidFill>
              <a:effectLst/>
              <a:latin typeface="+mn-lt"/>
            </a:rPr>
            <a:t>Praveen Kumar Cheerla - </a:t>
          </a:r>
          <a:r>
            <a:rPr lang="en-GB" dirty="0">
              <a:latin typeface="+mn-lt"/>
            </a:rPr>
            <a:t>12501601</a:t>
          </a:r>
          <a:endParaRPr lang="en-US" dirty="0"/>
        </a:p>
      </dgm:t>
    </dgm:pt>
    <dgm:pt modelId="{DC71CF9F-B74F-974F-9AA6-FBB7DE66FC1C}" type="parTrans" cxnId="{548AC221-8C59-1044-82DD-01270F7EBEA1}">
      <dgm:prSet/>
      <dgm:spPr/>
      <dgm:t>
        <a:bodyPr/>
        <a:lstStyle/>
        <a:p>
          <a:endParaRPr lang="en-US"/>
        </a:p>
      </dgm:t>
    </dgm:pt>
    <dgm:pt modelId="{A382E14F-47B1-C245-A19F-FA2613099777}" type="sibTrans" cxnId="{548AC221-8C59-1044-82DD-01270F7EBEA1}">
      <dgm:prSet/>
      <dgm:spPr/>
      <dgm:t>
        <a:bodyPr/>
        <a:lstStyle/>
        <a:p>
          <a:endParaRPr lang="en-US"/>
        </a:p>
      </dgm:t>
    </dgm:pt>
    <dgm:pt modelId="{CA009450-B5FC-2049-9876-886D906471EF}">
      <dgm:prSet phldrT="[Text]"/>
      <dgm:spPr/>
      <dgm:t>
        <a:bodyPr/>
        <a:lstStyle/>
        <a:p>
          <a:pPr>
            <a:buClrTx/>
            <a:buSzTx/>
            <a:buFontTx/>
            <a:buNone/>
          </a:pPr>
          <a:r>
            <a:rPr lang="en-GB" dirty="0">
              <a:solidFill>
                <a:srgbClr val="193C66"/>
              </a:solidFill>
              <a:effectLst/>
              <a:latin typeface="+mn-lt"/>
            </a:rPr>
            <a:t>Gamini Lokesh Chowdary  - 12652811</a:t>
          </a:r>
          <a:endParaRPr lang="en-US" dirty="0"/>
        </a:p>
      </dgm:t>
    </dgm:pt>
    <dgm:pt modelId="{69E14ACC-08B6-904C-8972-0BDDE7B59FDA}" type="parTrans" cxnId="{45060F7E-F839-1B4D-8AA6-FF6DB83887BA}">
      <dgm:prSet/>
      <dgm:spPr/>
      <dgm:t>
        <a:bodyPr/>
        <a:lstStyle/>
        <a:p>
          <a:endParaRPr lang="en-US"/>
        </a:p>
      </dgm:t>
    </dgm:pt>
    <dgm:pt modelId="{9C898191-FC8D-2546-B376-F214BA598387}" type="sibTrans" cxnId="{45060F7E-F839-1B4D-8AA6-FF6DB83887BA}">
      <dgm:prSet/>
      <dgm:spPr/>
      <dgm:t>
        <a:bodyPr/>
        <a:lstStyle/>
        <a:p>
          <a:endParaRPr lang="en-US"/>
        </a:p>
      </dgm:t>
    </dgm:pt>
    <dgm:pt modelId="{E439FA91-D1DC-F747-9659-62799EBC9260}">
      <dgm:prSet phldrT="[Text]"/>
      <dgm:spPr/>
      <dgm:t>
        <a:bodyPr/>
        <a:lstStyle/>
        <a:p>
          <a:r>
            <a:rPr lang="en-GB" dirty="0">
              <a:solidFill>
                <a:srgbClr val="193C66"/>
              </a:solidFill>
              <a:effectLst/>
              <a:latin typeface="+mn-lt"/>
            </a:rPr>
            <a:t>Ameer khan Mohammed - </a:t>
          </a:r>
          <a:r>
            <a:rPr lang="en-DE">
              <a:solidFill>
                <a:srgbClr val="193C66"/>
              </a:solidFill>
              <a:effectLst/>
              <a:latin typeface="+mn-lt"/>
            </a:rPr>
            <a:t>12652811</a:t>
          </a:r>
          <a:endParaRPr lang="en-US" dirty="0"/>
        </a:p>
      </dgm:t>
    </dgm:pt>
    <dgm:pt modelId="{29B11871-66D1-9F48-A5B4-11ACC3D5213F}" type="parTrans" cxnId="{CE2F8048-61DF-0D47-802C-83527169E381}">
      <dgm:prSet/>
      <dgm:spPr/>
      <dgm:t>
        <a:bodyPr/>
        <a:lstStyle/>
        <a:p>
          <a:endParaRPr lang="en-US"/>
        </a:p>
      </dgm:t>
    </dgm:pt>
    <dgm:pt modelId="{19ECEF1B-D695-4944-81F4-484E4A913749}" type="sibTrans" cxnId="{CE2F8048-61DF-0D47-802C-83527169E381}">
      <dgm:prSet/>
      <dgm:spPr/>
      <dgm:t>
        <a:bodyPr/>
        <a:lstStyle/>
        <a:p>
          <a:endParaRPr lang="en-US"/>
        </a:p>
      </dgm:t>
    </dgm:pt>
    <dgm:pt modelId="{948DBC5E-E766-5546-9222-2809D5D5AF08}">
      <dgm:prSet phldrT="[Text]"/>
      <dgm:spPr/>
      <dgm:t>
        <a:bodyPr/>
        <a:lstStyle/>
        <a:p>
          <a:pPr>
            <a:buClrTx/>
            <a:buSzTx/>
            <a:buFontTx/>
            <a:buNone/>
          </a:pPr>
          <a:r>
            <a:rPr lang="en-GB" dirty="0">
              <a:solidFill>
                <a:srgbClr val="193C66"/>
              </a:solidFill>
              <a:effectLst/>
              <a:latin typeface="+mn-lt"/>
            </a:rPr>
            <a:t>Ajith Kannan </a:t>
          </a:r>
          <a:r>
            <a:rPr lang="en-GB" err="1">
              <a:solidFill>
                <a:srgbClr val="193C66"/>
              </a:solidFill>
              <a:effectLst/>
              <a:latin typeface="+mn-lt"/>
            </a:rPr>
            <a:t>karipody</a:t>
          </a:r>
          <a:r>
            <a:rPr lang="en-GB">
              <a:solidFill>
                <a:srgbClr val="193C66"/>
              </a:solidFill>
              <a:effectLst/>
              <a:latin typeface="+mn-lt"/>
            </a:rPr>
            <a:t>  -</a:t>
          </a:r>
          <a:r>
            <a:rPr lang="en-DE">
              <a:solidFill>
                <a:srgbClr val="193C66"/>
              </a:solidFill>
              <a:effectLst/>
              <a:latin typeface="+mn-lt"/>
            </a:rPr>
            <a:t>12652811</a:t>
          </a:r>
          <a:r>
            <a:rPr lang="en-GB">
              <a:solidFill>
                <a:srgbClr val="193C66"/>
              </a:solidFill>
              <a:effectLst/>
              <a:latin typeface="+mn-lt"/>
            </a:rPr>
            <a:t> </a:t>
          </a:r>
          <a:endParaRPr lang="en-US" dirty="0"/>
        </a:p>
      </dgm:t>
    </dgm:pt>
    <dgm:pt modelId="{7FD26181-AAFF-8543-B03B-74F0D05B9961}" type="parTrans" cxnId="{695092CF-012A-9740-BC60-6EE3D091F596}">
      <dgm:prSet/>
      <dgm:spPr/>
      <dgm:t>
        <a:bodyPr/>
        <a:lstStyle/>
        <a:p>
          <a:endParaRPr lang="en-US"/>
        </a:p>
      </dgm:t>
    </dgm:pt>
    <dgm:pt modelId="{CB2C2541-17D1-844A-BA14-76F5882FE8FD}" type="sibTrans" cxnId="{695092CF-012A-9740-BC60-6EE3D091F596}">
      <dgm:prSet/>
      <dgm:spPr/>
      <dgm:t>
        <a:bodyPr/>
        <a:lstStyle/>
        <a:p>
          <a:endParaRPr lang="en-US"/>
        </a:p>
      </dgm:t>
    </dgm:pt>
    <dgm:pt modelId="{0F0C5E5F-F109-EF4A-BAEC-685A0731A7F7}" type="pres">
      <dgm:prSet presAssocID="{EC2718F5-D738-6947-9155-59731A541109}" presName="Name0" presStyleCnt="0">
        <dgm:presLayoutVars>
          <dgm:dir/>
          <dgm:resizeHandles val="exact"/>
        </dgm:presLayoutVars>
      </dgm:prSet>
      <dgm:spPr/>
    </dgm:pt>
    <dgm:pt modelId="{1DFEEB3A-C36F-324E-BB37-83E4CBA21093}" type="pres">
      <dgm:prSet presAssocID="{E6854AEA-B0D7-7E4F-91CB-249C23CE77BD}" presName="compNode" presStyleCnt="0"/>
      <dgm:spPr/>
    </dgm:pt>
    <dgm:pt modelId="{0EB5AC33-614B-ED4C-835F-A0BBB4DD7F0C}" type="pres">
      <dgm:prSet presAssocID="{E6854AEA-B0D7-7E4F-91CB-249C23CE77BD}" presName="pictRect" presStyleLbl="node1" presStyleIdx="0" presStyleCnt="4"/>
      <dgm:spPr>
        <a:blipFill dpi="0" rotWithShape="1">
          <a:blip xmlns:r="http://schemas.openxmlformats.org/officeDocument/2006/relationships" r:embed="rId1"/>
          <a:srcRect/>
          <a:stretch>
            <a:fillRect l="7951" t="-6815" r="7995" b="-51207"/>
          </a:stretch>
        </a:blipFill>
      </dgm:spPr>
    </dgm:pt>
    <dgm:pt modelId="{A4D315E1-00EE-654F-80D7-53FECEC696EF}" type="pres">
      <dgm:prSet presAssocID="{E6854AEA-B0D7-7E4F-91CB-249C23CE77BD}" presName="textRect" presStyleLbl="revTx" presStyleIdx="0" presStyleCnt="4">
        <dgm:presLayoutVars>
          <dgm:bulletEnabled val="1"/>
        </dgm:presLayoutVars>
      </dgm:prSet>
      <dgm:spPr/>
    </dgm:pt>
    <dgm:pt modelId="{E0CFC89E-56D0-B64C-BE31-C0E65CC37869}" type="pres">
      <dgm:prSet presAssocID="{A382E14F-47B1-C245-A19F-FA2613099777}" presName="sibTrans" presStyleLbl="sibTrans2D1" presStyleIdx="0" presStyleCnt="0"/>
      <dgm:spPr/>
    </dgm:pt>
    <dgm:pt modelId="{2C09DA7C-ADC1-454B-AC55-FD8CCC571127}" type="pres">
      <dgm:prSet presAssocID="{CA009450-B5FC-2049-9876-886D906471EF}" presName="compNode" presStyleCnt="0"/>
      <dgm:spPr/>
    </dgm:pt>
    <dgm:pt modelId="{66C011E9-263A-5444-9F79-A261EB485E67}" type="pres">
      <dgm:prSet presAssocID="{CA009450-B5FC-2049-9876-886D906471EF}" presName="pictRect" presStyleLbl="node1" presStyleIdx="1" presStyleCnt="4"/>
      <dgm:spPr>
        <a:blipFill dpi="0" rotWithShape="1">
          <a:blip xmlns:r="http://schemas.openxmlformats.org/officeDocument/2006/relationships" r:embed="rId2"/>
          <a:srcRect/>
          <a:stretch>
            <a:fillRect t="-5951" r="4426" b="-79463"/>
          </a:stretch>
        </a:blipFill>
      </dgm:spPr>
    </dgm:pt>
    <dgm:pt modelId="{DEB6C0E6-056B-5440-B949-F1C1428D33D2}" type="pres">
      <dgm:prSet presAssocID="{CA009450-B5FC-2049-9876-886D906471EF}" presName="textRect" presStyleLbl="revTx" presStyleIdx="1" presStyleCnt="4">
        <dgm:presLayoutVars>
          <dgm:bulletEnabled val="1"/>
        </dgm:presLayoutVars>
      </dgm:prSet>
      <dgm:spPr/>
    </dgm:pt>
    <dgm:pt modelId="{F34B7169-7B43-6844-BFD5-16486A5F8225}" type="pres">
      <dgm:prSet presAssocID="{9C898191-FC8D-2546-B376-F214BA598387}" presName="sibTrans" presStyleLbl="sibTrans2D1" presStyleIdx="0" presStyleCnt="0"/>
      <dgm:spPr/>
    </dgm:pt>
    <dgm:pt modelId="{8F39A7E3-7B88-D94E-8E1C-2344C76C13C8}" type="pres">
      <dgm:prSet presAssocID="{E439FA91-D1DC-F747-9659-62799EBC9260}" presName="compNode" presStyleCnt="0"/>
      <dgm:spPr/>
    </dgm:pt>
    <dgm:pt modelId="{539F754B-2AC5-AD4C-B32A-D5DC75EBD88A}" type="pres">
      <dgm:prSet presAssocID="{E439FA91-D1DC-F747-9659-62799EBC9260}" presName="pictRect" presStyleLbl="node1" presStyleIdx="2" presStyleCnt="4"/>
      <dgm:spPr>
        <a:blipFill dpi="0" rotWithShape="1">
          <a:blip xmlns:r="http://schemas.openxmlformats.org/officeDocument/2006/relationships" r:embed="rId3"/>
          <a:srcRect/>
          <a:stretch>
            <a:fillRect l="10609" t="-25971" r="20883" b="-46675"/>
          </a:stretch>
        </a:blipFill>
      </dgm:spPr>
    </dgm:pt>
    <dgm:pt modelId="{092A3273-F8AB-6C47-A784-CCBD03CCE9A6}" type="pres">
      <dgm:prSet presAssocID="{E439FA91-D1DC-F747-9659-62799EBC9260}" presName="textRect" presStyleLbl="revTx" presStyleIdx="2" presStyleCnt="4">
        <dgm:presLayoutVars>
          <dgm:bulletEnabled val="1"/>
        </dgm:presLayoutVars>
      </dgm:prSet>
      <dgm:spPr/>
    </dgm:pt>
    <dgm:pt modelId="{400BE3B7-F086-CA41-B086-27771A5B813B}" type="pres">
      <dgm:prSet presAssocID="{19ECEF1B-D695-4944-81F4-484E4A913749}" presName="sibTrans" presStyleLbl="sibTrans2D1" presStyleIdx="0" presStyleCnt="0"/>
      <dgm:spPr/>
    </dgm:pt>
    <dgm:pt modelId="{851B3704-E31B-A340-ACD4-16EED1BB9422}" type="pres">
      <dgm:prSet presAssocID="{948DBC5E-E766-5546-9222-2809D5D5AF08}" presName="compNode" presStyleCnt="0"/>
      <dgm:spPr/>
    </dgm:pt>
    <dgm:pt modelId="{FCFCC913-3ECB-4241-A95F-82F70D3A35E4}" type="pres">
      <dgm:prSet presAssocID="{948DBC5E-E766-5546-9222-2809D5D5AF08}" presName="pictRect" presStyleLbl="node1" presStyleIdx="3" presStyleCnt="4" custLinFactNeighborY="-3042"/>
      <dgm:spPr>
        <a:blipFill dpi="0" rotWithShape="1">
          <a:blip xmlns:r="http://schemas.openxmlformats.org/officeDocument/2006/relationships" r:embed="rId4"/>
          <a:srcRect/>
          <a:stretch>
            <a:fillRect l="9911" t="-2026" r="10165" b="-49830"/>
          </a:stretch>
        </a:blipFill>
      </dgm:spPr>
    </dgm:pt>
    <dgm:pt modelId="{2D4EC534-7A0D-A842-8A0B-0A9E27F90673}" type="pres">
      <dgm:prSet presAssocID="{948DBC5E-E766-5546-9222-2809D5D5AF08}" presName="textRect" presStyleLbl="revTx" presStyleIdx="3" presStyleCnt="4">
        <dgm:presLayoutVars>
          <dgm:bulletEnabled val="1"/>
        </dgm:presLayoutVars>
      </dgm:prSet>
      <dgm:spPr/>
    </dgm:pt>
  </dgm:ptLst>
  <dgm:cxnLst>
    <dgm:cxn modelId="{025CCA14-C1A3-9446-AE5A-9F0A3A2972A8}" type="presOf" srcId="{EC2718F5-D738-6947-9155-59731A541109}" destId="{0F0C5E5F-F109-EF4A-BAEC-685A0731A7F7}" srcOrd="0" destOrd="0" presId="urn:microsoft.com/office/officeart/2005/8/layout/pList1"/>
    <dgm:cxn modelId="{548AC221-8C59-1044-82DD-01270F7EBEA1}" srcId="{EC2718F5-D738-6947-9155-59731A541109}" destId="{E6854AEA-B0D7-7E4F-91CB-249C23CE77BD}" srcOrd="0" destOrd="0" parTransId="{DC71CF9F-B74F-974F-9AA6-FBB7DE66FC1C}" sibTransId="{A382E14F-47B1-C245-A19F-FA2613099777}"/>
    <dgm:cxn modelId="{94A2962A-AE27-784A-9339-310234C6E477}" type="presOf" srcId="{E439FA91-D1DC-F747-9659-62799EBC9260}" destId="{092A3273-F8AB-6C47-A784-CCBD03CCE9A6}" srcOrd="0" destOrd="0" presId="urn:microsoft.com/office/officeart/2005/8/layout/pList1"/>
    <dgm:cxn modelId="{CE2F8048-61DF-0D47-802C-83527169E381}" srcId="{EC2718F5-D738-6947-9155-59731A541109}" destId="{E439FA91-D1DC-F747-9659-62799EBC9260}" srcOrd="2" destOrd="0" parTransId="{29B11871-66D1-9F48-A5B4-11ACC3D5213F}" sibTransId="{19ECEF1B-D695-4944-81F4-484E4A913749}"/>
    <dgm:cxn modelId="{5A65B772-E911-1448-A44E-1C569028349A}" type="presOf" srcId="{19ECEF1B-D695-4944-81F4-484E4A913749}" destId="{400BE3B7-F086-CA41-B086-27771A5B813B}" srcOrd="0" destOrd="0" presId="urn:microsoft.com/office/officeart/2005/8/layout/pList1"/>
    <dgm:cxn modelId="{45060F7E-F839-1B4D-8AA6-FF6DB83887BA}" srcId="{EC2718F5-D738-6947-9155-59731A541109}" destId="{CA009450-B5FC-2049-9876-886D906471EF}" srcOrd="1" destOrd="0" parTransId="{69E14ACC-08B6-904C-8972-0BDDE7B59FDA}" sibTransId="{9C898191-FC8D-2546-B376-F214BA598387}"/>
    <dgm:cxn modelId="{E36EB08A-8EC6-4547-A022-B2FCFF17DC10}" type="presOf" srcId="{E6854AEA-B0D7-7E4F-91CB-249C23CE77BD}" destId="{A4D315E1-00EE-654F-80D7-53FECEC696EF}" srcOrd="0" destOrd="0" presId="urn:microsoft.com/office/officeart/2005/8/layout/pList1"/>
    <dgm:cxn modelId="{BD957B8F-8B9E-6A4B-BF8F-80E8C2FAF2DA}" type="presOf" srcId="{948DBC5E-E766-5546-9222-2809D5D5AF08}" destId="{2D4EC534-7A0D-A842-8A0B-0A9E27F90673}" srcOrd="0" destOrd="0" presId="urn:microsoft.com/office/officeart/2005/8/layout/pList1"/>
    <dgm:cxn modelId="{C67B4DA3-D9F8-7F4D-830D-2F935F006C17}" type="presOf" srcId="{9C898191-FC8D-2546-B376-F214BA598387}" destId="{F34B7169-7B43-6844-BFD5-16486A5F8225}" srcOrd="0" destOrd="0" presId="urn:microsoft.com/office/officeart/2005/8/layout/pList1"/>
    <dgm:cxn modelId="{F9C810A7-0C67-2941-AE51-CB0C39AC3874}" type="presOf" srcId="{CA009450-B5FC-2049-9876-886D906471EF}" destId="{DEB6C0E6-056B-5440-B949-F1C1428D33D2}" srcOrd="0" destOrd="0" presId="urn:microsoft.com/office/officeart/2005/8/layout/pList1"/>
    <dgm:cxn modelId="{B872AFB3-5D6D-C844-B8DA-8FE6E5C4D367}" type="presOf" srcId="{A382E14F-47B1-C245-A19F-FA2613099777}" destId="{E0CFC89E-56D0-B64C-BE31-C0E65CC37869}" srcOrd="0" destOrd="0" presId="urn:microsoft.com/office/officeart/2005/8/layout/pList1"/>
    <dgm:cxn modelId="{695092CF-012A-9740-BC60-6EE3D091F596}" srcId="{EC2718F5-D738-6947-9155-59731A541109}" destId="{948DBC5E-E766-5546-9222-2809D5D5AF08}" srcOrd="3" destOrd="0" parTransId="{7FD26181-AAFF-8543-B03B-74F0D05B9961}" sibTransId="{CB2C2541-17D1-844A-BA14-76F5882FE8FD}"/>
    <dgm:cxn modelId="{71C0DD86-8C8E-5C47-988A-702191602698}" type="presParOf" srcId="{0F0C5E5F-F109-EF4A-BAEC-685A0731A7F7}" destId="{1DFEEB3A-C36F-324E-BB37-83E4CBA21093}" srcOrd="0" destOrd="0" presId="urn:microsoft.com/office/officeart/2005/8/layout/pList1"/>
    <dgm:cxn modelId="{6CAD66DB-D377-1640-B00B-9FDA72A0AC64}" type="presParOf" srcId="{1DFEEB3A-C36F-324E-BB37-83E4CBA21093}" destId="{0EB5AC33-614B-ED4C-835F-A0BBB4DD7F0C}" srcOrd="0" destOrd="0" presId="urn:microsoft.com/office/officeart/2005/8/layout/pList1"/>
    <dgm:cxn modelId="{E82A0BF2-EB23-304F-8A3E-A7B0D3E2D50A}" type="presParOf" srcId="{1DFEEB3A-C36F-324E-BB37-83E4CBA21093}" destId="{A4D315E1-00EE-654F-80D7-53FECEC696EF}" srcOrd="1" destOrd="0" presId="urn:microsoft.com/office/officeart/2005/8/layout/pList1"/>
    <dgm:cxn modelId="{0A596EC2-5C2A-1B4C-94C5-374CF3900BFD}" type="presParOf" srcId="{0F0C5E5F-F109-EF4A-BAEC-685A0731A7F7}" destId="{E0CFC89E-56D0-B64C-BE31-C0E65CC37869}" srcOrd="1" destOrd="0" presId="urn:microsoft.com/office/officeart/2005/8/layout/pList1"/>
    <dgm:cxn modelId="{9E3252AF-D795-1E41-9D29-CFBB9E460321}" type="presParOf" srcId="{0F0C5E5F-F109-EF4A-BAEC-685A0731A7F7}" destId="{2C09DA7C-ADC1-454B-AC55-FD8CCC571127}" srcOrd="2" destOrd="0" presId="urn:microsoft.com/office/officeart/2005/8/layout/pList1"/>
    <dgm:cxn modelId="{6CC80C4E-2B99-0B4E-B038-466FF30168E7}" type="presParOf" srcId="{2C09DA7C-ADC1-454B-AC55-FD8CCC571127}" destId="{66C011E9-263A-5444-9F79-A261EB485E67}" srcOrd="0" destOrd="0" presId="urn:microsoft.com/office/officeart/2005/8/layout/pList1"/>
    <dgm:cxn modelId="{831D3B69-536A-D444-95BD-DDD37057729C}" type="presParOf" srcId="{2C09DA7C-ADC1-454B-AC55-FD8CCC571127}" destId="{DEB6C0E6-056B-5440-B949-F1C1428D33D2}" srcOrd="1" destOrd="0" presId="urn:microsoft.com/office/officeart/2005/8/layout/pList1"/>
    <dgm:cxn modelId="{D99BDECC-4FC1-4041-8F97-29EFFE21ADFF}" type="presParOf" srcId="{0F0C5E5F-F109-EF4A-BAEC-685A0731A7F7}" destId="{F34B7169-7B43-6844-BFD5-16486A5F8225}" srcOrd="3" destOrd="0" presId="urn:microsoft.com/office/officeart/2005/8/layout/pList1"/>
    <dgm:cxn modelId="{AC8775E6-64C3-254D-ACFB-49B3744165D9}" type="presParOf" srcId="{0F0C5E5F-F109-EF4A-BAEC-685A0731A7F7}" destId="{8F39A7E3-7B88-D94E-8E1C-2344C76C13C8}" srcOrd="4" destOrd="0" presId="urn:microsoft.com/office/officeart/2005/8/layout/pList1"/>
    <dgm:cxn modelId="{7C784CDF-6451-F745-8ACD-E4FEA7D68706}" type="presParOf" srcId="{8F39A7E3-7B88-D94E-8E1C-2344C76C13C8}" destId="{539F754B-2AC5-AD4C-B32A-D5DC75EBD88A}" srcOrd="0" destOrd="0" presId="urn:microsoft.com/office/officeart/2005/8/layout/pList1"/>
    <dgm:cxn modelId="{E07EB274-538C-9140-9E00-3E7CA55CA46D}" type="presParOf" srcId="{8F39A7E3-7B88-D94E-8E1C-2344C76C13C8}" destId="{092A3273-F8AB-6C47-A784-CCBD03CCE9A6}" srcOrd="1" destOrd="0" presId="urn:microsoft.com/office/officeart/2005/8/layout/pList1"/>
    <dgm:cxn modelId="{25CCE72C-7A00-3A4E-805F-B9AC26C5C678}" type="presParOf" srcId="{0F0C5E5F-F109-EF4A-BAEC-685A0731A7F7}" destId="{400BE3B7-F086-CA41-B086-27771A5B813B}" srcOrd="5" destOrd="0" presId="urn:microsoft.com/office/officeart/2005/8/layout/pList1"/>
    <dgm:cxn modelId="{BA594157-A843-514A-BE5C-66B3B6D98AD1}" type="presParOf" srcId="{0F0C5E5F-F109-EF4A-BAEC-685A0731A7F7}" destId="{851B3704-E31B-A340-ACD4-16EED1BB9422}" srcOrd="6" destOrd="0" presId="urn:microsoft.com/office/officeart/2005/8/layout/pList1"/>
    <dgm:cxn modelId="{AFA6783D-1BAF-A548-831D-3DC92778015A}" type="presParOf" srcId="{851B3704-E31B-A340-ACD4-16EED1BB9422}" destId="{FCFCC913-3ECB-4241-A95F-82F70D3A35E4}" srcOrd="0" destOrd="0" presId="urn:microsoft.com/office/officeart/2005/8/layout/pList1"/>
    <dgm:cxn modelId="{9C79C827-73A5-1845-BFC4-7E1056052E81}" type="presParOf" srcId="{851B3704-E31B-A340-ACD4-16EED1BB9422}" destId="{2D4EC534-7A0D-A842-8A0B-0A9E27F90673}"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54E7AF-8EB3-9445-A790-89C3AE7A58BC}"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FE451734-3550-9D45-8F41-B8C05A8E425E}">
      <dgm:prSet/>
      <dgm:spPr/>
      <dgm:t>
        <a:bodyPr/>
        <a:lstStyle/>
        <a:p>
          <a:r>
            <a:rPr lang="en-US" b="1" dirty="0"/>
            <a:t>Armature-Controlled DC Motor</a:t>
          </a:r>
          <a:r>
            <a:rPr lang="en-US" dirty="0"/>
            <a:t>: The study focuses on a permanent magnet DC motor where the speed is regulated by varying the armature voltage ($</a:t>
          </a:r>
          <a:r>
            <a:rPr lang="en-US" dirty="0" err="1"/>
            <a:t>V_a</a:t>
          </a:r>
          <a:r>
            <a:rPr lang="en-US" dirty="0"/>
            <a:t>$). </a:t>
          </a:r>
        </a:p>
      </dgm:t>
    </dgm:pt>
    <dgm:pt modelId="{7377E103-E8FB-BE4E-8768-310F1F55F03D}" type="parTrans" cxnId="{50EB7748-554D-1F44-827F-1ECA29BD3F8F}">
      <dgm:prSet/>
      <dgm:spPr/>
      <dgm:t>
        <a:bodyPr/>
        <a:lstStyle/>
        <a:p>
          <a:endParaRPr lang="en-US"/>
        </a:p>
      </dgm:t>
    </dgm:pt>
    <dgm:pt modelId="{F6E5424A-C4C0-BC4C-B827-90B439134601}" type="sibTrans" cxnId="{50EB7748-554D-1F44-827F-1ECA29BD3F8F}">
      <dgm:prSet/>
      <dgm:spPr/>
      <dgm:t>
        <a:bodyPr/>
        <a:lstStyle/>
        <a:p>
          <a:endParaRPr lang="en-US"/>
        </a:p>
      </dgm:t>
    </dgm:pt>
    <dgm:pt modelId="{5E2C0B1E-B807-BC4A-9C15-EA035D5AE686}">
      <dgm:prSet/>
      <dgm:spPr/>
      <dgm:t>
        <a:bodyPr/>
        <a:lstStyle/>
        <a:p>
          <a:r>
            <a:rPr lang="en-US" b="1" dirty="0"/>
            <a:t>System Objectives</a:t>
          </a:r>
          <a:r>
            <a:rPr lang="en-US" dirty="0"/>
            <a:t>: The goal is to transform the motor from a "simple actuator" into a "precision machine" by compensating for load disturbances and supply noise. </a:t>
          </a:r>
        </a:p>
      </dgm:t>
    </dgm:pt>
    <dgm:pt modelId="{6C9FE370-FABC-AF4C-B3FF-13E1C6FA9166}" type="parTrans" cxnId="{E592AFEF-8C15-5046-B0DE-54CF4D2B8F55}">
      <dgm:prSet/>
      <dgm:spPr/>
      <dgm:t>
        <a:bodyPr/>
        <a:lstStyle/>
        <a:p>
          <a:endParaRPr lang="en-US"/>
        </a:p>
      </dgm:t>
    </dgm:pt>
    <dgm:pt modelId="{39DDFD93-4078-4645-896B-8C6D290A83E8}" type="sibTrans" cxnId="{E592AFEF-8C15-5046-B0DE-54CF4D2B8F55}">
      <dgm:prSet/>
      <dgm:spPr/>
      <dgm:t>
        <a:bodyPr/>
        <a:lstStyle/>
        <a:p>
          <a:endParaRPr lang="en-US"/>
        </a:p>
      </dgm:t>
    </dgm:pt>
    <dgm:pt modelId="{01EFD363-F205-E445-8997-47592372DABD}">
      <dgm:prSet/>
      <dgm:spPr/>
      <dgm:t>
        <a:bodyPr/>
        <a:lstStyle/>
        <a:p>
          <a:r>
            <a:rPr lang="en-US" b="1" dirty="0"/>
            <a:t>Operation Domain</a:t>
          </a:r>
          <a:r>
            <a:rPr lang="en-US" dirty="0"/>
            <a:t>: The system is analyzed as a multi-domain plant consisting of an Electrical Circuit (Armature) coupled to a Mechanical Load (Rotor).</a:t>
          </a:r>
        </a:p>
      </dgm:t>
    </dgm:pt>
    <dgm:pt modelId="{634BC0CB-C37A-9042-BF36-2DA1BFE1B853}" type="parTrans" cxnId="{DF1C6298-D3AF-BA42-B63A-021059760E34}">
      <dgm:prSet/>
      <dgm:spPr/>
      <dgm:t>
        <a:bodyPr/>
        <a:lstStyle/>
        <a:p>
          <a:endParaRPr lang="en-US"/>
        </a:p>
      </dgm:t>
    </dgm:pt>
    <dgm:pt modelId="{571829BD-BDA9-8845-B2C1-7C783A9BED4F}" type="sibTrans" cxnId="{DF1C6298-D3AF-BA42-B63A-021059760E34}">
      <dgm:prSet/>
      <dgm:spPr/>
      <dgm:t>
        <a:bodyPr/>
        <a:lstStyle/>
        <a:p>
          <a:endParaRPr lang="en-US"/>
        </a:p>
      </dgm:t>
    </dgm:pt>
    <dgm:pt modelId="{32806AB5-6BB6-3246-9CBA-87C308287233}" type="pres">
      <dgm:prSet presAssocID="{E254E7AF-8EB3-9445-A790-89C3AE7A58BC}" presName="linear" presStyleCnt="0">
        <dgm:presLayoutVars>
          <dgm:animLvl val="lvl"/>
          <dgm:resizeHandles val="exact"/>
        </dgm:presLayoutVars>
      </dgm:prSet>
      <dgm:spPr/>
    </dgm:pt>
    <dgm:pt modelId="{A8C625F2-933A-5645-BD88-F4506C699A0D}" type="pres">
      <dgm:prSet presAssocID="{FE451734-3550-9D45-8F41-B8C05A8E425E}" presName="parentText" presStyleLbl="node1" presStyleIdx="0" presStyleCnt="3" custLinFactY="-6450" custLinFactNeighborX="12834" custLinFactNeighborY="-100000">
        <dgm:presLayoutVars>
          <dgm:chMax val="0"/>
          <dgm:bulletEnabled val="1"/>
        </dgm:presLayoutVars>
      </dgm:prSet>
      <dgm:spPr/>
    </dgm:pt>
    <dgm:pt modelId="{0B73BD7B-9E8A-644B-AA9A-657FB3A43A1E}" type="pres">
      <dgm:prSet presAssocID="{F6E5424A-C4C0-BC4C-B827-90B439134601}" presName="spacer" presStyleCnt="0"/>
      <dgm:spPr/>
    </dgm:pt>
    <dgm:pt modelId="{A5A450ED-B7C4-544F-B6D0-320EE3FAF612}" type="pres">
      <dgm:prSet presAssocID="{5E2C0B1E-B807-BC4A-9C15-EA035D5AE686}" presName="parentText" presStyleLbl="node1" presStyleIdx="1" presStyleCnt="3">
        <dgm:presLayoutVars>
          <dgm:chMax val="0"/>
          <dgm:bulletEnabled val="1"/>
        </dgm:presLayoutVars>
      </dgm:prSet>
      <dgm:spPr/>
    </dgm:pt>
    <dgm:pt modelId="{F2C83C56-9E10-CE4F-8927-B16D18A326E9}" type="pres">
      <dgm:prSet presAssocID="{39DDFD93-4078-4645-896B-8C6D290A83E8}" presName="spacer" presStyleCnt="0"/>
      <dgm:spPr/>
    </dgm:pt>
    <dgm:pt modelId="{3C95E17B-9145-F14E-B3BE-D9AD1D6AD0D9}" type="pres">
      <dgm:prSet presAssocID="{01EFD363-F205-E445-8997-47592372DABD}" presName="parentText" presStyleLbl="node1" presStyleIdx="2" presStyleCnt="3" custLinFactNeighborX="2139" custLinFactNeighborY="-36277">
        <dgm:presLayoutVars>
          <dgm:chMax val="0"/>
          <dgm:bulletEnabled val="1"/>
        </dgm:presLayoutVars>
      </dgm:prSet>
      <dgm:spPr/>
    </dgm:pt>
  </dgm:ptLst>
  <dgm:cxnLst>
    <dgm:cxn modelId="{8BB21310-7439-054F-9CF2-D5A2B04337B3}" type="presOf" srcId="{5E2C0B1E-B807-BC4A-9C15-EA035D5AE686}" destId="{A5A450ED-B7C4-544F-B6D0-320EE3FAF612}" srcOrd="0" destOrd="0" presId="urn:microsoft.com/office/officeart/2005/8/layout/vList2"/>
    <dgm:cxn modelId="{293D335E-47ED-F846-82FF-9021F27C1E6B}" type="presOf" srcId="{E254E7AF-8EB3-9445-A790-89C3AE7A58BC}" destId="{32806AB5-6BB6-3246-9CBA-87C308287233}" srcOrd="0" destOrd="0" presId="urn:microsoft.com/office/officeart/2005/8/layout/vList2"/>
    <dgm:cxn modelId="{50EB7748-554D-1F44-827F-1ECA29BD3F8F}" srcId="{E254E7AF-8EB3-9445-A790-89C3AE7A58BC}" destId="{FE451734-3550-9D45-8F41-B8C05A8E425E}" srcOrd="0" destOrd="0" parTransId="{7377E103-E8FB-BE4E-8768-310F1F55F03D}" sibTransId="{F6E5424A-C4C0-BC4C-B827-90B439134601}"/>
    <dgm:cxn modelId="{DF1C6298-D3AF-BA42-B63A-021059760E34}" srcId="{E254E7AF-8EB3-9445-A790-89C3AE7A58BC}" destId="{01EFD363-F205-E445-8997-47592372DABD}" srcOrd="2" destOrd="0" parTransId="{634BC0CB-C37A-9042-BF36-2DA1BFE1B853}" sibTransId="{571829BD-BDA9-8845-B2C1-7C783A9BED4F}"/>
    <dgm:cxn modelId="{15BA64EB-00B7-214B-A27E-0954FE6334B0}" type="presOf" srcId="{FE451734-3550-9D45-8F41-B8C05A8E425E}" destId="{A8C625F2-933A-5645-BD88-F4506C699A0D}" srcOrd="0" destOrd="0" presId="urn:microsoft.com/office/officeart/2005/8/layout/vList2"/>
    <dgm:cxn modelId="{E592AFEF-8C15-5046-B0DE-54CF4D2B8F55}" srcId="{E254E7AF-8EB3-9445-A790-89C3AE7A58BC}" destId="{5E2C0B1E-B807-BC4A-9C15-EA035D5AE686}" srcOrd="1" destOrd="0" parTransId="{6C9FE370-FABC-AF4C-B3FF-13E1C6FA9166}" sibTransId="{39DDFD93-4078-4645-896B-8C6D290A83E8}"/>
    <dgm:cxn modelId="{825135F7-B379-1545-9D1C-C5BFAFADCB72}" type="presOf" srcId="{01EFD363-F205-E445-8997-47592372DABD}" destId="{3C95E17B-9145-F14E-B3BE-D9AD1D6AD0D9}" srcOrd="0" destOrd="0" presId="urn:microsoft.com/office/officeart/2005/8/layout/vList2"/>
    <dgm:cxn modelId="{89725D9D-0603-044E-88AE-091327B35F91}" type="presParOf" srcId="{32806AB5-6BB6-3246-9CBA-87C308287233}" destId="{A8C625F2-933A-5645-BD88-F4506C699A0D}" srcOrd="0" destOrd="0" presId="urn:microsoft.com/office/officeart/2005/8/layout/vList2"/>
    <dgm:cxn modelId="{5833B84A-A50A-144F-A116-84698B030D7A}" type="presParOf" srcId="{32806AB5-6BB6-3246-9CBA-87C308287233}" destId="{0B73BD7B-9E8A-644B-AA9A-657FB3A43A1E}" srcOrd="1" destOrd="0" presId="urn:microsoft.com/office/officeart/2005/8/layout/vList2"/>
    <dgm:cxn modelId="{5EE56DBF-9DA3-FD4C-B63E-A68294232AFC}" type="presParOf" srcId="{32806AB5-6BB6-3246-9CBA-87C308287233}" destId="{A5A450ED-B7C4-544F-B6D0-320EE3FAF612}" srcOrd="2" destOrd="0" presId="urn:microsoft.com/office/officeart/2005/8/layout/vList2"/>
    <dgm:cxn modelId="{4065DD41-6C15-6842-9B85-3CC29D5CD3E1}" type="presParOf" srcId="{32806AB5-6BB6-3246-9CBA-87C308287233}" destId="{F2C83C56-9E10-CE4F-8927-B16D18A326E9}" srcOrd="3" destOrd="0" presId="urn:microsoft.com/office/officeart/2005/8/layout/vList2"/>
    <dgm:cxn modelId="{29B804CA-CBD2-A045-8081-9EE9DDC405E2}" type="presParOf" srcId="{32806AB5-6BB6-3246-9CBA-87C308287233}" destId="{3C95E17B-9145-F14E-B3BE-D9AD1D6AD0D9}"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6F5B5E-3EE5-0948-9275-55FD78BF2643}"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9EB462E-34A3-4744-A3E2-1C9B33A569A7}">
      <dgm:prSet/>
      <dgm:spPr/>
      <dgm:t>
        <a:bodyPr/>
        <a:lstStyle/>
        <a:p>
          <a:r>
            <a:rPr lang="en-US" b="1" dirty="0"/>
            <a:t>Torque Coupling (K</a:t>
          </a:r>
          <a:r>
            <a:rPr lang="en-US" b="1" baseline="-25000" dirty="0"/>
            <a:t>t</a:t>
          </a:r>
          <a:r>
            <a:rPr lang="en-US" b="1" dirty="0"/>
            <a:t>):</a:t>
          </a:r>
          <a:r>
            <a:rPr lang="en-US" dirty="0"/>
            <a:t> Explains how electrical energy becomes mechanical work. The motor torque (T</a:t>
          </a:r>
          <a:r>
            <a:rPr lang="en-US" baseline="-25000" dirty="0"/>
            <a:t>m</a:t>
          </a:r>
          <a:r>
            <a:rPr lang="en-US" dirty="0"/>
            <a:t>) is directly proportional to the armature current (</a:t>
          </a:r>
          <a:r>
            <a:rPr lang="en-US" dirty="0" err="1"/>
            <a:t>i</a:t>
          </a:r>
          <a:r>
            <a:rPr lang="en-US" baseline="-25000" dirty="0" err="1"/>
            <a:t>a</a:t>
          </a:r>
          <a:r>
            <a:rPr lang="en-US" dirty="0"/>
            <a:t>) via the Torque Constant (K</a:t>
          </a:r>
          <a:r>
            <a:rPr lang="en-US" baseline="-25000" dirty="0"/>
            <a:t>t</a:t>
          </a:r>
          <a:r>
            <a:rPr lang="en-US" dirty="0"/>
            <a:t>). </a:t>
          </a:r>
        </a:p>
      </dgm:t>
    </dgm:pt>
    <dgm:pt modelId="{B55BF421-0172-F140-A08D-B07E31B2E5F3}" type="parTrans" cxnId="{9608DE14-A099-1B4B-9953-B5B73BD7F846}">
      <dgm:prSet/>
      <dgm:spPr/>
      <dgm:t>
        <a:bodyPr/>
        <a:lstStyle/>
        <a:p>
          <a:endParaRPr lang="en-US"/>
        </a:p>
      </dgm:t>
    </dgm:pt>
    <dgm:pt modelId="{677A0D68-2BFA-7E49-A514-D7866DDF50A2}" type="sibTrans" cxnId="{9608DE14-A099-1B4B-9953-B5B73BD7F846}">
      <dgm:prSet/>
      <dgm:spPr/>
      <dgm:t>
        <a:bodyPr/>
        <a:lstStyle/>
        <a:p>
          <a:endParaRPr lang="en-US"/>
        </a:p>
      </dgm:t>
    </dgm:pt>
    <dgm:pt modelId="{21C3699E-5CE7-3843-B067-9447A5A2B78A}">
      <dgm:prSet/>
      <dgm:spPr/>
      <dgm:t>
        <a:bodyPr/>
        <a:lstStyle/>
        <a:p>
          <a:r>
            <a:rPr lang="en-US" b="1" dirty="0"/>
            <a:t>Voltage Feedback (</a:t>
          </a:r>
          <a:r>
            <a:rPr lang="en-US" b="1" dirty="0" err="1"/>
            <a:t>K</a:t>
          </a:r>
          <a:r>
            <a:rPr lang="en-US" b="1" baseline="-25000" dirty="0" err="1"/>
            <a:t>b</a:t>
          </a:r>
          <a:r>
            <a:rPr lang="en-US" b="1" dirty="0"/>
            <a:t>):</a:t>
          </a:r>
          <a:r>
            <a:rPr lang="en-US" dirty="0"/>
            <a:t> Explains how mechanical motion regulates the electrical system. The rotation of the motor generates an internal "Back-EMF" voltage (</a:t>
          </a:r>
          <a:r>
            <a:rPr lang="en-US" dirty="0" err="1"/>
            <a:t>e</a:t>
          </a:r>
          <a:r>
            <a:rPr lang="en-US" baseline="-25000" dirty="0" err="1"/>
            <a:t>b</a:t>
          </a:r>
          <a:r>
            <a:rPr lang="en-US" dirty="0"/>
            <a:t>) proportional to the angular speed via the Back-EMF Constant (</a:t>
          </a:r>
          <a:r>
            <a:rPr lang="en-US" dirty="0" err="1"/>
            <a:t>K</a:t>
          </a:r>
          <a:r>
            <a:rPr lang="en-US" baseline="-25000" dirty="0" err="1"/>
            <a:t>b</a:t>
          </a:r>
          <a:r>
            <a:rPr lang="en-US" dirty="0"/>
            <a:t>). </a:t>
          </a:r>
        </a:p>
      </dgm:t>
    </dgm:pt>
    <dgm:pt modelId="{3E7A14BB-5C74-A244-9C80-384EF5609947}" type="parTrans" cxnId="{6998C3FC-BB67-5B4E-B887-EC7411459138}">
      <dgm:prSet/>
      <dgm:spPr/>
      <dgm:t>
        <a:bodyPr/>
        <a:lstStyle/>
        <a:p>
          <a:endParaRPr lang="en-US"/>
        </a:p>
      </dgm:t>
    </dgm:pt>
    <dgm:pt modelId="{FECD21FC-812D-C141-85D3-404CAC8A5DFD}" type="sibTrans" cxnId="{6998C3FC-BB67-5B4E-B887-EC7411459138}">
      <dgm:prSet/>
      <dgm:spPr/>
      <dgm:t>
        <a:bodyPr/>
        <a:lstStyle/>
        <a:p>
          <a:endParaRPr lang="en-US"/>
        </a:p>
      </dgm:t>
    </dgm:pt>
    <dgm:pt modelId="{D820A98C-FF4E-2041-8B3B-1B86E04A0E7B}">
      <dgm:prSet/>
      <dgm:spPr/>
      <dgm:t>
        <a:bodyPr/>
        <a:lstStyle/>
        <a:p>
          <a:r>
            <a:rPr lang="en-US" b="1" dirty="0"/>
            <a:t>Strategic Value:</a:t>
          </a:r>
          <a:r>
            <a:rPr lang="en-US" dirty="0"/>
            <a:t> By defining K</a:t>
          </a:r>
          <a:r>
            <a:rPr lang="en-US" baseline="-25000" dirty="0"/>
            <a:t>t</a:t>
          </a:r>
          <a:r>
            <a:rPr lang="en-US" dirty="0"/>
            <a:t> and </a:t>
          </a:r>
          <a:r>
            <a:rPr lang="en-US" dirty="0" err="1"/>
            <a:t>K</a:t>
          </a:r>
          <a:r>
            <a:rPr lang="en-US" baseline="-25000" dirty="0" err="1"/>
            <a:t>b</a:t>
          </a:r>
          <a:r>
            <a:rPr lang="en-US" dirty="0"/>
            <a:t> (both set to 0.01 in your project), you create a closed mathematical loop where the electrical and mechanical systems are inseparable. </a:t>
          </a:r>
        </a:p>
      </dgm:t>
    </dgm:pt>
    <dgm:pt modelId="{9F7C3C4B-445B-B242-8C9C-1A453CD50E5A}" type="parTrans" cxnId="{26BFC8CF-9793-A945-A56A-A4370E5DC281}">
      <dgm:prSet/>
      <dgm:spPr/>
      <dgm:t>
        <a:bodyPr/>
        <a:lstStyle/>
        <a:p>
          <a:endParaRPr lang="en-US"/>
        </a:p>
      </dgm:t>
    </dgm:pt>
    <dgm:pt modelId="{15FA97B0-79A4-1240-AD8F-579AE9ACDA81}" type="sibTrans" cxnId="{26BFC8CF-9793-A945-A56A-A4370E5DC281}">
      <dgm:prSet/>
      <dgm:spPr/>
      <dgm:t>
        <a:bodyPr/>
        <a:lstStyle/>
        <a:p>
          <a:endParaRPr lang="en-US"/>
        </a:p>
      </dgm:t>
    </dgm:pt>
    <dgm:pt modelId="{46AD5990-6453-8E49-A32E-48D2BC984FAE}" type="pres">
      <dgm:prSet presAssocID="{3A6F5B5E-3EE5-0948-9275-55FD78BF2643}" presName="vert0" presStyleCnt="0">
        <dgm:presLayoutVars>
          <dgm:dir/>
          <dgm:animOne val="branch"/>
          <dgm:animLvl val="lvl"/>
        </dgm:presLayoutVars>
      </dgm:prSet>
      <dgm:spPr/>
    </dgm:pt>
    <dgm:pt modelId="{65667ACD-3EEE-E141-B201-5849E3E2DBA4}" type="pres">
      <dgm:prSet presAssocID="{79EB462E-34A3-4744-A3E2-1C9B33A569A7}" presName="thickLine" presStyleLbl="alignNode1" presStyleIdx="0" presStyleCnt="3"/>
      <dgm:spPr/>
    </dgm:pt>
    <dgm:pt modelId="{0C0DD326-3823-BF4F-9D8F-36A6DC415D3D}" type="pres">
      <dgm:prSet presAssocID="{79EB462E-34A3-4744-A3E2-1C9B33A569A7}" presName="horz1" presStyleCnt="0"/>
      <dgm:spPr/>
    </dgm:pt>
    <dgm:pt modelId="{88B5E1AE-041B-924C-BEEC-BD7D78976E7C}" type="pres">
      <dgm:prSet presAssocID="{79EB462E-34A3-4744-A3E2-1C9B33A569A7}" presName="tx1" presStyleLbl="revTx" presStyleIdx="0" presStyleCnt="3"/>
      <dgm:spPr/>
    </dgm:pt>
    <dgm:pt modelId="{1E58533F-9E7D-BB49-A59C-7BDE81BAFE0D}" type="pres">
      <dgm:prSet presAssocID="{79EB462E-34A3-4744-A3E2-1C9B33A569A7}" presName="vert1" presStyleCnt="0"/>
      <dgm:spPr/>
    </dgm:pt>
    <dgm:pt modelId="{B9BA7FE8-1450-9547-9013-9E1E1940F64E}" type="pres">
      <dgm:prSet presAssocID="{21C3699E-5CE7-3843-B067-9447A5A2B78A}" presName="thickLine" presStyleLbl="alignNode1" presStyleIdx="1" presStyleCnt="3"/>
      <dgm:spPr/>
    </dgm:pt>
    <dgm:pt modelId="{8BC8241E-3A37-B949-B4CF-C93C913EBC85}" type="pres">
      <dgm:prSet presAssocID="{21C3699E-5CE7-3843-B067-9447A5A2B78A}" presName="horz1" presStyleCnt="0"/>
      <dgm:spPr/>
    </dgm:pt>
    <dgm:pt modelId="{8BC39311-107B-3F4E-B087-D2A51FED8C41}" type="pres">
      <dgm:prSet presAssocID="{21C3699E-5CE7-3843-B067-9447A5A2B78A}" presName="tx1" presStyleLbl="revTx" presStyleIdx="1" presStyleCnt="3"/>
      <dgm:spPr/>
    </dgm:pt>
    <dgm:pt modelId="{AE5B7879-F54B-AA45-966C-36BA777245EB}" type="pres">
      <dgm:prSet presAssocID="{21C3699E-5CE7-3843-B067-9447A5A2B78A}" presName="vert1" presStyleCnt="0"/>
      <dgm:spPr/>
    </dgm:pt>
    <dgm:pt modelId="{D97376FF-9361-B340-8E7B-0A7439E7A976}" type="pres">
      <dgm:prSet presAssocID="{D820A98C-FF4E-2041-8B3B-1B86E04A0E7B}" presName="thickLine" presStyleLbl="alignNode1" presStyleIdx="2" presStyleCnt="3"/>
      <dgm:spPr/>
    </dgm:pt>
    <dgm:pt modelId="{5DAAF3F3-0785-8647-ABB4-3E9B4ED073C9}" type="pres">
      <dgm:prSet presAssocID="{D820A98C-FF4E-2041-8B3B-1B86E04A0E7B}" presName="horz1" presStyleCnt="0"/>
      <dgm:spPr/>
    </dgm:pt>
    <dgm:pt modelId="{639721FB-D54F-CC4B-AFA9-7B6FCB71BD2E}" type="pres">
      <dgm:prSet presAssocID="{D820A98C-FF4E-2041-8B3B-1B86E04A0E7B}" presName="tx1" presStyleLbl="revTx" presStyleIdx="2" presStyleCnt="3"/>
      <dgm:spPr/>
    </dgm:pt>
    <dgm:pt modelId="{A4266295-AAC2-7A4D-B6FA-66873CA8EB8F}" type="pres">
      <dgm:prSet presAssocID="{D820A98C-FF4E-2041-8B3B-1B86E04A0E7B}" presName="vert1" presStyleCnt="0"/>
      <dgm:spPr/>
    </dgm:pt>
  </dgm:ptLst>
  <dgm:cxnLst>
    <dgm:cxn modelId="{2C8EF506-1BC4-7243-B323-BDEF1131BC52}" type="presOf" srcId="{21C3699E-5CE7-3843-B067-9447A5A2B78A}" destId="{8BC39311-107B-3F4E-B087-D2A51FED8C41}" srcOrd="0" destOrd="0" presId="urn:microsoft.com/office/officeart/2008/layout/LinedList"/>
    <dgm:cxn modelId="{9608DE14-A099-1B4B-9953-B5B73BD7F846}" srcId="{3A6F5B5E-3EE5-0948-9275-55FD78BF2643}" destId="{79EB462E-34A3-4744-A3E2-1C9B33A569A7}" srcOrd="0" destOrd="0" parTransId="{B55BF421-0172-F140-A08D-B07E31B2E5F3}" sibTransId="{677A0D68-2BFA-7E49-A514-D7866DDF50A2}"/>
    <dgm:cxn modelId="{847FAD9C-69D3-D748-A447-16A4DF9A318E}" type="presOf" srcId="{3A6F5B5E-3EE5-0948-9275-55FD78BF2643}" destId="{46AD5990-6453-8E49-A32E-48D2BC984FAE}" srcOrd="0" destOrd="0" presId="urn:microsoft.com/office/officeart/2008/layout/LinedList"/>
    <dgm:cxn modelId="{CB69E7C4-96A4-324A-B49F-D9B0F7548551}" type="presOf" srcId="{79EB462E-34A3-4744-A3E2-1C9B33A569A7}" destId="{88B5E1AE-041B-924C-BEEC-BD7D78976E7C}" srcOrd="0" destOrd="0" presId="urn:microsoft.com/office/officeart/2008/layout/LinedList"/>
    <dgm:cxn modelId="{26BFC8CF-9793-A945-A56A-A4370E5DC281}" srcId="{3A6F5B5E-3EE5-0948-9275-55FD78BF2643}" destId="{D820A98C-FF4E-2041-8B3B-1B86E04A0E7B}" srcOrd="2" destOrd="0" parTransId="{9F7C3C4B-445B-B242-8C9C-1A453CD50E5A}" sibTransId="{15FA97B0-79A4-1240-AD8F-579AE9ACDA81}"/>
    <dgm:cxn modelId="{59BDA0F2-4344-904C-A244-59C10BE3ADDD}" type="presOf" srcId="{D820A98C-FF4E-2041-8B3B-1B86E04A0E7B}" destId="{639721FB-D54F-CC4B-AFA9-7B6FCB71BD2E}" srcOrd="0" destOrd="0" presId="urn:microsoft.com/office/officeart/2008/layout/LinedList"/>
    <dgm:cxn modelId="{6998C3FC-BB67-5B4E-B887-EC7411459138}" srcId="{3A6F5B5E-3EE5-0948-9275-55FD78BF2643}" destId="{21C3699E-5CE7-3843-B067-9447A5A2B78A}" srcOrd="1" destOrd="0" parTransId="{3E7A14BB-5C74-A244-9C80-384EF5609947}" sibTransId="{FECD21FC-812D-C141-85D3-404CAC8A5DFD}"/>
    <dgm:cxn modelId="{4BA2E640-2202-154D-9774-08CED4CC890F}" type="presParOf" srcId="{46AD5990-6453-8E49-A32E-48D2BC984FAE}" destId="{65667ACD-3EEE-E141-B201-5849E3E2DBA4}" srcOrd="0" destOrd="0" presId="urn:microsoft.com/office/officeart/2008/layout/LinedList"/>
    <dgm:cxn modelId="{068624F1-FBC9-7246-B527-029EA04B2C42}" type="presParOf" srcId="{46AD5990-6453-8E49-A32E-48D2BC984FAE}" destId="{0C0DD326-3823-BF4F-9D8F-36A6DC415D3D}" srcOrd="1" destOrd="0" presId="urn:microsoft.com/office/officeart/2008/layout/LinedList"/>
    <dgm:cxn modelId="{EE99DA0D-FF59-BA48-A987-237BC9125363}" type="presParOf" srcId="{0C0DD326-3823-BF4F-9D8F-36A6DC415D3D}" destId="{88B5E1AE-041B-924C-BEEC-BD7D78976E7C}" srcOrd="0" destOrd="0" presId="urn:microsoft.com/office/officeart/2008/layout/LinedList"/>
    <dgm:cxn modelId="{C6A10C50-7A46-9240-940A-2D62035BACA3}" type="presParOf" srcId="{0C0DD326-3823-BF4F-9D8F-36A6DC415D3D}" destId="{1E58533F-9E7D-BB49-A59C-7BDE81BAFE0D}" srcOrd="1" destOrd="0" presId="urn:microsoft.com/office/officeart/2008/layout/LinedList"/>
    <dgm:cxn modelId="{16425E7B-05E7-D747-90D6-73F14C3F40C4}" type="presParOf" srcId="{46AD5990-6453-8E49-A32E-48D2BC984FAE}" destId="{B9BA7FE8-1450-9547-9013-9E1E1940F64E}" srcOrd="2" destOrd="0" presId="urn:microsoft.com/office/officeart/2008/layout/LinedList"/>
    <dgm:cxn modelId="{5F5306EB-DA02-5D4D-9DCE-57692574B9CA}" type="presParOf" srcId="{46AD5990-6453-8E49-A32E-48D2BC984FAE}" destId="{8BC8241E-3A37-B949-B4CF-C93C913EBC85}" srcOrd="3" destOrd="0" presId="urn:microsoft.com/office/officeart/2008/layout/LinedList"/>
    <dgm:cxn modelId="{C811027A-648C-4842-B3D7-94620EE50081}" type="presParOf" srcId="{8BC8241E-3A37-B949-B4CF-C93C913EBC85}" destId="{8BC39311-107B-3F4E-B087-D2A51FED8C41}" srcOrd="0" destOrd="0" presId="urn:microsoft.com/office/officeart/2008/layout/LinedList"/>
    <dgm:cxn modelId="{0A36488F-9560-6941-8549-4EF72C10D08C}" type="presParOf" srcId="{8BC8241E-3A37-B949-B4CF-C93C913EBC85}" destId="{AE5B7879-F54B-AA45-966C-36BA777245EB}" srcOrd="1" destOrd="0" presId="urn:microsoft.com/office/officeart/2008/layout/LinedList"/>
    <dgm:cxn modelId="{E12EE456-6C5D-4243-B300-2DBBF97FE4FD}" type="presParOf" srcId="{46AD5990-6453-8E49-A32E-48D2BC984FAE}" destId="{D97376FF-9361-B340-8E7B-0A7439E7A976}" srcOrd="4" destOrd="0" presId="urn:microsoft.com/office/officeart/2008/layout/LinedList"/>
    <dgm:cxn modelId="{D43C6F4E-ABD3-294A-9232-2B806DC78F89}" type="presParOf" srcId="{46AD5990-6453-8E49-A32E-48D2BC984FAE}" destId="{5DAAF3F3-0785-8647-ABB4-3E9B4ED073C9}" srcOrd="5" destOrd="0" presId="urn:microsoft.com/office/officeart/2008/layout/LinedList"/>
    <dgm:cxn modelId="{80688D9A-64BD-7C48-9164-D9DD63FD1ED1}" type="presParOf" srcId="{5DAAF3F3-0785-8647-ABB4-3E9B4ED073C9}" destId="{639721FB-D54F-CC4B-AFA9-7B6FCB71BD2E}" srcOrd="0" destOrd="0" presId="urn:microsoft.com/office/officeart/2008/layout/LinedList"/>
    <dgm:cxn modelId="{57612AE6-2221-6340-AF24-C5BE4E313AA4}" type="presParOf" srcId="{5DAAF3F3-0785-8647-ABB4-3E9B4ED073C9}" destId="{A4266295-AAC2-7A4D-B6FA-66873CA8EB8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189783-099C-FF44-AFB4-567CB614F4AD}"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A07F4581-4F08-FD42-B3F1-D3EE3179E567}">
      <dgm:prSet custT="1"/>
      <dgm:spPr/>
      <dgm:t>
        <a:bodyPr/>
        <a:lstStyle/>
        <a:p>
          <a:r>
            <a:rPr lang="en-US" sz="1800" b="1" dirty="0"/>
            <a:t>Load Variations (T</a:t>
          </a:r>
          <a:r>
            <a:rPr lang="en-US" sz="1800" b="1" baseline="-25000" dirty="0"/>
            <a:t>L</a:t>
          </a:r>
          <a:r>
            <a:rPr lang="en-US" sz="1800" b="1" dirty="0"/>
            <a:t>):</a:t>
          </a:r>
          <a:r>
            <a:rPr lang="en-US" sz="1800" dirty="0"/>
            <a:t> In an open-loop system, if mechanical resistance (load) increases, the speed drops significantly because there is no mechanism to "ask" for more voltage to compensate. </a:t>
          </a:r>
        </a:p>
      </dgm:t>
    </dgm:pt>
    <dgm:pt modelId="{90285472-C6BC-C14D-8443-0F7224376A45}" type="parTrans" cxnId="{B893383A-0166-7E4B-B478-3D895151AA2E}">
      <dgm:prSet/>
      <dgm:spPr/>
      <dgm:t>
        <a:bodyPr/>
        <a:lstStyle/>
        <a:p>
          <a:endParaRPr lang="en-US" sz="1800"/>
        </a:p>
      </dgm:t>
    </dgm:pt>
    <dgm:pt modelId="{57474246-C795-2441-8800-F600A17691F5}" type="sibTrans" cxnId="{B893383A-0166-7E4B-B478-3D895151AA2E}">
      <dgm:prSet/>
      <dgm:spPr/>
      <dgm:t>
        <a:bodyPr/>
        <a:lstStyle/>
        <a:p>
          <a:endParaRPr lang="en-US" sz="1800"/>
        </a:p>
      </dgm:t>
    </dgm:pt>
    <dgm:pt modelId="{E62943E1-647C-1F40-9309-33875F458F5E}">
      <dgm:prSet custT="1"/>
      <dgm:spPr/>
      <dgm:t>
        <a:bodyPr/>
        <a:lstStyle/>
        <a:p>
          <a:r>
            <a:rPr lang="en-US" sz="1800" b="1" dirty="0"/>
            <a:t>Internal Friction (B):</a:t>
          </a:r>
          <a:r>
            <a:rPr lang="en-US" sz="1800" dirty="0"/>
            <a:t> Viscous damping (set at 0.1 in your parameters) acts as a constant "drain" on performance, leading to what you've termed "precision deficits". </a:t>
          </a:r>
        </a:p>
      </dgm:t>
    </dgm:pt>
    <dgm:pt modelId="{476F45D1-A8C5-3647-9B50-194A38F1C721}" type="parTrans" cxnId="{DB21EFDC-14B3-6745-B8BE-D3646030D999}">
      <dgm:prSet/>
      <dgm:spPr/>
      <dgm:t>
        <a:bodyPr/>
        <a:lstStyle/>
        <a:p>
          <a:endParaRPr lang="en-US" sz="1800"/>
        </a:p>
      </dgm:t>
    </dgm:pt>
    <dgm:pt modelId="{65E778D5-F066-F542-943C-07D6387D4852}" type="sibTrans" cxnId="{DB21EFDC-14B3-6745-B8BE-D3646030D999}">
      <dgm:prSet/>
      <dgm:spPr/>
      <dgm:t>
        <a:bodyPr/>
        <a:lstStyle/>
        <a:p>
          <a:endParaRPr lang="en-US" sz="1800"/>
        </a:p>
      </dgm:t>
    </dgm:pt>
    <dgm:pt modelId="{8427A850-5E05-E944-BDBB-DAA9C86CC69C}">
      <dgm:prSet custT="1"/>
      <dgm:spPr/>
      <dgm:t>
        <a:bodyPr/>
        <a:lstStyle/>
        <a:p>
          <a:r>
            <a:rPr lang="en-US" sz="1800" b="1"/>
            <a:t>Open-Loop Instability:</a:t>
          </a:r>
          <a:r>
            <a:rPr lang="en-US" sz="1800"/>
            <a:t> Without feedback, the motor cannot guarantee a consistent RPM under real-world conditions, making it unsuitable for precision tasks like robotics or CNC machining.</a:t>
          </a:r>
        </a:p>
      </dgm:t>
    </dgm:pt>
    <dgm:pt modelId="{02321003-5BBA-C04D-A4CD-39A65C09C568}" type="parTrans" cxnId="{246A497A-1ACB-2F43-8B12-FC0F3E8F33B2}">
      <dgm:prSet/>
      <dgm:spPr/>
      <dgm:t>
        <a:bodyPr/>
        <a:lstStyle/>
        <a:p>
          <a:endParaRPr lang="en-US" sz="1800"/>
        </a:p>
      </dgm:t>
    </dgm:pt>
    <dgm:pt modelId="{EC10D49C-FBA1-DF4D-8A30-E0DE95B1F32E}" type="sibTrans" cxnId="{246A497A-1ACB-2F43-8B12-FC0F3E8F33B2}">
      <dgm:prSet/>
      <dgm:spPr/>
      <dgm:t>
        <a:bodyPr/>
        <a:lstStyle/>
        <a:p>
          <a:endParaRPr lang="en-US" sz="1800"/>
        </a:p>
      </dgm:t>
    </dgm:pt>
    <dgm:pt modelId="{29D9C604-DA14-3B49-B802-05D9A45789EC}" type="pres">
      <dgm:prSet presAssocID="{93189783-099C-FF44-AFB4-567CB614F4AD}" presName="vert0" presStyleCnt="0">
        <dgm:presLayoutVars>
          <dgm:dir/>
          <dgm:animOne val="branch"/>
          <dgm:animLvl val="lvl"/>
        </dgm:presLayoutVars>
      </dgm:prSet>
      <dgm:spPr/>
    </dgm:pt>
    <dgm:pt modelId="{0660D5BE-02B4-4340-90A5-6CC31E1955AE}" type="pres">
      <dgm:prSet presAssocID="{A07F4581-4F08-FD42-B3F1-D3EE3179E567}" presName="thickLine" presStyleLbl="alignNode1" presStyleIdx="0" presStyleCnt="3"/>
      <dgm:spPr/>
    </dgm:pt>
    <dgm:pt modelId="{A32CAB46-DFB7-0C41-BA7D-F2CB449DDDFF}" type="pres">
      <dgm:prSet presAssocID="{A07F4581-4F08-FD42-B3F1-D3EE3179E567}" presName="horz1" presStyleCnt="0"/>
      <dgm:spPr/>
    </dgm:pt>
    <dgm:pt modelId="{D9545155-584C-8A41-9EFF-D212F642FA42}" type="pres">
      <dgm:prSet presAssocID="{A07F4581-4F08-FD42-B3F1-D3EE3179E567}" presName="tx1" presStyleLbl="revTx" presStyleIdx="0" presStyleCnt="3"/>
      <dgm:spPr/>
    </dgm:pt>
    <dgm:pt modelId="{F0223B64-2FB0-8940-B97B-801D0DA14977}" type="pres">
      <dgm:prSet presAssocID="{A07F4581-4F08-FD42-B3F1-D3EE3179E567}" presName="vert1" presStyleCnt="0"/>
      <dgm:spPr/>
    </dgm:pt>
    <dgm:pt modelId="{AF957677-8798-864E-9795-DBE0939EF7A8}" type="pres">
      <dgm:prSet presAssocID="{E62943E1-647C-1F40-9309-33875F458F5E}" presName="thickLine" presStyleLbl="alignNode1" presStyleIdx="1" presStyleCnt="3"/>
      <dgm:spPr/>
    </dgm:pt>
    <dgm:pt modelId="{CB7DFA3C-4DDA-494E-BC65-B068DD145BB7}" type="pres">
      <dgm:prSet presAssocID="{E62943E1-647C-1F40-9309-33875F458F5E}" presName="horz1" presStyleCnt="0"/>
      <dgm:spPr/>
    </dgm:pt>
    <dgm:pt modelId="{8B2596A6-5DB4-E74E-8C56-24A9E37DDBBE}" type="pres">
      <dgm:prSet presAssocID="{E62943E1-647C-1F40-9309-33875F458F5E}" presName="tx1" presStyleLbl="revTx" presStyleIdx="1" presStyleCnt="3"/>
      <dgm:spPr/>
    </dgm:pt>
    <dgm:pt modelId="{B94B5AFD-3546-E640-ACCF-10601AC5B67A}" type="pres">
      <dgm:prSet presAssocID="{E62943E1-647C-1F40-9309-33875F458F5E}" presName="vert1" presStyleCnt="0"/>
      <dgm:spPr/>
    </dgm:pt>
    <dgm:pt modelId="{B6BAF31E-B47D-5F4D-AA5E-E84B2F196260}" type="pres">
      <dgm:prSet presAssocID="{8427A850-5E05-E944-BDBB-DAA9C86CC69C}" presName="thickLine" presStyleLbl="alignNode1" presStyleIdx="2" presStyleCnt="3"/>
      <dgm:spPr/>
    </dgm:pt>
    <dgm:pt modelId="{8A8D6E98-CC99-1442-9746-94BFCF8B8F2E}" type="pres">
      <dgm:prSet presAssocID="{8427A850-5E05-E944-BDBB-DAA9C86CC69C}" presName="horz1" presStyleCnt="0"/>
      <dgm:spPr/>
    </dgm:pt>
    <dgm:pt modelId="{8F80E1AF-3A05-6D4D-8443-037321A89D60}" type="pres">
      <dgm:prSet presAssocID="{8427A850-5E05-E944-BDBB-DAA9C86CC69C}" presName="tx1" presStyleLbl="revTx" presStyleIdx="2" presStyleCnt="3"/>
      <dgm:spPr/>
    </dgm:pt>
    <dgm:pt modelId="{728F71F4-F102-8C43-84AA-34E550D71919}" type="pres">
      <dgm:prSet presAssocID="{8427A850-5E05-E944-BDBB-DAA9C86CC69C}" presName="vert1" presStyleCnt="0"/>
      <dgm:spPr/>
    </dgm:pt>
  </dgm:ptLst>
  <dgm:cxnLst>
    <dgm:cxn modelId="{FD070306-E9B0-2D4D-99C0-B18949EB33D7}" type="presOf" srcId="{93189783-099C-FF44-AFB4-567CB614F4AD}" destId="{29D9C604-DA14-3B49-B802-05D9A45789EC}" srcOrd="0" destOrd="0" presId="urn:microsoft.com/office/officeart/2008/layout/LinedList"/>
    <dgm:cxn modelId="{AFE68C16-9B99-454D-9F49-99F3D1476F6A}" type="presOf" srcId="{E62943E1-647C-1F40-9309-33875F458F5E}" destId="{8B2596A6-5DB4-E74E-8C56-24A9E37DDBBE}" srcOrd="0" destOrd="0" presId="urn:microsoft.com/office/officeart/2008/layout/LinedList"/>
    <dgm:cxn modelId="{02B25F23-4F00-AC4F-A0AF-0E98B749BB5B}" type="presOf" srcId="{8427A850-5E05-E944-BDBB-DAA9C86CC69C}" destId="{8F80E1AF-3A05-6D4D-8443-037321A89D60}" srcOrd="0" destOrd="0" presId="urn:microsoft.com/office/officeart/2008/layout/LinedList"/>
    <dgm:cxn modelId="{B893383A-0166-7E4B-B478-3D895151AA2E}" srcId="{93189783-099C-FF44-AFB4-567CB614F4AD}" destId="{A07F4581-4F08-FD42-B3F1-D3EE3179E567}" srcOrd="0" destOrd="0" parTransId="{90285472-C6BC-C14D-8443-0F7224376A45}" sibTransId="{57474246-C795-2441-8800-F600A17691F5}"/>
    <dgm:cxn modelId="{246A497A-1ACB-2F43-8B12-FC0F3E8F33B2}" srcId="{93189783-099C-FF44-AFB4-567CB614F4AD}" destId="{8427A850-5E05-E944-BDBB-DAA9C86CC69C}" srcOrd="2" destOrd="0" parTransId="{02321003-5BBA-C04D-A4CD-39A65C09C568}" sibTransId="{EC10D49C-FBA1-DF4D-8A30-E0DE95B1F32E}"/>
    <dgm:cxn modelId="{41294F8F-AC63-9447-B4EE-9B8399E06A23}" type="presOf" srcId="{A07F4581-4F08-FD42-B3F1-D3EE3179E567}" destId="{D9545155-584C-8A41-9EFF-D212F642FA42}" srcOrd="0" destOrd="0" presId="urn:microsoft.com/office/officeart/2008/layout/LinedList"/>
    <dgm:cxn modelId="{DB21EFDC-14B3-6745-B8BE-D3646030D999}" srcId="{93189783-099C-FF44-AFB4-567CB614F4AD}" destId="{E62943E1-647C-1F40-9309-33875F458F5E}" srcOrd="1" destOrd="0" parTransId="{476F45D1-A8C5-3647-9B50-194A38F1C721}" sibTransId="{65E778D5-F066-F542-943C-07D6387D4852}"/>
    <dgm:cxn modelId="{4B15CF13-ECE6-0145-8069-B4460952F467}" type="presParOf" srcId="{29D9C604-DA14-3B49-B802-05D9A45789EC}" destId="{0660D5BE-02B4-4340-90A5-6CC31E1955AE}" srcOrd="0" destOrd="0" presId="urn:microsoft.com/office/officeart/2008/layout/LinedList"/>
    <dgm:cxn modelId="{45FC06D0-2251-8F4D-AD39-AE91B7498BBE}" type="presParOf" srcId="{29D9C604-DA14-3B49-B802-05D9A45789EC}" destId="{A32CAB46-DFB7-0C41-BA7D-F2CB449DDDFF}" srcOrd="1" destOrd="0" presId="urn:microsoft.com/office/officeart/2008/layout/LinedList"/>
    <dgm:cxn modelId="{48D993AD-6BCC-CE49-86F4-732ED4572D91}" type="presParOf" srcId="{A32CAB46-DFB7-0C41-BA7D-F2CB449DDDFF}" destId="{D9545155-584C-8A41-9EFF-D212F642FA42}" srcOrd="0" destOrd="0" presId="urn:microsoft.com/office/officeart/2008/layout/LinedList"/>
    <dgm:cxn modelId="{8F906E78-00CF-2747-9373-90E1ACFB0C46}" type="presParOf" srcId="{A32CAB46-DFB7-0C41-BA7D-F2CB449DDDFF}" destId="{F0223B64-2FB0-8940-B97B-801D0DA14977}" srcOrd="1" destOrd="0" presId="urn:microsoft.com/office/officeart/2008/layout/LinedList"/>
    <dgm:cxn modelId="{5C912E12-C7B3-1F4B-B94D-F685F037CF30}" type="presParOf" srcId="{29D9C604-DA14-3B49-B802-05D9A45789EC}" destId="{AF957677-8798-864E-9795-DBE0939EF7A8}" srcOrd="2" destOrd="0" presId="urn:microsoft.com/office/officeart/2008/layout/LinedList"/>
    <dgm:cxn modelId="{057B92B4-E28F-DE48-95F5-A9F91402D547}" type="presParOf" srcId="{29D9C604-DA14-3B49-B802-05D9A45789EC}" destId="{CB7DFA3C-4DDA-494E-BC65-B068DD145BB7}" srcOrd="3" destOrd="0" presId="urn:microsoft.com/office/officeart/2008/layout/LinedList"/>
    <dgm:cxn modelId="{D81920FD-AD10-9B4A-978B-7895937F3AED}" type="presParOf" srcId="{CB7DFA3C-4DDA-494E-BC65-B068DD145BB7}" destId="{8B2596A6-5DB4-E74E-8C56-24A9E37DDBBE}" srcOrd="0" destOrd="0" presId="urn:microsoft.com/office/officeart/2008/layout/LinedList"/>
    <dgm:cxn modelId="{17FC4298-1851-5B40-97F7-FA46D93E1AA8}" type="presParOf" srcId="{CB7DFA3C-4DDA-494E-BC65-B068DD145BB7}" destId="{B94B5AFD-3546-E640-ACCF-10601AC5B67A}" srcOrd="1" destOrd="0" presId="urn:microsoft.com/office/officeart/2008/layout/LinedList"/>
    <dgm:cxn modelId="{A1F46B7C-8814-E446-828D-33955B86D4F1}" type="presParOf" srcId="{29D9C604-DA14-3B49-B802-05D9A45789EC}" destId="{B6BAF31E-B47D-5F4D-AA5E-E84B2F196260}" srcOrd="4" destOrd="0" presId="urn:microsoft.com/office/officeart/2008/layout/LinedList"/>
    <dgm:cxn modelId="{AFEB2FE1-0196-1744-9DB6-F9E0B895755A}" type="presParOf" srcId="{29D9C604-DA14-3B49-B802-05D9A45789EC}" destId="{8A8D6E98-CC99-1442-9746-94BFCF8B8F2E}" srcOrd="5" destOrd="0" presId="urn:microsoft.com/office/officeart/2008/layout/LinedList"/>
    <dgm:cxn modelId="{222F87AA-D07A-DF4E-B415-C944B9304099}" type="presParOf" srcId="{8A8D6E98-CC99-1442-9746-94BFCF8B8F2E}" destId="{8F80E1AF-3A05-6D4D-8443-037321A89D60}" srcOrd="0" destOrd="0" presId="urn:microsoft.com/office/officeart/2008/layout/LinedList"/>
    <dgm:cxn modelId="{C6B80356-6BF0-2745-AE64-E955CF131634}" type="presParOf" srcId="{8A8D6E98-CC99-1442-9746-94BFCF8B8F2E}" destId="{728F71F4-F102-8C43-84AA-34E550D71919}"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669D478-8E9D-6B46-A7B1-8D22A36CB827}"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A189083A-D948-054F-BF52-F907A44C3A2D}">
      <dgm:prSet/>
      <dgm:spPr/>
      <dgm:t>
        <a:bodyPr/>
        <a:lstStyle/>
        <a:p>
          <a:r>
            <a:rPr lang="en-US" dirty="0"/>
            <a:t>The armature of a DC motor is modeled as a series circuit containing a resistor (R</a:t>
          </a:r>
          <a:r>
            <a:rPr lang="en-US" baseline="-25000" dirty="0"/>
            <a:t>a</a:t>
          </a:r>
          <a:r>
            <a:rPr lang="en-US" dirty="0"/>
            <a:t>), an inductor (L</a:t>
          </a:r>
          <a:r>
            <a:rPr lang="en-US" baseline="-25000" dirty="0"/>
            <a:t>a</a:t>
          </a:r>
          <a:r>
            <a:rPr lang="en-US" dirty="0"/>
            <a:t>), and a voltage source representing the Back-EMF (</a:t>
          </a:r>
          <a:r>
            <a:rPr lang="en-US" dirty="0" err="1"/>
            <a:t>e</a:t>
          </a:r>
          <a:r>
            <a:rPr lang="en-US" baseline="-25000" dirty="0" err="1"/>
            <a:t>b</a:t>
          </a:r>
          <a:r>
            <a:rPr lang="en-US" dirty="0"/>
            <a:t>).</a:t>
          </a:r>
        </a:p>
      </dgm:t>
    </dgm:pt>
    <dgm:pt modelId="{5BEECF64-022D-834D-907D-E04AABE05A42}" type="parTrans" cxnId="{6756A9AF-9099-5B43-9C78-3CA069146F88}">
      <dgm:prSet/>
      <dgm:spPr/>
      <dgm:t>
        <a:bodyPr/>
        <a:lstStyle/>
        <a:p>
          <a:endParaRPr lang="en-US"/>
        </a:p>
      </dgm:t>
    </dgm:pt>
    <dgm:pt modelId="{A704DDB6-0ED0-AC4A-BA76-9AF942471460}" type="sibTrans" cxnId="{6756A9AF-9099-5B43-9C78-3CA069146F88}">
      <dgm:prSet/>
      <dgm:spPr/>
      <dgm:t>
        <a:bodyPr/>
        <a:lstStyle/>
        <a:p>
          <a:endParaRPr lang="en-US"/>
        </a:p>
      </dgm:t>
    </dgm:pt>
    <dgm:pt modelId="{9A8F039A-97B6-5349-9334-B62D87685CE2}" type="pres">
      <dgm:prSet presAssocID="{4669D478-8E9D-6B46-A7B1-8D22A36CB827}" presName="linear" presStyleCnt="0">
        <dgm:presLayoutVars>
          <dgm:animLvl val="lvl"/>
          <dgm:resizeHandles val="exact"/>
        </dgm:presLayoutVars>
      </dgm:prSet>
      <dgm:spPr/>
    </dgm:pt>
    <dgm:pt modelId="{BAB5D6C8-8E37-7446-8D00-7CED4751C3A0}" type="pres">
      <dgm:prSet presAssocID="{A189083A-D948-054F-BF52-F907A44C3A2D}" presName="parentText" presStyleLbl="node1" presStyleIdx="0" presStyleCnt="1" custLinFactNeighborY="33005">
        <dgm:presLayoutVars>
          <dgm:chMax val="0"/>
          <dgm:bulletEnabled val="1"/>
        </dgm:presLayoutVars>
      </dgm:prSet>
      <dgm:spPr/>
    </dgm:pt>
  </dgm:ptLst>
  <dgm:cxnLst>
    <dgm:cxn modelId="{3B572133-45C8-7F4D-8E20-20CFE08D2A75}" type="presOf" srcId="{4669D478-8E9D-6B46-A7B1-8D22A36CB827}" destId="{9A8F039A-97B6-5349-9334-B62D87685CE2}" srcOrd="0" destOrd="0" presId="urn:microsoft.com/office/officeart/2005/8/layout/vList2"/>
    <dgm:cxn modelId="{6756A9AF-9099-5B43-9C78-3CA069146F88}" srcId="{4669D478-8E9D-6B46-A7B1-8D22A36CB827}" destId="{A189083A-D948-054F-BF52-F907A44C3A2D}" srcOrd="0" destOrd="0" parTransId="{5BEECF64-022D-834D-907D-E04AABE05A42}" sibTransId="{A704DDB6-0ED0-AC4A-BA76-9AF942471460}"/>
    <dgm:cxn modelId="{79AEDBB1-1131-884B-A2EA-B0845D29DA55}" type="presOf" srcId="{A189083A-D948-054F-BF52-F907A44C3A2D}" destId="{BAB5D6C8-8E37-7446-8D00-7CED4751C3A0}" srcOrd="0" destOrd="0" presId="urn:microsoft.com/office/officeart/2005/8/layout/vList2"/>
    <dgm:cxn modelId="{D197A5F4-46B4-074C-9006-76AB1750928C}" type="presParOf" srcId="{9A8F039A-97B6-5349-9334-B62D87685CE2}" destId="{BAB5D6C8-8E37-7446-8D00-7CED4751C3A0}"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F73AF1-5F37-E649-B2A7-000872EEFD8C}"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12FAD9A-4651-0E4A-BF9B-DF549DE1A980}">
      <dgm:prSet/>
      <dgm:spPr/>
      <dgm:t>
        <a:bodyPr/>
        <a:lstStyle/>
        <a:p>
          <a:r>
            <a:rPr lang="en-US" b="1" dirty="0"/>
            <a:t>The Generator Effect</a:t>
          </a:r>
          <a:r>
            <a:rPr lang="en-US" dirty="0"/>
            <a:t>: As the armature rotates through the magnetic field, it generates a counter-voltage known as Back-EMF. </a:t>
          </a:r>
        </a:p>
      </dgm:t>
    </dgm:pt>
    <dgm:pt modelId="{37174B48-ADB6-ED4D-95B9-4992B85B7708}" type="parTrans" cxnId="{92BD5328-C90D-AC48-B34E-BBBA324158ED}">
      <dgm:prSet/>
      <dgm:spPr/>
      <dgm:t>
        <a:bodyPr/>
        <a:lstStyle/>
        <a:p>
          <a:endParaRPr lang="en-US"/>
        </a:p>
      </dgm:t>
    </dgm:pt>
    <dgm:pt modelId="{CEDEE67C-9647-5E44-ABE8-C403362A3AFA}" type="sibTrans" cxnId="{92BD5328-C90D-AC48-B34E-BBBA324158ED}">
      <dgm:prSet/>
      <dgm:spPr/>
      <dgm:t>
        <a:bodyPr/>
        <a:lstStyle/>
        <a:p>
          <a:endParaRPr lang="en-US"/>
        </a:p>
      </dgm:t>
    </dgm:pt>
    <dgm:pt modelId="{7BEBBC41-18A8-BF45-98E4-6CDCD93180D6}">
      <dgm:prSet/>
      <dgm:spPr/>
      <dgm:t>
        <a:bodyPr/>
        <a:lstStyle/>
        <a:p>
          <a:r>
            <a:rPr lang="en-US" b="1" dirty="0"/>
            <a:t>Mathematical Coupling</a:t>
          </a:r>
          <a:r>
            <a:rPr lang="en-US" dirty="0"/>
            <a:t>: This voltage is directly proportional to the angular velocity of the motor shaft:</a:t>
          </a:r>
        </a:p>
      </dgm:t>
    </dgm:pt>
    <dgm:pt modelId="{E36E1F98-2785-0D43-A5F6-6CD2E523C56E}" type="parTrans" cxnId="{BF24DA07-854E-2249-BA34-FE8207CB1256}">
      <dgm:prSet/>
      <dgm:spPr/>
      <dgm:t>
        <a:bodyPr/>
        <a:lstStyle/>
        <a:p>
          <a:endParaRPr lang="en-US"/>
        </a:p>
      </dgm:t>
    </dgm:pt>
    <dgm:pt modelId="{B58EFA2E-5429-5D45-AB63-13B4AB06D154}" type="sibTrans" cxnId="{BF24DA07-854E-2249-BA34-FE8207CB1256}">
      <dgm:prSet/>
      <dgm:spPr/>
      <dgm:t>
        <a:bodyPr/>
        <a:lstStyle/>
        <a:p>
          <a:endParaRPr lang="en-US"/>
        </a:p>
      </dgm:t>
    </dgm:pt>
    <dgm:pt modelId="{EC256AAC-5BE9-034C-B078-DB6115B43D3B}" type="pres">
      <dgm:prSet presAssocID="{06F73AF1-5F37-E649-B2A7-000872EEFD8C}" presName="vert0" presStyleCnt="0">
        <dgm:presLayoutVars>
          <dgm:dir/>
          <dgm:animOne val="branch"/>
          <dgm:animLvl val="lvl"/>
        </dgm:presLayoutVars>
      </dgm:prSet>
      <dgm:spPr/>
    </dgm:pt>
    <dgm:pt modelId="{3E6A668D-7CF3-7847-A01A-8E2D0185A92A}" type="pres">
      <dgm:prSet presAssocID="{512FAD9A-4651-0E4A-BF9B-DF549DE1A980}" presName="thickLine" presStyleLbl="alignNode1" presStyleIdx="0" presStyleCnt="2"/>
      <dgm:spPr/>
    </dgm:pt>
    <dgm:pt modelId="{9A2781C8-5D6F-5340-854B-5CE1FABBB5FE}" type="pres">
      <dgm:prSet presAssocID="{512FAD9A-4651-0E4A-BF9B-DF549DE1A980}" presName="horz1" presStyleCnt="0"/>
      <dgm:spPr/>
    </dgm:pt>
    <dgm:pt modelId="{E651F353-1DF8-C64B-B349-990A313B593A}" type="pres">
      <dgm:prSet presAssocID="{512FAD9A-4651-0E4A-BF9B-DF549DE1A980}" presName="tx1" presStyleLbl="revTx" presStyleIdx="0" presStyleCnt="2"/>
      <dgm:spPr/>
    </dgm:pt>
    <dgm:pt modelId="{9F4AFE43-3CB6-BF45-9ADA-35C37AED9300}" type="pres">
      <dgm:prSet presAssocID="{512FAD9A-4651-0E4A-BF9B-DF549DE1A980}" presName="vert1" presStyleCnt="0"/>
      <dgm:spPr/>
    </dgm:pt>
    <dgm:pt modelId="{5ED77B4E-6D2C-9845-B296-7815BD5B4C4B}" type="pres">
      <dgm:prSet presAssocID="{7BEBBC41-18A8-BF45-98E4-6CDCD93180D6}" presName="thickLine" presStyleLbl="alignNode1" presStyleIdx="1" presStyleCnt="2"/>
      <dgm:spPr/>
    </dgm:pt>
    <dgm:pt modelId="{3FC8BE2F-CDFC-0145-A023-EC79AE50705C}" type="pres">
      <dgm:prSet presAssocID="{7BEBBC41-18A8-BF45-98E4-6CDCD93180D6}" presName="horz1" presStyleCnt="0"/>
      <dgm:spPr/>
    </dgm:pt>
    <dgm:pt modelId="{CD6EEBBB-E6AB-9C44-A897-89D42798AE15}" type="pres">
      <dgm:prSet presAssocID="{7BEBBC41-18A8-BF45-98E4-6CDCD93180D6}" presName="tx1" presStyleLbl="revTx" presStyleIdx="1" presStyleCnt="2"/>
      <dgm:spPr/>
    </dgm:pt>
    <dgm:pt modelId="{E6E41FE8-0F87-1F4F-BE3D-41E0BC8B6A9F}" type="pres">
      <dgm:prSet presAssocID="{7BEBBC41-18A8-BF45-98E4-6CDCD93180D6}" presName="vert1" presStyleCnt="0"/>
      <dgm:spPr/>
    </dgm:pt>
  </dgm:ptLst>
  <dgm:cxnLst>
    <dgm:cxn modelId="{BF24DA07-854E-2249-BA34-FE8207CB1256}" srcId="{06F73AF1-5F37-E649-B2A7-000872EEFD8C}" destId="{7BEBBC41-18A8-BF45-98E4-6CDCD93180D6}" srcOrd="1" destOrd="0" parTransId="{E36E1F98-2785-0D43-A5F6-6CD2E523C56E}" sibTransId="{B58EFA2E-5429-5D45-AB63-13B4AB06D154}"/>
    <dgm:cxn modelId="{1B59E318-FFEE-3241-9D4E-2FA87340BF45}" type="presOf" srcId="{06F73AF1-5F37-E649-B2A7-000872EEFD8C}" destId="{EC256AAC-5BE9-034C-B078-DB6115B43D3B}" srcOrd="0" destOrd="0" presId="urn:microsoft.com/office/officeart/2008/layout/LinedList"/>
    <dgm:cxn modelId="{87A1D419-A906-3E4A-A6F1-4054391E9C3C}" type="presOf" srcId="{512FAD9A-4651-0E4A-BF9B-DF549DE1A980}" destId="{E651F353-1DF8-C64B-B349-990A313B593A}" srcOrd="0" destOrd="0" presId="urn:microsoft.com/office/officeart/2008/layout/LinedList"/>
    <dgm:cxn modelId="{92BD5328-C90D-AC48-B34E-BBBA324158ED}" srcId="{06F73AF1-5F37-E649-B2A7-000872EEFD8C}" destId="{512FAD9A-4651-0E4A-BF9B-DF549DE1A980}" srcOrd="0" destOrd="0" parTransId="{37174B48-ADB6-ED4D-95B9-4992B85B7708}" sibTransId="{CEDEE67C-9647-5E44-ABE8-C403362A3AFA}"/>
    <dgm:cxn modelId="{3E7FC03A-FB8D-9649-B05A-A25576A877DF}" type="presOf" srcId="{7BEBBC41-18A8-BF45-98E4-6CDCD93180D6}" destId="{CD6EEBBB-E6AB-9C44-A897-89D42798AE15}" srcOrd="0" destOrd="0" presId="urn:microsoft.com/office/officeart/2008/layout/LinedList"/>
    <dgm:cxn modelId="{3CDBA450-E270-5942-B2F7-FD9E1F2E767C}" type="presParOf" srcId="{EC256AAC-5BE9-034C-B078-DB6115B43D3B}" destId="{3E6A668D-7CF3-7847-A01A-8E2D0185A92A}" srcOrd="0" destOrd="0" presId="urn:microsoft.com/office/officeart/2008/layout/LinedList"/>
    <dgm:cxn modelId="{58005384-8D64-0C4E-9CFD-7D9D0CDDC442}" type="presParOf" srcId="{EC256AAC-5BE9-034C-B078-DB6115B43D3B}" destId="{9A2781C8-5D6F-5340-854B-5CE1FABBB5FE}" srcOrd="1" destOrd="0" presId="urn:microsoft.com/office/officeart/2008/layout/LinedList"/>
    <dgm:cxn modelId="{1C690559-5611-DC45-87EE-03E3942A647A}" type="presParOf" srcId="{9A2781C8-5D6F-5340-854B-5CE1FABBB5FE}" destId="{E651F353-1DF8-C64B-B349-990A313B593A}" srcOrd="0" destOrd="0" presId="urn:microsoft.com/office/officeart/2008/layout/LinedList"/>
    <dgm:cxn modelId="{ADD653FD-4A27-4C42-A021-F036FF84D41F}" type="presParOf" srcId="{9A2781C8-5D6F-5340-854B-5CE1FABBB5FE}" destId="{9F4AFE43-3CB6-BF45-9ADA-35C37AED9300}" srcOrd="1" destOrd="0" presId="urn:microsoft.com/office/officeart/2008/layout/LinedList"/>
    <dgm:cxn modelId="{DE9DAB99-0328-2046-B90F-92A6DB9A62A5}" type="presParOf" srcId="{EC256AAC-5BE9-034C-B078-DB6115B43D3B}" destId="{5ED77B4E-6D2C-9845-B296-7815BD5B4C4B}" srcOrd="2" destOrd="0" presId="urn:microsoft.com/office/officeart/2008/layout/LinedList"/>
    <dgm:cxn modelId="{93A61DEA-30FC-AE48-8D26-799F8E9BA379}" type="presParOf" srcId="{EC256AAC-5BE9-034C-B078-DB6115B43D3B}" destId="{3FC8BE2F-CDFC-0145-A023-EC79AE50705C}" srcOrd="3" destOrd="0" presId="urn:microsoft.com/office/officeart/2008/layout/LinedList"/>
    <dgm:cxn modelId="{3B30AB8B-1B76-5048-A9E3-7BDFF3E8B3AD}" type="presParOf" srcId="{3FC8BE2F-CDFC-0145-A023-EC79AE50705C}" destId="{CD6EEBBB-E6AB-9C44-A897-89D42798AE15}" srcOrd="0" destOrd="0" presId="urn:microsoft.com/office/officeart/2008/layout/LinedList"/>
    <dgm:cxn modelId="{93F43682-32FC-CE48-BA5F-3A3EF9F92BB9}" type="presParOf" srcId="{3FC8BE2F-CDFC-0145-A023-EC79AE50705C}" destId="{E6E41FE8-0F87-1F4F-BE3D-41E0BC8B6A9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DD87B7-7B34-8D41-ACF2-276EB0B8780B}" type="doc">
      <dgm:prSet loTypeId="urn:microsoft.com/office/officeart/2008/layout/LinedList" loCatId="list" qsTypeId="urn:microsoft.com/office/officeart/2005/8/quickstyle/simple1" qsCatId="simple" csTypeId="urn:microsoft.com/office/officeart/2005/8/colors/colorful4" csCatId="colorful" phldr="1"/>
      <dgm:spPr/>
      <dgm:t>
        <a:bodyPr/>
        <a:lstStyle/>
        <a:p>
          <a:endParaRPr lang="en-US"/>
        </a:p>
      </dgm:t>
    </dgm:pt>
    <dgm:pt modelId="{39AAC28A-958F-534B-AA5E-7AF6E47C2DC9}">
      <dgm:prSet custT="1"/>
      <dgm:spPr/>
      <dgm:t>
        <a:bodyPr/>
        <a:lstStyle/>
        <a:p>
          <a:r>
            <a:rPr lang="en-US" sz="2000" b="1" dirty="0"/>
            <a:t>The Back-EMF Constant (</a:t>
          </a:r>
          <a:r>
            <a:rPr lang="en-US" sz="2000" b="1" dirty="0" err="1"/>
            <a:t>K</a:t>
          </a:r>
          <a:r>
            <a:rPr lang="en-US" sz="2000" b="1" baseline="-25000" dirty="0" err="1"/>
            <a:t>b</a:t>
          </a:r>
          <a:r>
            <a:rPr lang="en-US" sz="2000" b="1" dirty="0"/>
            <a:t>)</a:t>
          </a:r>
          <a:r>
            <a:rPr lang="en-US" sz="2000" dirty="0"/>
            <a:t>: This constant defines the electrical "damping" effect and is a fixed characteristic of the motor hardware.</a:t>
          </a:r>
        </a:p>
      </dgm:t>
    </dgm:pt>
    <dgm:pt modelId="{0AF6967C-5965-184F-9752-997299BF5F95}" type="parTrans" cxnId="{D7E7B289-FE94-7340-B2AD-D2CAA20D53FF}">
      <dgm:prSet/>
      <dgm:spPr/>
      <dgm:t>
        <a:bodyPr/>
        <a:lstStyle/>
        <a:p>
          <a:endParaRPr lang="en-US" sz="2000"/>
        </a:p>
      </dgm:t>
    </dgm:pt>
    <dgm:pt modelId="{DE2185B8-B770-C94A-BE77-50434CE2C6F3}" type="sibTrans" cxnId="{D7E7B289-FE94-7340-B2AD-D2CAA20D53FF}">
      <dgm:prSet/>
      <dgm:spPr/>
      <dgm:t>
        <a:bodyPr/>
        <a:lstStyle/>
        <a:p>
          <a:endParaRPr lang="en-US" sz="2000"/>
        </a:p>
      </dgm:t>
    </dgm:pt>
    <dgm:pt modelId="{9C695AAE-0C21-7A43-B92E-57996A5AED3A}" type="pres">
      <dgm:prSet presAssocID="{F0DD87B7-7B34-8D41-ACF2-276EB0B8780B}" presName="vert0" presStyleCnt="0">
        <dgm:presLayoutVars>
          <dgm:dir/>
          <dgm:animOne val="branch"/>
          <dgm:animLvl val="lvl"/>
        </dgm:presLayoutVars>
      </dgm:prSet>
      <dgm:spPr/>
    </dgm:pt>
    <dgm:pt modelId="{CEA036BB-6781-564B-B0EC-395D4EFD85A0}" type="pres">
      <dgm:prSet presAssocID="{39AAC28A-958F-534B-AA5E-7AF6E47C2DC9}" presName="thickLine" presStyleLbl="alignNode1" presStyleIdx="0" presStyleCnt="1"/>
      <dgm:spPr/>
    </dgm:pt>
    <dgm:pt modelId="{F733D3FB-ADFF-E64D-AEF5-2603AE4D64DE}" type="pres">
      <dgm:prSet presAssocID="{39AAC28A-958F-534B-AA5E-7AF6E47C2DC9}" presName="horz1" presStyleCnt="0"/>
      <dgm:spPr/>
    </dgm:pt>
    <dgm:pt modelId="{2450437D-5909-0144-9343-50F21B9DF32E}" type="pres">
      <dgm:prSet presAssocID="{39AAC28A-958F-534B-AA5E-7AF6E47C2DC9}" presName="tx1" presStyleLbl="revTx" presStyleIdx="0" presStyleCnt="1"/>
      <dgm:spPr/>
    </dgm:pt>
    <dgm:pt modelId="{4B11DB5A-82F3-1F4F-A8E5-D979CFDDCCD5}" type="pres">
      <dgm:prSet presAssocID="{39AAC28A-958F-534B-AA5E-7AF6E47C2DC9}" presName="vert1" presStyleCnt="0"/>
      <dgm:spPr/>
    </dgm:pt>
  </dgm:ptLst>
  <dgm:cxnLst>
    <dgm:cxn modelId="{D0557341-1FB1-EC4B-878B-9DD1C44EBF78}" type="presOf" srcId="{F0DD87B7-7B34-8D41-ACF2-276EB0B8780B}" destId="{9C695AAE-0C21-7A43-B92E-57996A5AED3A}" srcOrd="0" destOrd="0" presId="urn:microsoft.com/office/officeart/2008/layout/LinedList"/>
    <dgm:cxn modelId="{D7E7B289-FE94-7340-B2AD-D2CAA20D53FF}" srcId="{F0DD87B7-7B34-8D41-ACF2-276EB0B8780B}" destId="{39AAC28A-958F-534B-AA5E-7AF6E47C2DC9}" srcOrd="0" destOrd="0" parTransId="{0AF6967C-5965-184F-9752-997299BF5F95}" sibTransId="{DE2185B8-B770-C94A-BE77-50434CE2C6F3}"/>
    <dgm:cxn modelId="{0055FBA5-4EE1-0744-87C2-18336DB727F4}" type="presOf" srcId="{39AAC28A-958F-534B-AA5E-7AF6E47C2DC9}" destId="{2450437D-5909-0144-9343-50F21B9DF32E}" srcOrd="0" destOrd="0" presId="urn:microsoft.com/office/officeart/2008/layout/LinedList"/>
    <dgm:cxn modelId="{F4D8792A-B103-9248-97C6-6516F791D56E}" type="presParOf" srcId="{9C695AAE-0C21-7A43-B92E-57996A5AED3A}" destId="{CEA036BB-6781-564B-B0EC-395D4EFD85A0}" srcOrd="0" destOrd="0" presId="urn:microsoft.com/office/officeart/2008/layout/LinedList"/>
    <dgm:cxn modelId="{52AA4E2E-FA1C-6B47-81E8-CB60AEA77E32}" type="presParOf" srcId="{9C695AAE-0C21-7A43-B92E-57996A5AED3A}" destId="{F733D3FB-ADFF-E64D-AEF5-2603AE4D64DE}" srcOrd="1" destOrd="0" presId="urn:microsoft.com/office/officeart/2008/layout/LinedList"/>
    <dgm:cxn modelId="{DD7F5A7B-44CD-3940-861B-5FAD4A0A5612}" type="presParOf" srcId="{F733D3FB-ADFF-E64D-AEF5-2603AE4D64DE}" destId="{2450437D-5909-0144-9343-50F21B9DF32E}" srcOrd="0" destOrd="0" presId="urn:microsoft.com/office/officeart/2008/layout/LinedList"/>
    <dgm:cxn modelId="{98C9ED4A-2B5B-4A4A-8EA7-9B34DD9B97CC}" type="presParOf" srcId="{F733D3FB-ADFF-E64D-AEF5-2603AE4D64DE}" destId="{4B11DB5A-82F3-1F4F-A8E5-D979CFDDCCD5}" srcOrd="1"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451582E-0E81-FF4D-882F-33D5E7EE9095}" type="doc">
      <dgm:prSet loTypeId="urn:microsoft.com/office/officeart/2008/layout/LinedList" loCatId="list" qsTypeId="urn:microsoft.com/office/officeart/2005/8/quickstyle/simple2" qsCatId="simple" csTypeId="urn:microsoft.com/office/officeart/2005/8/colors/colorful2" csCatId="colorful" phldr="1"/>
      <dgm:spPr/>
      <dgm:t>
        <a:bodyPr/>
        <a:lstStyle/>
        <a:p>
          <a:endParaRPr lang="en-US"/>
        </a:p>
      </dgm:t>
    </dgm:pt>
    <dgm:pt modelId="{A73047B9-AA69-894D-A89A-9949A736CF99}">
      <dgm:prSet/>
      <dgm:spPr/>
      <dgm:t>
        <a:bodyPr/>
        <a:lstStyle/>
        <a:p>
          <a:r>
            <a:rPr lang="en-US" b="1" dirty="0"/>
            <a:t>Moment of Inertia (J):</a:t>
          </a:r>
          <a:r>
            <a:rPr lang="en-US" dirty="0"/>
            <a:t> Fixed at </a:t>
          </a:r>
          <a:r>
            <a:rPr lang="en-US" b="1" dirty="0"/>
            <a:t>0.01</a:t>
          </a:r>
          <a:r>
            <a:rPr lang="en-US" dirty="0"/>
            <a:t> kg . m</a:t>
          </a:r>
          <a:r>
            <a:rPr lang="en-US" baseline="30000" dirty="0"/>
            <a:t>2</a:t>
          </a:r>
          <a:r>
            <a:rPr lang="en-US" dirty="0"/>
            <a:t> in our model, representing the physical resistance to angular acceleration. </a:t>
          </a:r>
        </a:p>
      </dgm:t>
    </dgm:pt>
    <dgm:pt modelId="{52A6761C-F133-A248-9B57-35D33F3CCEFF}" type="parTrans" cxnId="{E1B230C4-C1D0-A846-8E58-08951DC48907}">
      <dgm:prSet/>
      <dgm:spPr/>
      <dgm:t>
        <a:bodyPr/>
        <a:lstStyle/>
        <a:p>
          <a:endParaRPr lang="en-US"/>
        </a:p>
      </dgm:t>
    </dgm:pt>
    <dgm:pt modelId="{61EBDAAE-F1D4-614E-92F7-3F7FD732AFD8}" type="sibTrans" cxnId="{E1B230C4-C1D0-A846-8E58-08951DC48907}">
      <dgm:prSet/>
      <dgm:spPr/>
      <dgm:t>
        <a:bodyPr/>
        <a:lstStyle/>
        <a:p>
          <a:endParaRPr lang="en-US"/>
        </a:p>
      </dgm:t>
    </dgm:pt>
    <dgm:pt modelId="{1D3DF61D-2020-3640-83F9-08F8B27DDA59}">
      <dgm:prSet/>
      <dgm:spPr/>
      <dgm:t>
        <a:bodyPr/>
        <a:lstStyle/>
        <a:p>
          <a:r>
            <a:rPr lang="en-US" b="1" dirty="0"/>
            <a:t>Damping Coefficient (b):</a:t>
          </a:r>
          <a:r>
            <a:rPr lang="en-US" dirty="0"/>
            <a:t> Fixed at </a:t>
          </a:r>
          <a:r>
            <a:rPr lang="en-US" b="1" dirty="0"/>
            <a:t>0.1</a:t>
          </a:r>
          <a:r>
            <a:rPr lang="en-US" dirty="0"/>
            <a:t> N . m.  s, representing the internal friction losses. </a:t>
          </a:r>
        </a:p>
      </dgm:t>
    </dgm:pt>
    <dgm:pt modelId="{60CAB19C-C716-B347-ADE4-660E0B68CCE8}" type="parTrans" cxnId="{E9F78A49-998C-0C45-B8F1-E98279ABA526}">
      <dgm:prSet/>
      <dgm:spPr/>
      <dgm:t>
        <a:bodyPr/>
        <a:lstStyle/>
        <a:p>
          <a:endParaRPr lang="en-US"/>
        </a:p>
      </dgm:t>
    </dgm:pt>
    <dgm:pt modelId="{866F2A9B-2E42-CF45-A8D0-EA84015203F7}" type="sibTrans" cxnId="{E9F78A49-998C-0C45-B8F1-E98279ABA526}">
      <dgm:prSet/>
      <dgm:spPr/>
      <dgm:t>
        <a:bodyPr/>
        <a:lstStyle/>
        <a:p>
          <a:endParaRPr lang="en-US"/>
        </a:p>
      </dgm:t>
    </dgm:pt>
    <dgm:pt modelId="{06C0FDA3-5715-B146-9B96-66EC876A477A}" type="pres">
      <dgm:prSet presAssocID="{C451582E-0E81-FF4D-882F-33D5E7EE9095}" presName="vert0" presStyleCnt="0">
        <dgm:presLayoutVars>
          <dgm:dir/>
          <dgm:animOne val="branch"/>
          <dgm:animLvl val="lvl"/>
        </dgm:presLayoutVars>
      </dgm:prSet>
      <dgm:spPr/>
    </dgm:pt>
    <dgm:pt modelId="{0C6DF36D-FA6F-A44F-889A-BEA3A1742B28}" type="pres">
      <dgm:prSet presAssocID="{A73047B9-AA69-894D-A89A-9949A736CF99}" presName="thickLine" presStyleLbl="alignNode1" presStyleIdx="0" presStyleCnt="2"/>
      <dgm:spPr/>
    </dgm:pt>
    <dgm:pt modelId="{3CEBC51C-79EB-924F-8AFB-44BA9AD737C4}" type="pres">
      <dgm:prSet presAssocID="{A73047B9-AA69-894D-A89A-9949A736CF99}" presName="horz1" presStyleCnt="0"/>
      <dgm:spPr/>
    </dgm:pt>
    <dgm:pt modelId="{2D087C08-3C5A-B54E-93D9-CE4D63D16E8E}" type="pres">
      <dgm:prSet presAssocID="{A73047B9-AA69-894D-A89A-9949A736CF99}" presName="tx1" presStyleLbl="revTx" presStyleIdx="0" presStyleCnt="2"/>
      <dgm:spPr/>
    </dgm:pt>
    <dgm:pt modelId="{B28073F2-1903-8848-BBD2-DE24809ED74D}" type="pres">
      <dgm:prSet presAssocID="{A73047B9-AA69-894D-A89A-9949A736CF99}" presName="vert1" presStyleCnt="0"/>
      <dgm:spPr/>
    </dgm:pt>
    <dgm:pt modelId="{DC89890D-DE3D-E944-8E7F-99F2E384EA67}" type="pres">
      <dgm:prSet presAssocID="{1D3DF61D-2020-3640-83F9-08F8B27DDA59}" presName="thickLine" presStyleLbl="alignNode1" presStyleIdx="1" presStyleCnt="2"/>
      <dgm:spPr/>
    </dgm:pt>
    <dgm:pt modelId="{D2BBD787-AAE3-C342-B626-287EB2108265}" type="pres">
      <dgm:prSet presAssocID="{1D3DF61D-2020-3640-83F9-08F8B27DDA59}" presName="horz1" presStyleCnt="0"/>
      <dgm:spPr/>
    </dgm:pt>
    <dgm:pt modelId="{B60D6FE3-5993-054E-A2B6-13D4335CCB63}" type="pres">
      <dgm:prSet presAssocID="{1D3DF61D-2020-3640-83F9-08F8B27DDA59}" presName="tx1" presStyleLbl="revTx" presStyleIdx="1" presStyleCnt="2"/>
      <dgm:spPr/>
    </dgm:pt>
    <dgm:pt modelId="{5872E5AB-CE7E-3146-9DA6-340B424DE1A9}" type="pres">
      <dgm:prSet presAssocID="{1D3DF61D-2020-3640-83F9-08F8B27DDA59}" presName="vert1" presStyleCnt="0"/>
      <dgm:spPr/>
    </dgm:pt>
  </dgm:ptLst>
  <dgm:cxnLst>
    <dgm:cxn modelId="{78FB3330-3A42-2F4C-9167-76589F350E22}" type="presOf" srcId="{1D3DF61D-2020-3640-83F9-08F8B27DDA59}" destId="{B60D6FE3-5993-054E-A2B6-13D4335CCB63}" srcOrd="0" destOrd="0" presId="urn:microsoft.com/office/officeart/2008/layout/LinedList"/>
    <dgm:cxn modelId="{4461105E-F631-1843-B045-80896F8F79FD}" type="presOf" srcId="{C451582E-0E81-FF4D-882F-33D5E7EE9095}" destId="{06C0FDA3-5715-B146-9B96-66EC876A477A}" srcOrd="0" destOrd="0" presId="urn:microsoft.com/office/officeart/2008/layout/LinedList"/>
    <dgm:cxn modelId="{63C07044-2325-4141-A873-538F2C2894AF}" type="presOf" srcId="{A73047B9-AA69-894D-A89A-9949A736CF99}" destId="{2D087C08-3C5A-B54E-93D9-CE4D63D16E8E}" srcOrd="0" destOrd="0" presId="urn:microsoft.com/office/officeart/2008/layout/LinedList"/>
    <dgm:cxn modelId="{E9F78A49-998C-0C45-B8F1-E98279ABA526}" srcId="{C451582E-0E81-FF4D-882F-33D5E7EE9095}" destId="{1D3DF61D-2020-3640-83F9-08F8B27DDA59}" srcOrd="1" destOrd="0" parTransId="{60CAB19C-C716-B347-ADE4-660E0B68CCE8}" sibTransId="{866F2A9B-2E42-CF45-A8D0-EA84015203F7}"/>
    <dgm:cxn modelId="{E1B230C4-C1D0-A846-8E58-08951DC48907}" srcId="{C451582E-0E81-FF4D-882F-33D5E7EE9095}" destId="{A73047B9-AA69-894D-A89A-9949A736CF99}" srcOrd="0" destOrd="0" parTransId="{52A6761C-F133-A248-9B57-35D33F3CCEFF}" sibTransId="{61EBDAAE-F1D4-614E-92F7-3F7FD732AFD8}"/>
    <dgm:cxn modelId="{94414CBE-53F8-474E-924F-113983F61295}" type="presParOf" srcId="{06C0FDA3-5715-B146-9B96-66EC876A477A}" destId="{0C6DF36D-FA6F-A44F-889A-BEA3A1742B28}" srcOrd="0" destOrd="0" presId="urn:microsoft.com/office/officeart/2008/layout/LinedList"/>
    <dgm:cxn modelId="{A24C96E0-CD42-C14D-BAC7-2876AB5CDE0B}" type="presParOf" srcId="{06C0FDA3-5715-B146-9B96-66EC876A477A}" destId="{3CEBC51C-79EB-924F-8AFB-44BA9AD737C4}" srcOrd="1" destOrd="0" presId="urn:microsoft.com/office/officeart/2008/layout/LinedList"/>
    <dgm:cxn modelId="{A3361037-310F-EB4B-95F1-7F8D85CC1AD4}" type="presParOf" srcId="{3CEBC51C-79EB-924F-8AFB-44BA9AD737C4}" destId="{2D087C08-3C5A-B54E-93D9-CE4D63D16E8E}" srcOrd="0" destOrd="0" presId="urn:microsoft.com/office/officeart/2008/layout/LinedList"/>
    <dgm:cxn modelId="{4E663B78-2224-5C4D-8610-1128479D1B5D}" type="presParOf" srcId="{3CEBC51C-79EB-924F-8AFB-44BA9AD737C4}" destId="{B28073F2-1903-8848-BBD2-DE24809ED74D}" srcOrd="1" destOrd="0" presId="urn:microsoft.com/office/officeart/2008/layout/LinedList"/>
    <dgm:cxn modelId="{58F1714B-AC43-E546-B822-388B7E6E3219}" type="presParOf" srcId="{06C0FDA3-5715-B146-9B96-66EC876A477A}" destId="{DC89890D-DE3D-E944-8E7F-99F2E384EA67}" srcOrd="2" destOrd="0" presId="urn:microsoft.com/office/officeart/2008/layout/LinedList"/>
    <dgm:cxn modelId="{49BFE98C-2D87-1D46-8872-B938545123FB}" type="presParOf" srcId="{06C0FDA3-5715-B146-9B96-66EC876A477A}" destId="{D2BBD787-AAE3-C342-B626-287EB2108265}" srcOrd="3" destOrd="0" presId="urn:microsoft.com/office/officeart/2008/layout/LinedList"/>
    <dgm:cxn modelId="{2735CD8C-3588-2B4D-A97C-18C5D8318A85}" type="presParOf" srcId="{D2BBD787-AAE3-C342-B626-287EB2108265}" destId="{B60D6FE3-5993-054E-A2B6-13D4335CCB63}" srcOrd="0" destOrd="0" presId="urn:microsoft.com/office/officeart/2008/layout/LinedList"/>
    <dgm:cxn modelId="{4135B79C-182F-8447-921A-75BFD8A62E91}" type="presParOf" srcId="{D2BBD787-AAE3-C342-B626-287EB2108265}" destId="{5872E5AB-CE7E-3146-9DA6-340B424DE1A9}"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F480DA-83DF-5645-A4BE-1113F21F23CF}"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B55DE084-4F04-A44A-983C-64CCE8E43E7B}">
      <dgm:prSet/>
      <dgm:spPr/>
      <dgm:t>
        <a:bodyPr/>
        <a:lstStyle/>
        <a:p>
          <a:r>
            <a:rPr lang="en-US" dirty="0"/>
            <a:t>By applying the Laplace Transform to our coupled equations (assuming zero initial conditions) and substituting the torque constant (K</a:t>
          </a:r>
          <a:r>
            <a:rPr lang="en-US" baseline="-25000" dirty="0"/>
            <a:t>t</a:t>
          </a:r>
          <a:r>
            <a:rPr lang="en-US" dirty="0"/>
            <a:t>) and back-EMF constant (</a:t>
          </a:r>
          <a:r>
            <a:rPr lang="en-US" dirty="0" err="1"/>
            <a:t>K</a:t>
          </a:r>
          <a:r>
            <a:rPr lang="en-US" baseline="-25000" dirty="0" err="1"/>
            <a:t>b</a:t>
          </a:r>
          <a:r>
            <a:rPr lang="en-US" dirty="0"/>
            <a:t>), we arrive at the </a:t>
          </a:r>
          <a:r>
            <a:rPr lang="en-US" b="1" dirty="0"/>
            <a:t>Final Transfer Function</a:t>
          </a:r>
          <a:r>
            <a:rPr lang="en-US" dirty="0"/>
            <a:t>:</a:t>
          </a:r>
        </a:p>
      </dgm:t>
    </dgm:pt>
    <dgm:pt modelId="{C6426D32-93B7-C846-A247-B81E50967F59}" type="parTrans" cxnId="{6F500F25-5505-A64A-87F4-B96117AD840B}">
      <dgm:prSet/>
      <dgm:spPr/>
      <dgm:t>
        <a:bodyPr/>
        <a:lstStyle/>
        <a:p>
          <a:endParaRPr lang="en-US"/>
        </a:p>
      </dgm:t>
    </dgm:pt>
    <dgm:pt modelId="{A8A1EFD7-02B3-B443-ACEE-F3E4B46E8879}" type="sibTrans" cxnId="{6F500F25-5505-A64A-87F4-B96117AD840B}">
      <dgm:prSet/>
      <dgm:spPr/>
      <dgm:t>
        <a:bodyPr/>
        <a:lstStyle/>
        <a:p>
          <a:endParaRPr lang="en-US"/>
        </a:p>
      </dgm:t>
    </dgm:pt>
    <dgm:pt modelId="{1F37452C-6F96-B44B-935E-D86B434B63AD}" type="pres">
      <dgm:prSet presAssocID="{FDF480DA-83DF-5645-A4BE-1113F21F23CF}" presName="linear" presStyleCnt="0">
        <dgm:presLayoutVars>
          <dgm:animLvl val="lvl"/>
          <dgm:resizeHandles val="exact"/>
        </dgm:presLayoutVars>
      </dgm:prSet>
      <dgm:spPr/>
    </dgm:pt>
    <dgm:pt modelId="{F7AC8CA3-4FFA-5549-B335-33C93EC4FD7E}" type="pres">
      <dgm:prSet presAssocID="{B55DE084-4F04-A44A-983C-64CCE8E43E7B}" presName="parentText" presStyleLbl="node1" presStyleIdx="0" presStyleCnt="1">
        <dgm:presLayoutVars>
          <dgm:chMax val="0"/>
          <dgm:bulletEnabled val="1"/>
        </dgm:presLayoutVars>
      </dgm:prSet>
      <dgm:spPr/>
    </dgm:pt>
  </dgm:ptLst>
  <dgm:cxnLst>
    <dgm:cxn modelId="{83B66B10-B3FD-BC4D-9363-E1F8E327EA0A}" type="presOf" srcId="{B55DE084-4F04-A44A-983C-64CCE8E43E7B}" destId="{F7AC8CA3-4FFA-5549-B335-33C93EC4FD7E}" srcOrd="0" destOrd="0" presId="urn:microsoft.com/office/officeart/2005/8/layout/vList2"/>
    <dgm:cxn modelId="{6F500F25-5505-A64A-87F4-B96117AD840B}" srcId="{FDF480DA-83DF-5645-A4BE-1113F21F23CF}" destId="{B55DE084-4F04-A44A-983C-64CCE8E43E7B}" srcOrd="0" destOrd="0" parTransId="{C6426D32-93B7-C846-A247-B81E50967F59}" sibTransId="{A8A1EFD7-02B3-B443-ACEE-F3E4B46E8879}"/>
    <dgm:cxn modelId="{FDFC54DE-C6B3-B046-9091-938EACF50955}" type="presOf" srcId="{FDF480DA-83DF-5645-A4BE-1113F21F23CF}" destId="{1F37452C-6F96-B44B-935E-D86B434B63AD}" srcOrd="0" destOrd="0" presId="urn:microsoft.com/office/officeart/2005/8/layout/vList2"/>
    <dgm:cxn modelId="{FB14946F-A392-314F-B1F3-3348F8E8EA48}" type="presParOf" srcId="{1F37452C-6F96-B44B-935E-D86B434B63AD}" destId="{F7AC8CA3-4FFA-5549-B335-33C93EC4FD7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5AC33-614B-ED4C-835F-A0BBB4DD7F0C}">
      <dsp:nvSpPr>
        <dsp:cNvPr id="0" name=""/>
        <dsp:cNvSpPr/>
      </dsp:nvSpPr>
      <dsp:spPr>
        <a:xfrm>
          <a:off x="4576" y="1179764"/>
          <a:ext cx="2178041" cy="1500670"/>
        </a:xfrm>
        <a:prstGeom prst="roundRect">
          <a:avLst/>
        </a:prstGeom>
        <a:blipFill dpi="0" rotWithShape="1">
          <a:blip xmlns:r="http://schemas.openxmlformats.org/officeDocument/2006/relationships" r:embed="rId1"/>
          <a:srcRect/>
          <a:stretch>
            <a:fillRect l="7951" t="-6815" r="7995" b="-51207"/>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D315E1-00EE-654F-80D7-53FECEC696EF}">
      <dsp:nvSpPr>
        <dsp:cNvPr id="0" name=""/>
        <dsp:cNvSpPr/>
      </dsp:nvSpPr>
      <dsp:spPr>
        <a:xfrm>
          <a:off x="4576" y="2680435"/>
          <a:ext cx="2178041" cy="808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ClrTx/>
            <a:buSzTx/>
            <a:buFontTx/>
            <a:buNone/>
          </a:pPr>
          <a:r>
            <a:rPr lang="en-GB" sz="1600" kern="1200" dirty="0">
              <a:solidFill>
                <a:srgbClr val="193C66"/>
              </a:solidFill>
              <a:effectLst/>
              <a:latin typeface="+mn-lt"/>
            </a:rPr>
            <a:t>Praveen Kumar Cheerla - </a:t>
          </a:r>
          <a:r>
            <a:rPr lang="en-GB" sz="1600" kern="1200" dirty="0">
              <a:latin typeface="+mn-lt"/>
            </a:rPr>
            <a:t>12501601</a:t>
          </a:r>
          <a:endParaRPr lang="en-US" sz="1600" kern="1200" dirty="0"/>
        </a:p>
      </dsp:txBody>
      <dsp:txXfrm>
        <a:off x="4576" y="2680435"/>
        <a:ext cx="2178041" cy="808053"/>
      </dsp:txXfrm>
    </dsp:sp>
    <dsp:sp modelId="{66C011E9-263A-5444-9F79-A261EB485E67}">
      <dsp:nvSpPr>
        <dsp:cNvPr id="0" name=""/>
        <dsp:cNvSpPr/>
      </dsp:nvSpPr>
      <dsp:spPr>
        <a:xfrm>
          <a:off x="2400513" y="1179764"/>
          <a:ext cx="2178041" cy="1500670"/>
        </a:xfrm>
        <a:prstGeom prst="roundRect">
          <a:avLst/>
        </a:prstGeom>
        <a:blipFill dpi="0" rotWithShape="1">
          <a:blip xmlns:r="http://schemas.openxmlformats.org/officeDocument/2006/relationships" r:embed="rId2"/>
          <a:srcRect/>
          <a:stretch>
            <a:fillRect t="-5951" r="4426" b="-7946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B6C0E6-056B-5440-B949-F1C1428D33D2}">
      <dsp:nvSpPr>
        <dsp:cNvPr id="0" name=""/>
        <dsp:cNvSpPr/>
      </dsp:nvSpPr>
      <dsp:spPr>
        <a:xfrm>
          <a:off x="2400513" y="2680435"/>
          <a:ext cx="2178041" cy="808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ClrTx/>
            <a:buSzTx/>
            <a:buFontTx/>
            <a:buNone/>
          </a:pPr>
          <a:r>
            <a:rPr lang="en-GB" sz="1600" kern="1200" dirty="0">
              <a:solidFill>
                <a:srgbClr val="193C66"/>
              </a:solidFill>
              <a:effectLst/>
              <a:latin typeface="+mn-lt"/>
            </a:rPr>
            <a:t>Gamini Lokesh Chowdary  - 12652811</a:t>
          </a:r>
          <a:endParaRPr lang="en-US" sz="1600" kern="1200" dirty="0"/>
        </a:p>
      </dsp:txBody>
      <dsp:txXfrm>
        <a:off x="2400513" y="2680435"/>
        <a:ext cx="2178041" cy="808053"/>
      </dsp:txXfrm>
    </dsp:sp>
    <dsp:sp modelId="{539F754B-2AC5-AD4C-B32A-D5DC75EBD88A}">
      <dsp:nvSpPr>
        <dsp:cNvPr id="0" name=""/>
        <dsp:cNvSpPr/>
      </dsp:nvSpPr>
      <dsp:spPr>
        <a:xfrm>
          <a:off x="4796450" y="1179764"/>
          <a:ext cx="2178041" cy="1500670"/>
        </a:xfrm>
        <a:prstGeom prst="roundRect">
          <a:avLst/>
        </a:prstGeom>
        <a:blipFill dpi="0" rotWithShape="1">
          <a:blip xmlns:r="http://schemas.openxmlformats.org/officeDocument/2006/relationships" r:embed="rId3"/>
          <a:srcRect/>
          <a:stretch>
            <a:fillRect l="10609" t="-25971" r="20883" b="-46675"/>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2A3273-F8AB-6C47-A784-CCBD03CCE9A6}">
      <dsp:nvSpPr>
        <dsp:cNvPr id="0" name=""/>
        <dsp:cNvSpPr/>
      </dsp:nvSpPr>
      <dsp:spPr>
        <a:xfrm>
          <a:off x="4796450" y="2680435"/>
          <a:ext cx="2178041" cy="808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None/>
          </a:pPr>
          <a:r>
            <a:rPr lang="en-GB" sz="1600" kern="1200" dirty="0">
              <a:solidFill>
                <a:srgbClr val="193C66"/>
              </a:solidFill>
              <a:effectLst/>
              <a:latin typeface="+mn-lt"/>
            </a:rPr>
            <a:t>Ameer khan Mohammed - </a:t>
          </a:r>
          <a:r>
            <a:rPr lang="en-DE" sz="1600" kern="1200">
              <a:solidFill>
                <a:srgbClr val="193C66"/>
              </a:solidFill>
              <a:effectLst/>
              <a:latin typeface="+mn-lt"/>
            </a:rPr>
            <a:t>12652811</a:t>
          </a:r>
          <a:endParaRPr lang="en-US" sz="1600" kern="1200" dirty="0"/>
        </a:p>
      </dsp:txBody>
      <dsp:txXfrm>
        <a:off x="4796450" y="2680435"/>
        <a:ext cx="2178041" cy="808053"/>
      </dsp:txXfrm>
    </dsp:sp>
    <dsp:sp modelId="{FCFCC913-3ECB-4241-A95F-82F70D3A35E4}">
      <dsp:nvSpPr>
        <dsp:cNvPr id="0" name=""/>
        <dsp:cNvSpPr/>
      </dsp:nvSpPr>
      <dsp:spPr>
        <a:xfrm>
          <a:off x="7192387" y="1134114"/>
          <a:ext cx="2178041" cy="1500670"/>
        </a:xfrm>
        <a:prstGeom prst="roundRect">
          <a:avLst/>
        </a:prstGeom>
        <a:blipFill dpi="0" rotWithShape="1">
          <a:blip xmlns:r="http://schemas.openxmlformats.org/officeDocument/2006/relationships" r:embed="rId4"/>
          <a:srcRect/>
          <a:stretch>
            <a:fillRect l="9911" t="-2026" r="10165" b="-4983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4EC534-7A0D-A842-8A0B-0A9E27F90673}">
      <dsp:nvSpPr>
        <dsp:cNvPr id="0" name=""/>
        <dsp:cNvSpPr/>
      </dsp:nvSpPr>
      <dsp:spPr>
        <a:xfrm>
          <a:off x="7192387" y="2680435"/>
          <a:ext cx="2178041" cy="808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ClrTx/>
            <a:buSzTx/>
            <a:buFontTx/>
            <a:buNone/>
          </a:pPr>
          <a:r>
            <a:rPr lang="en-GB" sz="1600" kern="1200" dirty="0">
              <a:solidFill>
                <a:srgbClr val="193C66"/>
              </a:solidFill>
              <a:effectLst/>
              <a:latin typeface="+mn-lt"/>
            </a:rPr>
            <a:t>Ajith Kannan </a:t>
          </a:r>
          <a:r>
            <a:rPr lang="en-GB" sz="1600" kern="1200" err="1">
              <a:solidFill>
                <a:srgbClr val="193C66"/>
              </a:solidFill>
              <a:effectLst/>
              <a:latin typeface="+mn-lt"/>
            </a:rPr>
            <a:t>karipody</a:t>
          </a:r>
          <a:r>
            <a:rPr lang="en-GB" sz="1600" kern="1200">
              <a:solidFill>
                <a:srgbClr val="193C66"/>
              </a:solidFill>
              <a:effectLst/>
              <a:latin typeface="+mn-lt"/>
            </a:rPr>
            <a:t>  -</a:t>
          </a:r>
          <a:r>
            <a:rPr lang="en-DE" sz="1600" kern="1200">
              <a:solidFill>
                <a:srgbClr val="193C66"/>
              </a:solidFill>
              <a:effectLst/>
              <a:latin typeface="+mn-lt"/>
            </a:rPr>
            <a:t>12652811</a:t>
          </a:r>
          <a:r>
            <a:rPr lang="en-GB" sz="1600" kern="1200">
              <a:solidFill>
                <a:srgbClr val="193C66"/>
              </a:solidFill>
              <a:effectLst/>
              <a:latin typeface="+mn-lt"/>
            </a:rPr>
            <a:t> </a:t>
          </a:r>
          <a:endParaRPr lang="en-US" sz="1600" kern="1200" dirty="0"/>
        </a:p>
      </dsp:txBody>
      <dsp:txXfrm>
        <a:off x="7192387" y="2680435"/>
        <a:ext cx="2178041" cy="8080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C625F2-933A-5645-BD88-F4506C699A0D}">
      <dsp:nvSpPr>
        <dsp:cNvPr id="0" name=""/>
        <dsp:cNvSpPr/>
      </dsp:nvSpPr>
      <dsp:spPr>
        <a:xfrm>
          <a:off x="0" y="0"/>
          <a:ext cx="8551388" cy="5569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Armature-Controlled DC Motor</a:t>
          </a:r>
          <a:r>
            <a:rPr lang="en-US" sz="1400" kern="1200" dirty="0"/>
            <a:t>: The study focuses on a permanent magnet DC motor where the speed is regulated by varying the armature voltage ($</a:t>
          </a:r>
          <a:r>
            <a:rPr lang="en-US" sz="1400" kern="1200" dirty="0" err="1"/>
            <a:t>V_a</a:t>
          </a:r>
          <a:r>
            <a:rPr lang="en-US" sz="1400" kern="1200" dirty="0"/>
            <a:t>$). </a:t>
          </a:r>
        </a:p>
      </dsp:txBody>
      <dsp:txXfrm>
        <a:off x="27187" y="27187"/>
        <a:ext cx="8497014" cy="502546"/>
      </dsp:txXfrm>
    </dsp:sp>
    <dsp:sp modelId="{A5A450ED-B7C4-544F-B6D0-320EE3FAF612}">
      <dsp:nvSpPr>
        <dsp:cNvPr id="0" name=""/>
        <dsp:cNvSpPr/>
      </dsp:nvSpPr>
      <dsp:spPr>
        <a:xfrm>
          <a:off x="0" y="598703"/>
          <a:ext cx="8551388" cy="5569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System Objectives</a:t>
          </a:r>
          <a:r>
            <a:rPr lang="en-US" sz="1400" kern="1200" dirty="0"/>
            <a:t>: The goal is to transform the motor from a "simple actuator" into a "precision machine" by compensating for load disturbances and supply noise. </a:t>
          </a:r>
        </a:p>
      </dsp:txBody>
      <dsp:txXfrm>
        <a:off x="27187" y="625890"/>
        <a:ext cx="8497014" cy="502546"/>
      </dsp:txXfrm>
    </dsp:sp>
    <dsp:sp modelId="{3C95E17B-9145-F14E-B3BE-D9AD1D6AD0D9}">
      <dsp:nvSpPr>
        <dsp:cNvPr id="0" name=""/>
        <dsp:cNvSpPr/>
      </dsp:nvSpPr>
      <dsp:spPr>
        <a:xfrm>
          <a:off x="0" y="1181316"/>
          <a:ext cx="8551388" cy="5569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Operation Domain</a:t>
          </a:r>
          <a:r>
            <a:rPr lang="en-US" sz="1400" kern="1200" dirty="0"/>
            <a:t>: The system is analyzed as a multi-domain plant consisting of an Electrical Circuit (Armature) coupled to a Mechanical Load (Rotor).</a:t>
          </a:r>
        </a:p>
      </dsp:txBody>
      <dsp:txXfrm>
        <a:off x="27187" y="1208503"/>
        <a:ext cx="8497014" cy="5025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67ACD-3EEE-E141-B201-5849E3E2DBA4}">
      <dsp:nvSpPr>
        <dsp:cNvPr id="0" name=""/>
        <dsp:cNvSpPr/>
      </dsp:nvSpPr>
      <dsp:spPr>
        <a:xfrm>
          <a:off x="0" y="1162"/>
          <a:ext cx="1100087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B5E1AE-041B-924C-BEEC-BD7D78976E7C}">
      <dsp:nvSpPr>
        <dsp:cNvPr id="0" name=""/>
        <dsp:cNvSpPr/>
      </dsp:nvSpPr>
      <dsp:spPr>
        <a:xfrm>
          <a:off x="0" y="1162"/>
          <a:ext cx="11000873" cy="792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Torque Coupling (K</a:t>
          </a:r>
          <a:r>
            <a:rPr lang="en-US" sz="1800" b="1" kern="1200" baseline="-25000" dirty="0"/>
            <a:t>t</a:t>
          </a:r>
          <a:r>
            <a:rPr lang="en-US" sz="1800" b="1" kern="1200" dirty="0"/>
            <a:t>):</a:t>
          </a:r>
          <a:r>
            <a:rPr lang="en-US" sz="1800" kern="1200" dirty="0"/>
            <a:t> Explains how electrical energy becomes mechanical work. The motor torque (T</a:t>
          </a:r>
          <a:r>
            <a:rPr lang="en-US" sz="1800" kern="1200" baseline="-25000" dirty="0"/>
            <a:t>m</a:t>
          </a:r>
          <a:r>
            <a:rPr lang="en-US" sz="1800" kern="1200" dirty="0"/>
            <a:t>) is directly proportional to the armature current (</a:t>
          </a:r>
          <a:r>
            <a:rPr lang="en-US" sz="1800" kern="1200" dirty="0" err="1"/>
            <a:t>i</a:t>
          </a:r>
          <a:r>
            <a:rPr lang="en-US" sz="1800" kern="1200" baseline="-25000" dirty="0" err="1"/>
            <a:t>a</a:t>
          </a:r>
          <a:r>
            <a:rPr lang="en-US" sz="1800" kern="1200" dirty="0"/>
            <a:t>) via the Torque Constant (K</a:t>
          </a:r>
          <a:r>
            <a:rPr lang="en-US" sz="1800" kern="1200" baseline="-25000" dirty="0"/>
            <a:t>t</a:t>
          </a:r>
          <a:r>
            <a:rPr lang="en-US" sz="1800" kern="1200" dirty="0"/>
            <a:t>). </a:t>
          </a:r>
        </a:p>
      </dsp:txBody>
      <dsp:txXfrm>
        <a:off x="0" y="1162"/>
        <a:ext cx="11000873" cy="792507"/>
      </dsp:txXfrm>
    </dsp:sp>
    <dsp:sp modelId="{B9BA7FE8-1450-9547-9013-9E1E1940F64E}">
      <dsp:nvSpPr>
        <dsp:cNvPr id="0" name=""/>
        <dsp:cNvSpPr/>
      </dsp:nvSpPr>
      <dsp:spPr>
        <a:xfrm>
          <a:off x="0" y="793669"/>
          <a:ext cx="1100087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C39311-107B-3F4E-B087-D2A51FED8C41}">
      <dsp:nvSpPr>
        <dsp:cNvPr id="0" name=""/>
        <dsp:cNvSpPr/>
      </dsp:nvSpPr>
      <dsp:spPr>
        <a:xfrm>
          <a:off x="0" y="793669"/>
          <a:ext cx="11000873" cy="792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Voltage Feedback (</a:t>
          </a:r>
          <a:r>
            <a:rPr lang="en-US" sz="1800" b="1" kern="1200" dirty="0" err="1"/>
            <a:t>K</a:t>
          </a:r>
          <a:r>
            <a:rPr lang="en-US" sz="1800" b="1" kern="1200" baseline="-25000" dirty="0" err="1"/>
            <a:t>b</a:t>
          </a:r>
          <a:r>
            <a:rPr lang="en-US" sz="1800" b="1" kern="1200" dirty="0"/>
            <a:t>):</a:t>
          </a:r>
          <a:r>
            <a:rPr lang="en-US" sz="1800" kern="1200" dirty="0"/>
            <a:t> Explains how mechanical motion regulates the electrical system. The rotation of the motor generates an internal "Back-EMF" voltage (</a:t>
          </a:r>
          <a:r>
            <a:rPr lang="en-US" sz="1800" kern="1200" dirty="0" err="1"/>
            <a:t>e</a:t>
          </a:r>
          <a:r>
            <a:rPr lang="en-US" sz="1800" kern="1200" baseline="-25000" dirty="0" err="1"/>
            <a:t>b</a:t>
          </a:r>
          <a:r>
            <a:rPr lang="en-US" sz="1800" kern="1200" dirty="0"/>
            <a:t>) proportional to the angular speed via the Back-EMF Constant (</a:t>
          </a:r>
          <a:r>
            <a:rPr lang="en-US" sz="1800" kern="1200" dirty="0" err="1"/>
            <a:t>K</a:t>
          </a:r>
          <a:r>
            <a:rPr lang="en-US" sz="1800" kern="1200" baseline="-25000" dirty="0" err="1"/>
            <a:t>b</a:t>
          </a:r>
          <a:r>
            <a:rPr lang="en-US" sz="1800" kern="1200" dirty="0"/>
            <a:t>). </a:t>
          </a:r>
        </a:p>
      </dsp:txBody>
      <dsp:txXfrm>
        <a:off x="0" y="793669"/>
        <a:ext cx="11000873" cy="792507"/>
      </dsp:txXfrm>
    </dsp:sp>
    <dsp:sp modelId="{D97376FF-9361-B340-8E7B-0A7439E7A976}">
      <dsp:nvSpPr>
        <dsp:cNvPr id="0" name=""/>
        <dsp:cNvSpPr/>
      </dsp:nvSpPr>
      <dsp:spPr>
        <a:xfrm>
          <a:off x="0" y="1586176"/>
          <a:ext cx="1100087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9721FB-D54F-CC4B-AFA9-7B6FCB71BD2E}">
      <dsp:nvSpPr>
        <dsp:cNvPr id="0" name=""/>
        <dsp:cNvSpPr/>
      </dsp:nvSpPr>
      <dsp:spPr>
        <a:xfrm>
          <a:off x="0" y="1586176"/>
          <a:ext cx="11000873" cy="792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Strategic Value:</a:t>
          </a:r>
          <a:r>
            <a:rPr lang="en-US" sz="1800" kern="1200" dirty="0"/>
            <a:t> By defining K</a:t>
          </a:r>
          <a:r>
            <a:rPr lang="en-US" sz="1800" kern="1200" baseline="-25000" dirty="0"/>
            <a:t>t</a:t>
          </a:r>
          <a:r>
            <a:rPr lang="en-US" sz="1800" kern="1200" dirty="0"/>
            <a:t> and </a:t>
          </a:r>
          <a:r>
            <a:rPr lang="en-US" sz="1800" kern="1200" dirty="0" err="1"/>
            <a:t>K</a:t>
          </a:r>
          <a:r>
            <a:rPr lang="en-US" sz="1800" kern="1200" baseline="-25000" dirty="0" err="1"/>
            <a:t>b</a:t>
          </a:r>
          <a:r>
            <a:rPr lang="en-US" sz="1800" kern="1200" dirty="0"/>
            <a:t> (both set to 0.01 in your project), you create a closed mathematical loop where the electrical and mechanical systems are inseparable. </a:t>
          </a:r>
        </a:p>
      </dsp:txBody>
      <dsp:txXfrm>
        <a:off x="0" y="1586176"/>
        <a:ext cx="11000873" cy="7925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0D5BE-02B4-4340-90A5-6CC31E1955AE}">
      <dsp:nvSpPr>
        <dsp:cNvPr id="0" name=""/>
        <dsp:cNvSpPr/>
      </dsp:nvSpPr>
      <dsp:spPr>
        <a:xfrm>
          <a:off x="0" y="1033"/>
          <a:ext cx="1100087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545155-584C-8A41-9EFF-D212F642FA42}">
      <dsp:nvSpPr>
        <dsp:cNvPr id="0" name=""/>
        <dsp:cNvSpPr/>
      </dsp:nvSpPr>
      <dsp:spPr>
        <a:xfrm>
          <a:off x="0" y="1033"/>
          <a:ext cx="11000872" cy="705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Load Variations (T</a:t>
          </a:r>
          <a:r>
            <a:rPr lang="en-US" sz="1800" b="1" kern="1200" baseline="-25000" dirty="0"/>
            <a:t>L</a:t>
          </a:r>
          <a:r>
            <a:rPr lang="en-US" sz="1800" b="1" kern="1200" dirty="0"/>
            <a:t>):</a:t>
          </a:r>
          <a:r>
            <a:rPr lang="en-US" sz="1800" kern="1200" dirty="0"/>
            <a:t> In an open-loop system, if mechanical resistance (load) increases, the speed drops significantly because there is no mechanism to "ask" for more voltage to compensate. </a:t>
          </a:r>
        </a:p>
      </dsp:txBody>
      <dsp:txXfrm>
        <a:off x="0" y="1033"/>
        <a:ext cx="11000872" cy="705032"/>
      </dsp:txXfrm>
    </dsp:sp>
    <dsp:sp modelId="{AF957677-8798-864E-9795-DBE0939EF7A8}">
      <dsp:nvSpPr>
        <dsp:cNvPr id="0" name=""/>
        <dsp:cNvSpPr/>
      </dsp:nvSpPr>
      <dsp:spPr>
        <a:xfrm>
          <a:off x="0" y="706065"/>
          <a:ext cx="1100087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2596A6-5DB4-E74E-8C56-24A9E37DDBBE}">
      <dsp:nvSpPr>
        <dsp:cNvPr id="0" name=""/>
        <dsp:cNvSpPr/>
      </dsp:nvSpPr>
      <dsp:spPr>
        <a:xfrm>
          <a:off x="0" y="706065"/>
          <a:ext cx="11000872" cy="705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Internal Friction (B):</a:t>
          </a:r>
          <a:r>
            <a:rPr lang="en-US" sz="1800" kern="1200" dirty="0"/>
            <a:t> Viscous damping (set at 0.1 in your parameters) acts as a constant "drain" on performance, leading to what you've termed "precision deficits". </a:t>
          </a:r>
        </a:p>
      </dsp:txBody>
      <dsp:txXfrm>
        <a:off x="0" y="706065"/>
        <a:ext cx="11000872" cy="705032"/>
      </dsp:txXfrm>
    </dsp:sp>
    <dsp:sp modelId="{B6BAF31E-B47D-5F4D-AA5E-E84B2F196260}">
      <dsp:nvSpPr>
        <dsp:cNvPr id="0" name=""/>
        <dsp:cNvSpPr/>
      </dsp:nvSpPr>
      <dsp:spPr>
        <a:xfrm>
          <a:off x="0" y="1411098"/>
          <a:ext cx="1100087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80E1AF-3A05-6D4D-8443-037321A89D60}">
      <dsp:nvSpPr>
        <dsp:cNvPr id="0" name=""/>
        <dsp:cNvSpPr/>
      </dsp:nvSpPr>
      <dsp:spPr>
        <a:xfrm>
          <a:off x="0" y="1411098"/>
          <a:ext cx="11000872" cy="705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t>Open-Loop Instability:</a:t>
          </a:r>
          <a:r>
            <a:rPr lang="en-US" sz="1800" kern="1200"/>
            <a:t> Without feedback, the motor cannot guarantee a consistent RPM under real-world conditions, making it unsuitable for precision tasks like robotics or CNC machining.</a:t>
          </a:r>
        </a:p>
      </dsp:txBody>
      <dsp:txXfrm>
        <a:off x="0" y="1411098"/>
        <a:ext cx="11000872" cy="7050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B5D6C8-8E37-7446-8D00-7CED4751C3A0}">
      <dsp:nvSpPr>
        <dsp:cNvPr id="0" name=""/>
        <dsp:cNvSpPr/>
      </dsp:nvSpPr>
      <dsp:spPr>
        <a:xfrm>
          <a:off x="0" y="9851"/>
          <a:ext cx="10634087" cy="636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armature of a DC motor is modeled as a series circuit containing a resistor (R</a:t>
          </a:r>
          <a:r>
            <a:rPr lang="en-US" sz="1600" kern="1200" baseline="-25000" dirty="0"/>
            <a:t>a</a:t>
          </a:r>
          <a:r>
            <a:rPr lang="en-US" sz="1600" kern="1200" dirty="0"/>
            <a:t>), an inductor (L</a:t>
          </a:r>
          <a:r>
            <a:rPr lang="en-US" sz="1600" kern="1200" baseline="-25000" dirty="0"/>
            <a:t>a</a:t>
          </a:r>
          <a:r>
            <a:rPr lang="en-US" sz="1600" kern="1200" dirty="0"/>
            <a:t>), and a voltage source representing the Back-EMF (</a:t>
          </a:r>
          <a:r>
            <a:rPr lang="en-US" sz="1600" kern="1200" dirty="0" err="1"/>
            <a:t>e</a:t>
          </a:r>
          <a:r>
            <a:rPr lang="en-US" sz="1600" kern="1200" baseline="-25000" dirty="0" err="1"/>
            <a:t>b</a:t>
          </a:r>
          <a:r>
            <a:rPr lang="en-US" sz="1600" kern="1200" dirty="0"/>
            <a:t>).</a:t>
          </a:r>
        </a:p>
      </dsp:txBody>
      <dsp:txXfrm>
        <a:off x="31070" y="40921"/>
        <a:ext cx="10571947" cy="5743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6A668D-7CF3-7847-A01A-8E2D0185A92A}">
      <dsp:nvSpPr>
        <dsp:cNvPr id="0" name=""/>
        <dsp:cNvSpPr/>
      </dsp:nvSpPr>
      <dsp:spPr>
        <a:xfrm>
          <a:off x="0" y="0"/>
          <a:ext cx="102743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51F353-1DF8-C64B-B349-990A313B593A}">
      <dsp:nvSpPr>
        <dsp:cNvPr id="0" name=""/>
        <dsp:cNvSpPr/>
      </dsp:nvSpPr>
      <dsp:spPr>
        <a:xfrm>
          <a:off x="0" y="0"/>
          <a:ext cx="10274300" cy="738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The Generator Effect</a:t>
          </a:r>
          <a:r>
            <a:rPr lang="en-US" sz="2000" kern="1200" dirty="0"/>
            <a:t>: As the armature rotates through the magnetic field, it generates a counter-voltage known as Back-EMF. </a:t>
          </a:r>
        </a:p>
      </dsp:txBody>
      <dsp:txXfrm>
        <a:off x="0" y="0"/>
        <a:ext cx="10274300" cy="738664"/>
      </dsp:txXfrm>
    </dsp:sp>
    <dsp:sp modelId="{5ED77B4E-6D2C-9845-B296-7815BD5B4C4B}">
      <dsp:nvSpPr>
        <dsp:cNvPr id="0" name=""/>
        <dsp:cNvSpPr/>
      </dsp:nvSpPr>
      <dsp:spPr>
        <a:xfrm>
          <a:off x="0" y="738664"/>
          <a:ext cx="102743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6EEBBB-E6AB-9C44-A897-89D42798AE15}">
      <dsp:nvSpPr>
        <dsp:cNvPr id="0" name=""/>
        <dsp:cNvSpPr/>
      </dsp:nvSpPr>
      <dsp:spPr>
        <a:xfrm>
          <a:off x="0" y="738664"/>
          <a:ext cx="10274300" cy="738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Mathematical Coupling</a:t>
          </a:r>
          <a:r>
            <a:rPr lang="en-US" sz="2000" kern="1200" dirty="0"/>
            <a:t>: This voltage is directly proportional to the angular velocity of the motor shaft:</a:t>
          </a:r>
        </a:p>
      </dsp:txBody>
      <dsp:txXfrm>
        <a:off x="0" y="738664"/>
        <a:ext cx="10274300" cy="7386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A036BB-6781-564B-B0EC-395D4EFD85A0}">
      <dsp:nvSpPr>
        <dsp:cNvPr id="0" name=""/>
        <dsp:cNvSpPr/>
      </dsp:nvSpPr>
      <dsp:spPr>
        <a:xfrm>
          <a:off x="0" y="0"/>
          <a:ext cx="1027430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50437D-5909-0144-9343-50F21B9DF32E}">
      <dsp:nvSpPr>
        <dsp:cNvPr id="0" name=""/>
        <dsp:cNvSpPr/>
      </dsp:nvSpPr>
      <dsp:spPr>
        <a:xfrm>
          <a:off x="0" y="0"/>
          <a:ext cx="10274300" cy="92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The Back-EMF Constant (</a:t>
          </a:r>
          <a:r>
            <a:rPr lang="en-US" sz="2000" b="1" kern="1200" dirty="0" err="1"/>
            <a:t>K</a:t>
          </a:r>
          <a:r>
            <a:rPr lang="en-US" sz="2000" b="1" kern="1200" baseline="-25000" dirty="0" err="1"/>
            <a:t>b</a:t>
          </a:r>
          <a:r>
            <a:rPr lang="en-US" sz="2000" b="1" kern="1200" dirty="0"/>
            <a:t>)</a:t>
          </a:r>
          <a:r>
            <a:rPr lang="en-US" sz="2000" kern="1200" dirty="0"/>
            <a:t>: This constant defines the electrical "damping" effect and is a fixed characteristic of the motor hardware.</a:t>
          </a:r>
        </a:p>
      </dsp:txBody>
      <dsp:txXfrm>
        <a:off x="0" y="0"/>
        <a:ext cx="10274300" cy="9233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DF36D-FA6F-A44F-889A-BEA3A1742B28}">
      <dsp:nvSpPr>
        <dsp:cNvPr id="0" name=""/>
        <dsp:cNvSpPr/>
      </dsp:nvSpPr>
      <dsp:spPr>
        <a:xfrm>
          <a:off x="0" y="0"/>
          <a:ext cx="1024626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D087C08-3C5A-B54E-93D9-CE4D63D16E8E}">
      <dsp:nvSpPr>
        <dsp:cNvPr id="0" name=""/>
        <dsp:cNvSpPr/>
      </dsp:nvSpPr>
      <dsp:spPr>
        <a:xfrm>
          <a:off x="0" y="0"/>
          <a:ext cx="10246264" cy="738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Moment of Inertia (J):</a:t>
          </a:r>
          <a:r>
            <a:rPr lang="en-US" sz="2000" kern="1200" dirty="0"/>
            <a:t> Fixed at </a:t>
          </a:r>
          <a:r>
            <a:rPr lang="en-US" sz="2000" b="1" kern="1200" dirty="0"/>
            <a:t>0.01</a:t>
          </a:r>
          <a:r>
            <a:rPr lang="en-US" sz="2000" kern="1200" dirty="0"/>
            <a:t> kg . m</a:t>
          </a:r>
          <a:r>
            <a:rPr lang="en-US" sz="2000" kern="1200" baseline="30000" dirty="0"/>
            <a:t>2</a:t>
          </a:r>
          <a:r>
            <a:rPr lang="en-US" sz="2000" kern="1200" dirty="0"/>
            <a:t> in our model, representing the physical resistance to angular acceleration. </a:t>
          </a:r>
        </a:p>
      </dsp:txBody>
      <dsp:txXfrm>
        <a:off x="0" y="0"/>
        <a:ext cx="10246264" cy="738664"/>
      </dsp:txXfrm>
    </dsp:sp>
    <dsp:sp modelId="{DC89890D-DE3D-E944-8E7F-99F2E384EA67}">
      <dsp:nvSpPr>
        <dsp:cNvPr id="0" name=""/>
        <dsp:cNvSpPr/>
      </dsp:nvSpPr>
      <dsp:spPr>
        <a:xfrm>
          <a:off x="0" y="738664"/>
          <a:ext cx="1024626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60D6FE3-5993-054E-A2B6-13D4335CCB63}">
      <dsp:nvSpPr>
        <dsp:cNvPr id="0" name=""/>
        <dsp:cNvSpPr/>
      </dsp:nvSpPr>
      <dsp:spPr>
        <a:xfrm>
          <a:off x="0" y="738664"/>
          <a:ext cx="10246264" cy="738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Damping Coefficient (b):</a:t>
          </a:r>
          <a:r>
            <a:rPr lang="en-US" sz="2000" kern="1200" dirty="0"/>
            <a:t> Fixed at </a:t>
          </a:r>
          <a:r>
            <a:rPr lang="en-US" sz="2000" b="1" kern="1200" dirty="0"/>
            <a:t>0.1</a:t>
          </a:r>
          <a:r>
            <a:rPr lang="en-US" sz="2000" kern="1200" dirty="0"/>
            <a:t> N . m.  s, representing the internal friction losses. </a:t>
          </a:r>
        </a:p>
      </dsp:txBody>
      <dsp:txXfrm>
        <a:off x="0" y="738664"/>
        <a:ext cx="10246264" cy="73866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AC8CA3-4FFA-5549-B335-33C93EC4FD7E}">
      <dsp:nvSpPr>
        <dsp:cNvPr id="0" name=""/>
        <dsp:cNvSpPr/>
      </dsp:nvSpPr>
      <dsp:spPr>
        <a:xfrm>
          <a:off x="0" y="139751"/>
          <a:ext cx="9643050" cy="6762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By applying the Laplace Transform to our coupled equations (assuming zero initial conditions) and substituting the torque constant (K</a:t>
          </a:r>
          <a:r>
            <a:rPr lang="en-US" sz="1700" kern="1200" baseline="-25000" dirty="0"/>
            <a:t>t</a:t>
          </a:r>
          <a:r>
            <a:rPr lang="en-US" sz="1700" kern="1200" dirty="0"/>
            <a:t>) and back-EMF constant (</a:t>
          </a:r>
          <a:r>
            <a:rPr lang="en-US" sz="1700" kern="1200" dirty="0" err="1"/>
            <a:t>K</a:t>
          </a:r>
          <a:r>
            <a:rPr lang="en-US" sz="1700" kern="1200" baseline="-25000" dirty="0" err="1"/>
            <a:t>b</a:t>
          </a:r>
          <a:r>
            <a:rPr lang="en-US" sz="1700" kern="1200" dirty="0"/>
            <a:t>), we arrive at the </a:t>
          </a:r>
          <a:r>
            <a:rPr lang="en-US" sz="1700" b="1" kern="1200" dirty="0"/>
            <a:t>Final Transfer Function</a:t>
          </a:r>
          <a:r>
            <a:rPr lang="en-US" sz="1700" kern="1200" dirty="0"/>
            <a:t>:</a:t>
          </a:r>
        </a:p>
      </dsp:txBody>
      <dsp:txXfrm>
        <a:off x="33012" y="172763"/>
        <a:ext cx="9577026" cy="610236"/>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8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50443" y="0"/>
            <a:ext cx="2945659" cy="496888"/>
          </a:xfrm>
          <a:prstGeom prst="rect">
            <a:avLst/>
          </a:prstGeom>
        </p:spPr>
        <p:txBody>
          <a:bodyPr vert="horz" lIns="91440" tIns="45720" rIns="91440" bIns="45720" rtlCol="0"/>
          <a:lstStyle>
            <a:lvl1pPr algn="r">
              <a:defRPr sz="1200"/>
            </a:lvl1pPr>
          </a:lstStyle>
          <a:p>
            <a:fld id="{C5030CBB-C20E-4188-A25A-5B2484FD4627}" type="datetimeFigureOut">
              <a:rPr lang="de-DE" smtClean="0"/>
              <a:t>12.05.2026</a:t>
            </a:fld>
            <a:endParaRPr lang="de-DE"/>
          </a:p>
        </p:txBody>
      </p:sp>
      <p:sp>
        <p:nvSpPr>
          <p:cNvPr id="4" name="Fußzeilenplatzhalter 3"/>
          <p:cNvSpPr>
            <a:spLocks noGrp="1"/>
          </p:cNvSpPr>
          <p:nvPr>
            <p:ph type="ftr" sz="quarter" idx="2"/>
          </p:nvPr>
        </p:nvSpPr>
        <p:spPr>
          <a:xfrm>
            <a:off x="0" y="9429750"/>
            <a:ext cx="2945659" cy="496888"/>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429750"/>
            <a:ext cx="2945659" cy="496888"/>
          </a:xfrm>
          <a:prstGeom prst="rect">
            <a:avLst/>
          </a:prstGeom>
        </p:spPr>
        <p:txBody>
          <a:bodyPr vert="horz" lIns="91440" tIns="45720" rIns="91440" bIns="45720" rtlCol="0" anchor="b"/>
          <a:lstStyle>
            <a:lvl1pPr algn="r">
              <a:defRPr sz="1200"/>
            </a:lvl1pPr>
          </a:lstStyle>
          <a:p>
            <a:fld id="{84600B71-33AA-47B9-AF3D-030E02AA07B1}" type="slidenum">
              <a:rPr lang="de-DE" smtClean="0"/>
              <a:t>‹#›</a:t>
            </a:fld>
            <a:endParaRPr lang="de-DE"/>
          </a:p>
        </p:txBody>
      </p:sp>
    </p:spTree>
    <p:extLst>
      <p:ext uri="{BB962C8B-B14F-4D97-AF65-F5344CB8AC3E}">
        <p14:creationId xmlns:p14="http://schemas.microsoft.com/office/powerpoint/2010/main" val="3393308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6AF5B8A-E857-441B-B26C-91E2ED861DAE}" type="datetimeFigureOut">
              <a:rPr lang="de-DE" smtClean="0"/>
              <a:t>12.05.2026</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5"/>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5"/>
            <a:ext cx="2945659" cy="498055"/>
          </a:xfrm>
          <a:prstGeom prst="rect">
            <a:avLst/>
          </a:prstGeom>
        </p:spPr>
        <p:txBody>
          <a:bodyPr vert="horz" lIns="91440" tIns="45720" rIns="91440" bIns="45720" rtlCol="0" anchor="b"/>
          <a:lstStyle>
            <a:lvl1pPr algn="r">
              <a:defRPr sz="1200"/>
            </a:lvl1pPr>
          </a:lstStyle>
          <a:p>
            <a:fld id="{B2F3FE92-1802-41EE-B167-409214DF4AFE}" type="slidenum">
              <a:rPr lang="de-DE" smtClean="0"/>
              <a:t>‹#›</a:t>
            </a:fld>
            <a:endParaRPr lang="de-DE"/>
          </a:p>
        </p:txBody>
      </p:sp>
    </p:spTree>
    <p:extLst>
      <p:ext uri="{BB962C8B-B14F-4D97-AF65-F5344CB8AC3E}">
        <p14:creationId xmlns:p14="http://schemas.microsoft.com/office/powerpoint/2010/main" val="3802772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presenting this slide, emphasize that these parameters represent a </a:t>
            </a:r>
            <a:r>
              <a:rPr lang="en-US" sz="1200" b="1" kern="1200" dirty="0">
                <a:solidFill>
                  <a:schemeClr val="tx1"/>
                </a:solidFill>
                <a:effectLst/>
                <a:latin typeface="+mn-lt"/>
                <a:ea typeface="+mn-ea"/>
                <a:cs typeface="+mn-cs"/>
              </a:rPr>
              <a:t>specific hardware target</a:t>
            </a:r>
            <a:r>
              <a:rPr lang="en-US" sz="1200" kern="1200" dirty="0">
                <a:solidFill>
                  <a:schemeClr val="tx1"/>
                </a:solidFill>
                <a:effectLst/>
                <a:latin typeface="+mn-lt"/>
                <a:ea typeface="+mn-ea"/>
                <a:cs typeface="+mn-cs"/>
              </a:rPr>
              <a:t>. State that: </a:t>
            </a:r>
            <a:r>
              <a:rPr lang="en-US" sz="1200" i="1" kern="1200" dirty="0">
                <a:solidFill>
                  <a:schemeClr val="tx1"/>
                </a:solidFill>
                <a:effectLst/>
                <a:latin typeface="+mn-lt"/>
                <a:ea typeface="+mn-ea"/>
                <a:cs typeface="+mn-cs"/>
              </a:rPr>
              <a:t>"These values ($R, L, J, B$) define the physical limits of our mechatronic system. By identifying these early, we can use Root Locus or Frequency Response techniques to determine exactly how much gain ($</a:t>
            </a:r>
            <a:r>
              <a:rPr lang="en-US" sz="1200" i="1" kern="1200" dirty="0" err="1">
                <a:solidFill>
                  <a:schemeClr val="tx1"/>
                </a:solidFill>
                <a:effectLst/>
                <a:latin typeface="+mn-lt"/>
                <a:ea typeface="+mn-ea"/>
                <a:cs typeface="+mn-cs"/>
              </a:rPr>
              <a:t>K_p</a:t>
            </a:r>
            <a:r>
              <a:rPr lang="en-US" sz="1200" i="1" kern="1200" dirty="0">
                <a:solidFill>
                  <a:schemeClr val="tx1"/>
                </a:solidFill>
                <a:effectLst/>
                <a:latin typeface="+mn-lt"/>
                <a:ea typeface="+mn-ea"/>
                <a:cs typeface="+mn-cs"/>
              </a:rPr>
              <a:t>$) the system can handle before becoming unstable"</a:t>
            </a:r>
            <a:r>
              <a:rPr lang="en-US" sz="1200" kern="1200" dirty="0">
                <a:solidFill>
                  <a:schemeClr val="tx1"/>
                </a:solidFill>
                <a:effectLst/>
                <a:latin typeface="+mn-lt"/>
                <a:ea typeface="+mn-ea"/>
                <a:cs typeface="+mn-cs"/>
              </a:rPr>
              <a:t>.</a:t>
            </a:r>
            <a:r>
              <a:rPr lang="en-US" dirty="0"/>
              <a:t> </a:t>
            </a:r>
          </a:p>
        </p:txBody>
      </p:sp>
      <p:sp>
        <p:nvSpPr>
          <p:cNvPr id="4" name="Slide Number Placeholder 3"/>
          <p:cNvSpPr>
            <a:spLocks noGrp="1"/>
          </p:cNvSpPr>
          <p:nvPr>
            <p:ph type="sldNum" sz="quarter" idx="5"/>
          </p:nvPr>
        </p:nvSpPr>
        <p:spPr/>
        <p:txBody>
          <a:bodyPr/>
          <a:lstStyle/>
          <a:p>
            <a:fld id="{B2F3FE92-1802-41EE-B167-409214DF4AFE}" type="slidenum">
              <a:rPr lang="de-DE" smtClean="0"/>
              <a:t>4</a:t>
            </a:fld>
            <a:endParaRPr lang="de-DE"/>
          </a:p>
        </p:txBody>
      </p:sp>
    </p:spTree>
    <p:extLst>
      <p:ext uri="{BB962C8B-B14F-4D97-AF65-F5344CB8AC3E}">
        <p14:creationId xmlns:p14="http://schemas.microsoft.com/office/powerpoint/2010/main" val="1739991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raw numbers, the core of our Review 1 is the 'Electromechanical Bridge.' We recognize that a DC motor is not just two separate systems but a single coupled plant. By explicitly modeling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K_t</a:t>
            </a:r>
            <a:r>
              <a:rPr lang="en-US" sz="1200" kern="1200" dirty="0">
                <a:solidFill>
                  <a:schemeClr val="tx1"/>
                </a:solidFill>
                <a:effectLst/>
                <a:latin typeface="+mn-lt"/>
                <a:ea typeface="+mn-ea"/>
                <a:cs typeface="+mn-cs"/>
              </a:rPr>
              <a:t>$</a:t>
            </a:r>
            <a:r>
              <a:rPr lang="en-US" dirty="0"/>
              <a:t> and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K_b</a:t>
            </a:r>
            <a:r>
              <a:rPr lang="en-US" sz="1200" kern="1200" dirty="0">
                <a:solidFill>
                  <a:schemeClr val="tx1"/>
                </a:solidFill>
                <a:effectLst/>
                <a:latin typeface="+mn-lt"/>
                <a:ea typeface="+mn-ea"/>
                <a:cs typeface="+mn-cs"/>
              </a:rPr>
              <a:t>$</a:t>
            </a:r>
            <a:r>
              <a:rPr lang="en-US" dirty="0"/>
              <a:t>, we capture the Back-EMF effect that naturally dampens the system. Our Open-Loop Analysis highlights that internal friction and external load variations make precision impossible without feedback. Therefore, we have opted for Deterministic Modeling—deriving the full second-order transfer function from first principles. This allows us to predict the system's poles and zeros with mathematical certainty, ensuring that our PID strategy is built on a verified physical foundation rather than an opaque software library."</a:t>
            </a:r>
          </a:p>
        </p:txBody>
      </p:sp>
      <p:sp>
        <p:nvSpPr>
          <p:cNvPr id="4" name="Slide Number Placeholder 3"/>
          <p:cNvSpPr>
            <a:spLocks noGrp="1"/>
          </p:cNvSpPr>
          <p:nvPr>
            <p:ph type="sldNum" sz="quarter" idx="5"/>
          </p:nvPr>
        </p:nvSpPr>
        <p:spPr/>
        <p:txBody>
          <a:bodyPr/>
          <a:lstStyle/>
          <a:p>
            <a:fld id="{B2F3FE92-1802-41EE-B167-409214DF4AFE}" type="slidenum">
              <a:rPr lang="de-DE" smtClean="0"/>
              <a:t>5</a:t>
            </a:fld>
            <a:endParaRPr lang="de-DE"/>
          </a:p>
        </p:txBody>
      </p:sp>
    </p:spTree>
    <p:extLst>
      <p:ext uri="{BB962C8B-B14F-4D97-AF65-F5344CB8AC3E}">
        <p14:creationId xmlns:p14="http://schemas.microsoft.com/office/powerpoint/2010/main" val="4220988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slide, we establish the electrical foundation of the plant. Using Kirchhoff's Voltage Law, we define the armature circuit as a second-order electrical system. It is vital to note that the applied voltage is not solely used for driving current; a significant portion is countered by the </a:t>
            </a:r>
            <a:r>
              <a:rPr lang="en-US" sz="1200" b="1" kern="1200" dirty="0">
                <a:solidFill>
                  <a:schemeClr val="tx1"/>
                </a:solidFill>
                <a:effectLst/>
                <a:latin typeface="+mn-lt"/>
                <a:ea typeface="+mn-ea"/>
                <a:cs typeface="+mn-cs"/>
              </a:rPr>
              <a:t>Back-EMF ($</a:t>
            </a:r>
            <a:r>
              <a:rPr lang="en-US" sz="1200" b="1" kern="1200" dirty="0" err="1">
                <a:solidFill>
                  <a:schemeClr val="tx1"/>
                </a:solidFill>
                <a:effectLst/>
                <a:latin typeface="+mn-lt"/>
                <a:ea typeface="+mn-ea"/>
                <a:cs typeface="+mn-cs"/>
              </a:rPr>
              <a:t>e_b</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which we have modeled as a linear function of the angular velocity, $\omega$. This represents our first coupling point between the electrical input and mechanical output. By identifying the inductance ($</a:t>
            </a:r>
            <a:r>
              <a:rPr lang="en-US" sz="1200" kern="1200" dirty="0" err="1">
                <a:solidFill>
                  <a:schemeClr val="tx1"/>
                </a:solidFill>
                <a:effectLst/>
                <a:latin typeface="+mn-lt"/>
                <a:ea typeface="+mn-ea"/>
                <a:cs typeface="+mn-cs"/>
              </a:rPr>
              <a:t>L_a</a:t>
            </a:r>
            <a:r>
              <a:rPr lang="en-US" sz="1200" kern="1200" dirty="0">
                <a:solidFill>
                  <a:schemeClr val="tx1"/>
                </a:solidFill>
                <a:effectLst/>
                <a:latin typeface="+mn-lt"/>
                <a:ea typeface="+mn-ea"/>
                <a:cs typeface="+mn-cs"/>
              </a:rPr>
              <a:t>$) and resistance ($</a:t>
            </a:r>
            <a:r>
              <a:rPr lang="en-US" sz="1200" kern="1200" dirty="0" err="1">
                <a:solidFill>
                  <a:schemeClr val="tx1"/>
                </a:solidFill>
                <a:effectLst/>
                <a:latin typeface="+mn-lt"/>
                <a:ea typeface="+mn-ea"/>
                <a:cs typeface="+mn-cs"/>
              </a:rPr>
              <a:t>R_a</a:t>
            </a:r>
            <a:r>
              <a:rPr lang="en-US" sz="1200" kern="1200" dirty="0">
                <a:solidFill>
                  <a:schemeClr val="tx1"/>
                </a:solidFill>
                <a:effectLst/>
                <a:latin typeface="+mn-lt"/>
                <a:ea typeface="+mn-ea"/>
                <a:cs typeface="+mn-cs"/>
              </a:rPr>
              <a:t>$), we can predict the electrical time constant, which is the first bottleneck in our system's overall response speed."</a:t>
            </a:r>
            <a:r>
              <a:rPr lang="en-US" dirty="0"/>
              <a:t> </a:t>
            </a:r>
          </a:p>
          <a:p>
            <a:endParaRPr lang="en-US" dirty="0"/>
          </a:p>
          <a:p>
            <a:endParaRPr lang="en-US" dirty="0"/>
          </a:p>
        </p:txBody>
      </p:sp>
      <p:sp>
        <p:nvSpPr>
          <p:cNvPr id="4" name="Slide Number Placeholder 3"/>
          <p:cNvSpPr>
            <a:spLocks noGrp="1"/>
          </p:cNvSpPr>
          <p:nvPr>
            <p:ph type="sldNum" sz="quarter" idx="5"/>
          </p:nvPr>
        </p:nvSpPr>
        <p:spPr/>
        <p:txBody>
          <a:bodyPr/>
          <a:lstStyle/>
          <a:p>
            <a:fld id="{B2F3FE92-1802-41EE-B167-409214DF4AFE}" type="slidenum">
              <a:rPr lang="de-DE" smtClean="0"/>
              <a:t>8</a:t>
            </a:fld>
            <a:endParaRPr lang="de-DE"/>
          </a:p>
        </p:txBody>
      </p:sp>
    </p:spTree>
    <p:extLst>
      <p:ext uri="{BB962C8B-B14F-4D97-AF65-F5344CB8AC3E}">
        <p14:creationId xmlns:p14="http://schemas.microsoft.com/office/powerpoint/2010/main" val="3673536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Mathematical Significance:</a:t>
            </a:r>
            <a:r>
              <a:rPr lang="en-US" dirty="0"/>
              <a:t> This second-order equation is the "Deterministic Model" of our plant. It allows us to analyze the system's poles to determine stability and transient behavior before applying any control. </a:t>
            </a:r>
            <a:br>
              <a:rPr lang="en-US" dirty="0"/>
            </a:br>
            <a:br>
              <a:rPr lang="en-US" dirty="0"/>
            </a:br>
            <a:r>
              <a:rPr lang="en-US" sz="1200" kern="1200" dirty="0">
                <a:solidFill>
                  <a:schemeClr val="tx1"/>
                </a:solidFill>
                <a:effectLst/>
                <a:latin typeface="+mn-lt"/>
                <a:ea typeface="+mn-ea"/>
                <a:cs typeface="+mn-cs"/>
              </a:rPr>
              <a:t>While the electrical domain defines our energy input, this slide captures the mechanical output—the actual rotation we intend to control. By coupling the electrical equation from the previous slide with Newton's Second Law, we derive the </a:t>
            </a:r>
            <a:r>
              <a:rPr lang="en-US" sz="1200" b="1" kern="1200" dirty="0">
                <a:solidFill>
                  <a:schemeClr val="tx1"/>
                </a:solidFill>
                <a:effectLst/>
                <a:latin typeface="+mn-lt"/>
                <a:ea typeface="+mn-ea"/>
                <a:cs typeface="+mn-cs"/>
              </a:rPr>
              <a:t>System Transfer Function</a:t>
            </a:r>
            <a:r>
              <a:rPr lang="en-US" sz="1200" kern="1200" dirty="0">
                <a:solidFill>
                  <a:schemeClr val="tx1"/>
                </a:solidFill>
                <a:effectLst/>
                <a:latin typeface="+mn-lt"/>
                <a:ea typeface="+mn-ea"/>
                <a:cs typeface="+mn-cs"/>
              </a:rPr>
              <a:t>. Notice the denominator: the term $</a:t>
            </a:r>
            <a:r>
              <a:rPr lang="en-US" sz="1200" kern="1200" dirty="0" err="1">
                <a:solidFill>
                  <a:schemeClr val="tx1"/>
                </a:solidFill>
                <a:effectLst/>
                <a:latin typeface="+mn-lt"/>
                <a:ea typeface="+mn-ea"/>
                <a:cs typeface="+mn-cs"/>
              </a:rPr>
              <a:t>K_tK_b</a:t>
            </a:r>
            <a:r>
              <a:rPr lang="en-US" sz="1200" kern="1200" dirty="0">
                <a:solidFill>
                  <a:schemeClr val="tx1"/>
                </a:solidFill>
                <a:effectLst/>
                <a:latin typeface="+mn-lt"/>
                <a:ea typeface="+mn-ea"/>
                <a:cs typeface="+mn-cs"/>
              </a:rPr>
              <a:t>$ represents the 'Electromechanical Bridge'. This term effectively increases the damping of the system, which is a critical insight for our tuning strategy. We are no longer looking at a motor; we are looking at a second-order mathematical plant that we can now manipulate using PID control laws."</a:t>
            </a:r>
            <a:r>
              <a:rPr lang="en-US" dirty="0"/>
              <a:t> </a:t>
            </a:r>
          </a:p>
          <a:p>
            <a:endParaRPr lang="en-US" dirty="0"/>
          </a:p>
          <a:p>
            <a:r>
              <a:rPr lang="en-US" dirty="0"/>
              <a:t>"To conclude our Review 1 on System Modeling, we present the internal architecture of our deterministic plant. We have bypassed high-level libraries to build this model from the ground up in Simulink, explicitly showing the Back-EMF feedback loop that defines the motor's natural behavior. As our analysis shows, this open-loop system is highly susceptible to load disturbances and voltage noise. It possesses a significant steady-state error due to internal damping and a slow rise time dictated by the electromechanical time constants. This analysis confirms that while our plant model is mathematically sound and 'OK' for simulation, it requires an active closed-loop control strategy to achieve the precision required for Master's level robotics."</a:t>
            </a:r>
          </a:p>
        </p:txBody>
      </p:sp>
      <p:sp>
        <p:nvSpPr>
          <p:cNvPr id="4" name="Slide Number Placeholder 3"/>
          <p:cNvSpPr>
            <a:spLocks noGrp="1"/>
          </p:cNvSpPr>
          <p:nvPr>
            <p:ph type="sldNum" sz="quarter" idx="5"/>
          </p:nvPr>
        </p:nvSpPr>
        <p:spPr/>
        <p:txBody>
          <a:bodyPr/>
          <a:lstStyle/>
          <a:p>
            <a:fld id="{B2F3FE92-1802-41EE-B167-409214DF4AFE}" type="slidenum">
              <a:rPr lang="de-DE" smtClean="0"/>
              <a:t>11</a:t>
            </a:fld>
            <a:endParaRPr lang="de-DE"/>
          </a:p>
        </p:txBody>
      </p:sp>
    </p:spTree>
    <p:extLst>
      <p:ext uri="{BB962C8B-B14F-4D97-AF65-F5344CB8AC3E}">
        <p14:creationId xmlns:p14="http://schemas.microsoft.com/office/powerpoint/2010/main" val="11356625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ild + Text">
    <p:spTree>
      <p:nvGrpSpPr>
        <p:cNvPr id="1" name=""/>
        <p:cNvGrpSpPr/>
        <p:nvPr/>
      </p:nvGrpSpPr>
      <p:grpSpPr>
        <a:xfrm>
          <a:off x="0" y="0"/>
          <a:ext cx="0" cy="0"/>
          <a:chOff x="0" y="0"/>
          <a:chExt cx="0" cy="0"/>
        </a:xfrm>
      </p:grpSpPr>
      <p:sp>
        <p:nvSpPr>
          <p:cNvPr id="12" name="Bildplatzhalter 11"/>
          <p:cNvSpPr>
            <a:spLocks noGrp="1"/>
          </p:cNvSpPr>
          <p:nvPr>
            <p:ph type="pic" sz="quarter" idx="11"/>
          </p:nvPr>
        </p:nvSpPr>
        <p:spPr>
          <a:xfrm>
            <a:off x="0" y="0"/>
            <a:ext cx="12192000" cy="3429000"/>
          </a:xfrm>
          <a:noFill/>
        </p:spPr>
        <p:txBody>
          <a:bodyPr>
            <a:normAutofit/>
          </a:bodyPr>
          <a:lstStyle>
            <a:lvl1pPr marL="0" indent="0" algn="ctr">
              <a:buNone/>
              <a:defRPr sz="1600">
                <a:latin typeface="AvantGarde Bk BT" panose="020B0402020202020204" pitchFamily="34" charset="0"/>
              </a:defRPr>
            </a:lvl1pPr>
          </a:lstStyle>
          <a:p>
            <a:endParaRPr lang="de-DE" dirty="0"/>
          </a:p>
        </p:txBody>
      </p:sp>
      <p:sp>
        <p:nvSpPr>
          <p:cNvPr id="10" name="Inhaltsplatzhalter 9"/>
          <p:cNvSpPr>
            <a:spLocks noGrp="1"/>
          </p:cNvSpPr>
          <p:nvPr>
            <p:ph sz="quarter" idx="10" hasCustomPrompt="1"/>
          </p:nvPr>
        </p:nvSpPr>
        <p:spPr>
          <a:xfrm>
            <a:off x="515937" y="549276"/>
            <a:ext cx="11160125" cy="1057334"/>
          </a:xfrm>
        </p:spPr>
        <p:txBody>
          <a:bodyPr/>
          <a:lstStyle>
            <a:lvl1pPr marL="0" indent="0">
              <a:buNone/>
              <a:defRPr baseline="0">
                <a:solidFill>
                  <a:schemeClr val="bg1"/>
                </a:solidFill>
                <a:latin typeface="AvantGarde Bk BT" panose="020B0402020202020204" pitchFamily="34" charset="0"/>
                <a:ea typeface="Verdana" panose="020B0604030504040204" pitchFamily="34" charset="0"/>
              </a:defRPr>
            </a:lvl1pPr>
            <a:lvl2pPr>
              <a:defRPr>
                <a:latin typeface="AvantGarde Bk BT" panose="020B0402020202020204" pitchFamily="34" charset="0"/>
                <a:ea typeface="Verdana" panose="020B0604030504040204" pitchFamily="34" charset="0"/>
              </a:defRPr>
            </a:lvl2pPr>
            <a:lvl3pPr>
              <a:defRPr>
                <a:latin typeface="AvantGarde Bk BT" panose="020B0402020202020204" pitchFamily="34" charset="0"/>
                <a:ea typeface="Verdana" panose="020B0604030504040204" pitchFamily="34" charset="0"/>
              </a:defRPr>
            </a:lvl3pPr>
            <a:lvl4pPr>
              <a:defRPr>
                <a:latin typeface="AvantGarde Bk BT" panose="020B0402020202020204" pitchFamily="34" charset="0"/>
                <a:ea typeface="Verdana" panose="020B0604030504040204" pitchFamily="34" charset="0"/>
              </a:defRPr>
            </a:lvl4pPr>
            <a:lvl5pPr>
              <a:defRPr>
                <a:latin typeface="AvantGarde Bk BT" panose="020B0402020202020204" pitchFamily="34" charset="0"/>
                <a:ea typeface="Verdana" panose="020B0604030504040204" pitchFamily="34" charset="0"/>
              </a:defRPr>
            </a:lvl5pPr>
          </a:lstStyle>
          <a:p>
            <a:pPr lvl="0"/>
            <a:r>
              <a:rPr lang="de-DE" dirty="0"/>
              <a:t>FARBIGE ÜBERSCHRIFT</a:t>
            </a:r>
          </a:p>
          <a:p>
            <a:pPr lvl="0"/>
            <a:r>
              <a:rPr lang="de-DE" dirty="0"/>
              <a:t>NICHT FARBIGE ÜBERSCHRIFT</a:t>
            </a:r>
          </a:p>
        </p:txBody>
      </p:sp>
      <p:pic>
        <p:nvPicPr>
          <p:cNvPr id="3" name="Grafik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030" y="6233527"/>
            <a:ext cx="1535053" cy="149501"/>
          </a:xfrm>
          <a:prstGeom prst="rect">
            <a:avLst/>
          </a:prstGeom>
        </p:spPr>
      </p:pic>
      <p:pic>
        <p:nvPicPr>
          <p:cNvPr id="2" name="Grafik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48814" y="424812"/>
            <a:ext cx="1427248" cy="248925"/>
          </a:xfrm>
          <a:prstGeom prst="rect">
            <a:avLst/>
          </a:prstGeom>
        </p:spPr>
      </p:pic>
      <p:sp>
        <p:nvSpPr>
          <p:cNvPr id="5" name="Textplatzhalter 4"/>
          <p:cNvSpPr>
            <a:spLocks noGrp="1"/>
          </p:cNvSpPr>
          <p:nvPr>
            <p:ph type="body" sz="quarter" idx="12"/>
          </p:nvPr>
        </p:nvSpPr>
        <p:spPr>
          <a:xfrm>
            <a:off x="515938" y="3546475"/>
            <a:ext cx="11160125" cy="2687052"/>
          </a:xfrm>
        </p:spPr>
        <p:txBody>
          <a:bodyPr>
            <a:normAutofit/>
          </a:bodyPr>
          <a:lstStyle>
            <a:lvl1pPr marL="0" indent="0">
              <a:buNone/>
              <a:defRPr sz="1400">
                <a:latin typeface="Verdana" panose="020B0604030504040204" pitchFamily="34" charset="0"/>
                <a:ea typeface="Verdana" panose="020B0604030504040204" pitchFamily="34" charset="0"/>
              </a:defRPr>
            </a:lvl1pPr>
            <a:lvl2pPr>
              <a:defRPr sz="1400">
                <a:latin typeface="Verdana" panose="020B0604030504040204" pitchFamily="34" charset="0"/>
                <a:ea typeface="Verdana" panose="020B0604030504040204" pitchFamily="34" charset="0"/>
              </a:defRPr>
            </a:lvl2pPr>
            <a:lvl3pPr>
              <a:defRPr sz="1400">
                <a:latin typeface="Verdana" panose="020B0604030504040204" pitchFamily="34" charset="0"/>
                <a:ea typeface="Verdana" panose="020B0604030504040204" pitchFamily="34" charset="0"/>
              </a:defRPr>
            </a:lvl3pPr>
            <a:lvl4pPr>
              <a:defRPr sz="1400">
                <a:latin typeface="Verdana" panose="020B0604030504040204" pitchFamily="34" charset="0"/>
                <a:ea typeface="Verdana" panose="020B0604030504040204" pitchFamily="34" charset="0"/>
              </a:defRPr>
            </a:lvl4pPr>
            <a:lvl5pPr>
              <a:defRPr sz="1400">
                <a:latin typeface="Verdana" panose="020B0604030504040204" pitchFamily="34" charset="0"/>
                <a:ea typeface="Verdana" panose="020B0604030504040204" pitchFamily="34" charset="0"/>
              </a:defRPr>
            </a:lvl5pPr>
          </a:lstStyle>
          <a:p>
            <a:pPr lvl="0"/>
            <a:endParaRPr lang="de-DE" dirty="0"/>
          </a:p>
        </p:txBody>
      </p:sp>
      <p:sp>
        <p:nvSpPr>
          <p:cNvPr id="4" name="Datumsplatzhalter 3"/>
          <p:cNvSpPr>
            <a:spLocks noGrp="1"/>
          </p:cNvSpPr>
          <p:nvPr>
            <p:ph type="dt" sz="half" idx="13"/>
          </p:nvPr>
        </p:nvSpPr>
        <p:spPr/>
        <p:txBody>
          <a:bodyPr/>
          <a:lstStyle>
            <a:lvl1pPr>
              <a:defRPr sz="1400" baseline="0"/>
            </a:lvl1pPr>
          </a:lstStyle>
          <a:p>
            <a:fld id="{351A0EE1-B564-4BC7-9F42-429FBA12ED94}" type="datetime1">
              <a:rPr lang="de-DE" smtClean="0"/>
              <a:t>12.05.2026</a:t>
            </a:fld>
            <a:endParaRPr lang="de-DE" dirty="0"/>
          </a:p>
        </p:txBody>
      </p:sp>
      <p:sp>
        <p:nvSpPr>
          <p:cNvPr id="8" name="Foliennummernplatzhalter 7"/>
          <p:cNvSpPr>
            <a:spLocks noGrp="1"/>
          </p:cNvSpPr>
          <p:nvPr>
            <p:ph type="sldNum" sz="quarter" idx="15"/>
          </p:nvPr>
        </p:nvSpPr>
        <p:spPr/>
        <p:txBody>
          <a:bodyPr/>
          <a:lstStyle/>
          <a:p>
            <a:fld id="{05FEBB84-A833-4D9F-8E64-647D4209DE1B}" type="slidenum">
              <a:rPr lang="de-DE" smtClean="0"/>
              <a:t>‹#›</a:t>
            </a:fld>
            <a:endParaRPr lang="de-DE" dirty="0"/>
          </a:p>
        </p:txBody>
      </p:sp>
      <p:pic>
        <p:nvPicPr>
          <p:cNvPr id="11" name="Grafik 10"/>
          <p:cNvPicPr>
            <a:picLocks noChangeAspect="1"/>
          </p:cNvPicPr>
          <p:nvPr userDrawn="1"/>
        </p:nvPicPr>
        <p:blipFill rotWithShape="1">
          <a:blip r:embed="rId4"/>
          <a:srcRect l="8438" t="25833" r="58489" b="42501"/>
          <a:stretch/>
        </p:blipFill>
        <p:spPr>
          <a:xfrm>
            <a:off x="9462211" y="298076"/>
            <a:ext cx="2439921" cy="730055"/>
          </a:xfrm>
          <a:prstGeom prst="rect">
            <a:avLst/>
          </a:prstGeom>
        </p:spPr>
      </p:pic>
    </p:spTree>
    <p:extLst>
      <p:ext uri="{BB962C8B-B14F-4D97-AF65-F5344CB8AC3E}">
        <p14:creationId xmlns:p14="http://schemas.microsoft.com/office/powerpoint/2010/main" val="3786516025"/>
      </p:ext>
    </p:extLst>
  </p:cSld>
  <p:clrMapOvr>
    <a:masterClrMapping/>
  </p:clrMapOvr>
  <p:extLst>
    <p:ext uri="{DCECCB84-F9BA-43D5-87BE-67443E8EF086}">
      <p15:sldGuideLst xmlns:p15="http://schemas.microsoft.com/office/powerpoint/2012/main">
        <p15:guide id="1" pos="3840" userDrawn="1">
          <p15:clr>
            <a:srgbClr val="FBAE40"/>
          </p15:clr>
        </p15:guide>
        <p15:guide id="2" pos="7355" userDrawn="1">
          <p15:clr>
            <a:srgbClr val="FBAE40"/>
          </p15:clr>
        </p15:guide>
        <p15:guide id="3" pos="325" userDrawn="1">
          <p15:clr>
            <a:srgbClr val="FBAE40"/>
          </p15:clr>
        </p15:guide>
        <p15:guide id="4" orient="horz" pos="4156" userDrawn="1">
          <p15:clr>
            <a:srgbClr val="FBAE40"/>
          </p15:clr>
        </p15:guide>
        <p15:guide id="5" orient="horz" pos="3974" userDrawn="1">
          <p15:clr>
            <a:srgbClr val="FBAE40"/>
          </p15:clr>
        </p15:guide>
        <p15:guide id="6" orient="horz" pos="346"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4B24A7-BDE8-4B7F-93C3-66196B90EB91}" type="datetime1">
              <a:rPr lang="de-DE" smtClean="0"/>
              <a:t>12.05.2026</a:t>
            </a:fld>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FEBB84-A833-4D9F-8E64-647D4209DE1B}" type="slidenum">
              <a:rPr lang="de-DE" smtClean="0"/>
              <a:t>‹#›</a:t>
            </a:fld>
            <a:endParaRPr lang="de-DE"/>
          </a:p>
        </p:txBody>
      </p:sp>
    </p:spTree>
    <p:extLst>
      <p:ext uri="{BB962C8B-B14F-4D97-AF65-F5344CB8AC3E}">
        <p14:creationId xmlns:p14="http://schemas.microsoft.com/office/powerpoint/2010/main" val="2758250402"/>
      </p:ext>
    </p:extLst>
  </p:cSld>
  <p:clrMap bg1="lt1" tx1="dk1" bg2="lt2" tx2="dk2" accent1="accent1" accent2="accent2" accent3="accent3" accent4="accent4" accent5="accent5" accent6="accent6" hlink="hlink" folHlink="folHlink"/>
  <p:sldLayoutIdLst>
    <p:sldLayoutId id="2147483649" r:id="rId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3.gif"/><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1.png"/><Relationship Id="rId7" Type="http://schemas.openxmlformats.org/officeDocument/2006/relationships/diagramColors" Target="../diagrams/colors5.xml"/><Relationship Id="rId2" Type="http://schemas.openxmlformats.org/officeDocument/2006/relationships/image" Target="../media/image13.gif"/><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microsoft.com/office/2007/relationships/diagramDrawing" Target="../diagrams/drawing7.xml"/><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diagramColors" Target="../diagrams/colors7.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6.xml"/><Relationship Id="rId11" Type="http://schemas.openxmlformats.org/officeDocument/2006/relationships/diagramQuickStyle" Target="../diagrams/quickStyle7.xml"/><Relationship Id="rId5" Type="http://schemas.openxmlformats.org/officeDocument/2006/relationships/diagramQuickStyle" Target="../diagrams/quickStyle6.xml"/><Relationship Id="rId10" Type="http://schemas.openxmlformats.org/officeDocument/2006/relationships/diagramLayout" Target="../diagrams/layout7.xml"/><Relationship Id="rId4" Type="http://schemas.openxmlformats.org/officeDocument/2006/relationships/diagramLayout" Target="../diagrams/layout6.xml"/><Relationship Id="rId9"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40.png"/><Relationship Id="rId7" Type="http://schemas.openxmlformats.org/officeDocument/2006/relationships/diagramColors" Target="../diagrams/colors8.xml"/><Relationship Id="rId2" Type="http://schemas.openxmlformats.org/officeDocument/2006/relationships/image" Target="../media/image13.gif"/><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figure/a-Schematic-diagram-of-DC-motor-and-accessories-13-b-Simplified-schematic-diagram_fig6_311102892" TargetMode="External"/><Relationship Id="rId2" Type="http://schemas.openxmlformats.org/officeDocument/2006/relationships/hyperlink" Target="https://www.researchgate.net/figure/Schematic-diagram-of-an-armature-controlled-DC-motor_fig1_365605456" TargetMode="External"/><Relationship Id="rId1" Type="http://schemas.openxmlformats.org/officeDocument/2006/relationships/slideLayout" Target="../slideLayouts/slideLayout1.xml"/><Relationship Id="rId6" Type="http://schemas.openxmlformats.org/officeDocument/2006/relationships/image" Target="../media/image13.gif"/><Relationship Id="rId5" Type="http://schemas.openxmlformats.org/officeDocument/2006/relationships/hyperlink" Target="http://www.ripublication.com/" TargetMode="External"/><Relationship Id="rId4" Type="http://schemas.openxmlformats.org/officeDocument/2006/relationships/hyperlink" Target="https://scispace.com/pdf/dc-motor-speed-control-using-pid-controller-1fjix712dv.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rotWithShape="1">
          <a:blip r:embed="rId2" cstate="print">
            <a:extLst>
              <a:ext uri="{28A0092B-C50C-407E-A947-70E740481C1C}">
                <a14:useLocalDpi xmlns:a14="http://schemas.microsoft.com/office/drawing/2010/main" val="0"/>
              </a:ext>
            </a:extLst>
          </a:blip>
          <a:srcRect t="29029" b="-1"/>
          <a:stretch/>
        </p:blipFill>
        <p:spPr>
          <a:xfrm>
            <a:off x="0" y="0"/>
            <a:ext cx="12192000" cy="5768501"/>
          </a:xfrm>
          <a:prstGeom prst="rect">
            <a:avLst/>
          </a:prstGeom>
        </p:spPr>
      </p:pic>
      <p:sp>
        <p:nvSpPr>
          <p:cNvPr id="10" name="Rechteck 9"/>
          <p:cNvSpPr/>
          <p:nvPr/>
        </p:nvSpPr>
        <p:spPr>
          <a:xfrm>
            <a:off x="0" y="0"/>
            <a:ext cx="12192000" cy="5768502"/>
          </a:xfrm>
          <a:prstGeom prst="rect">
            <a:avLst/>
          </a:prstGeom>
          <a:solidFill>
            <a:srgbClr val="1A4273">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hteck 3"/>
          <p:cNvSpPr/>
          <p:nvPr/>
        </p:nvSpPr>
        <p:spPr>
          <a:xfrm>
            <a:off x="515938" y="1648501"/>
            <a:ext cx="5620167" cy="863891"/>
          </a:xfrm>
          <a:custGeom>
            <a:avLst/>
            <a:gdLst>
              <a:gd name="connsiteX0" fmla="*/ 0 w 1856326"/>
              <a:gd name="connsiteY0" fmla="*/ 0 h 399630"/>
              <a:gd name="connsiteX1" fmla="*/ 1856326 w 1856326"/>
              <a:gd name="connsiteY1" fmla="*/ 0 h 399630"/>
              <a:gd name="connsiteX2" fmla="*/ 1856326 w 1856326"/>
              <a:gd name="connsiteY2" fmla="*/ 399630 h 399630"/>
              <a:gd name="connsiteX3" fmla="*/ 0 w 1856326"/>
              <a:gd name="connsiteY3" fmla="*/ 399630 h 399630"/>
              <a:gd name="connsiteX4" fmla="*/ 0 w 1856326"/>
              <a:gd name="connsiteY4" fmla="*/ 0 h 399630"/>
              <a:gd name="connsiteX0" fmla="*/ 69011 w 1925337"/>
              <a:gd name="connsiteY0" fmla="*/ 0 h 434136"/>
              <a:gd name="connsiteX1" fmla="*/ 1925337 w 1925337"/>
              <a:gd name="connsiteY1" fmla="*/ 0 h 434136"/>
              <a:gd name="connsiteX2" fmla="*/ 1925337 w 1925337"/>
              <a:gd name="connsiteY2" fmla="*/ 399630 h 434136"/>
              <a:gd name="connsiteX3" fmla="*/ 0 w 1925337"/>
              <a:gd name="connsiteY3" fmla="*/ 434136 h 434136"/>
              <a:gd name="connsiteX4" fmla="*/ 69011 w 1925337"/>
              <a:gd name="connsiteY4" fmla="*/ 0 h 434136"/>
              <a:gd name="connsiteX0" fmla="*/ 163901 w 1925337"/>
              <a:gd name="connsiteY0" fmla="*/ 0 h 477269"/>
              <a:gd name="connsiteX1" fmla="*/ 1925337 w 1925337"/>
              <a:gd name="connsiteY1" fmla="*/ 43133 h 477269"/>
              <a:gd name="connsiteX2" fmla="*/ 1925337 w 1925337"/>
              <a:gd name="connsiteY2" fmla="*/ 442763 h 477269"/>
              <a:gd name="connsiteX3" fmla="*/ 0 w 1925337"/>
              <a:gd name="connsiteY3" fmla="*/ 477269 h 477269"/>
              <a:gd name="connsiteX4" fmla="*/ 163901 w 1925337"/>
              <a:gd name="connsiteY4" fmla="*/ 0 h 477269"/>
              <a:gd name="connsiteX0" fmla="*/ 163901 w 1925337"/>
              <a:gd name="connsiteY0" fmla="*/ 112143 h 589412"/>
              <a:gd name="connsiteX1" fmla="*/ 1925337 w 1925337"/>
              <a:gd name="connsiteY1" fmla="*/ 0 h 589412"/>
              <a:gd name="connsiteX2" fmla="*/ 1925337 w 1925337"/>
              <a:gd name="connsiteY2" fmla="*/ 554906 h 589412"/>
              <a:gd name="connsiteX3" fmla="*/ 0 w 1925337"/>
              <a:gd name="connsiteY3" fmla="*/ 589412 h 589412"/>
              <a:gd name="connsiteX4" fmla="*/ 163901 w 1925337"/>
              <a:gd name="connsiteY4" fmla="*/ 112143 h 589412"/>
              <a:gd name="connsiteX0" fmla="*/ 163901 w 1925337"/>
              <a:gd name="connsiteY0" fmla="*/ 0 h 477269"/>
              <a:gd name="connsiteX1" fmla="*/ 1804567 w 1925337"/>
              <a:gd name="connsiteY1" fmla="*/ 0 h 477269"/>
              <a:gd name="connsiteX2" fmla="*/ 1925337 w 1925337"/>
              <a:gd name="connsiteY2" fmla="*/ 442763 h 477269"/>
              <a:gd name="connsiteX3" fmla="*/ 0 w 1925337"/>
              <a:gd name="connsiteY3" fmla="*/ 477269 h 477269"/>
              <a:gd name="connsiteX4" fmla="*/ 163901 w 1925337"/>
              <a:gd name="connsiteY4" fmla="*/ 0 h 477269"/>
              <a:gd name="connsiteX0" fmla="*/ 155275 w 1925337"/>
              <a:gd name="connsiteY0" fmla="*/ 69011 h 477269"/>
              <a:gd name="connsiteX1" fmla="*/ 1804567 w 1925337"/>
              <a:gd name="connsiteY1" fmla="*/ 0 h 477269"/>
              <a:gd name="connsiteX2" fmla="*/ 1925337 w 1925337"/>
              <a:gd name="connsiteY2" fmla="*/ 442763 h 477269"/>
              <a:gd name="connsiteX3" fmla="*/ 0 w 1925337"/>
              <a:gd name="connsiteY3" fmla="*/ 477269 h 477269"/>
              <a:gd name="connsiteX4" fmla="*/ 155275 w 1925337"/>
              <a:gd name="connsiteY4" fmla="*/ 69011 h 477269"/>
              <a:gd name="connsiteX0" fmla="*/ 94890 w 1864952"/>
              <a:gd name="connsiteY0" fmla="*/ 69011 h 451390"/>
              <a:gd name="connsiteX1" fmla="*/ 1744182 w 1864952"/>
              <a:gd name="connsiteY1" fmla="*/ 0 h 451390"/>
              <a:gd name="connsiteX2" fmla="*/ 1864952 w 1864952"/>
              <a:gd name="connsiteY2" fmla="*/ 442763 h 451390"/>
              <a:gd name="connsiteX3" fmla="*/ 0 w 1864952"/>
              <a:gd name="connsiteY3" fmla="*/ 451390 h 451390"/>
              <a:gd name="connsiteX4" fmla="*/ 94890 w 1864952"/>
              <a:gd name="connsiteY4" fmla="*/ 69011 h 451390"/>
              <a:gd name="connsiteX0" fmla="*/ 94890 w 1830446"/>
              <a:gd name="connsiteY0" fmla="*/ 69011 h 494522"/>
              <a:gd name="connsiteX1" fmla="*/ 1744182 w 1830446"/>
              <a:gd name="connsiteY1" fmla="*/ 0 h 494522"/>
              <a:gd name="connsiteX2" fmla="*/ 1830446 w 1830446"/>
              <a:gd name="connsiteY2" fmla="*/ 494522 h 494522"/>
              <a:gd name="connsiteX3" fmla="*/ 0 w 1830446"/>
              <a:gd name="connsiteY3" fmla="*/ 451390 h 494522"/>
              <a:gd name="connsiteX4" fmla="*/ 94890 w 1830446"/>
              <a:gd name="connsiteY4" fmla="*/ 69011 h 494522"/>
              <a:gd name="connsiteX0" fmla="*/ 94890 w 2770725"/>
              <a:gd name="connsiteY0" fmla="*/ 8626 h 434137"/>
              <a:gd name="connsiteX1" fmla="*/ 2770725 w 2770725"/>
              <a:gd name="connsiteY1" fmla="*/ 0 h 434137"/>
              <a:gd name="connsiteX2" fmla="*/ 1830446 w 2770725"/>
              <a:gd name="connsiteY2" fmla="*/ 434137 h 434137"/>
              <a:gd name="connsiteX3" fmla="*/ 0 w 2770725"/>
              <a:gd name="connsiteY3" fmla="*/ 391005 h 434137"/>
              <a:gd name="connsiteX4" fmla="*/ 94890 w 2770725"/>
              <a:gd name="connsiteY4" fmla="*/ 8626 h 434137"/>
              <a:gd name="connsiteX0" fmla="*/ 94890 w 2839736"/>
              <a:gd name="connsiteY0" fmla="*/ 8626 h 408257"/>
              <a:gd name="connsiteX1" fmla="*/ 2770725 w 2839736"/>
              <a:gd name="connsiteY1" fmla="*/ 0 h 408257"/>
              <a:gd name="connsiteX2" fmla="*/ 2839736 w 2839736"/>
              <a:gd name="connsiteY2" fmla="*/ 408257 h 408257"/>
              <a:gd name="connsiteX3" fmla="*/ 0 w 2839736"/>
              <a:gd name="connsiteY3" fmla="*/ 391005 h 408257"/>
              <a:gd name="connsiteX4" fmla="*/ 94890 w 2839736"/>
              <a:gd name="connsiteY4" fmla="*/ 8626 h 408257"/>
              <a:gd name="connsiteX0" fmla="*/ 94890 w 2822484"/>
              <a:gd name="connsiteY0" fmla="*/ 8626 h 442763"/>
              <a:gd name="connsiteX1" fmla="*/ 2770725 w 2822484"/>
              <a:gd name="connsiteY1" fmla="*/ 0 h 442763"/>
              <a:gd name="connsiteX2" fmla="*/ 2822484 w 2822484"/>
              <a:gd name="connsiteY2" fmla="*/ 442763 h 442763"/>
              <a:gd name="connsiteX3" fmla="*/ 0 w 2822484"/>
              <a:gd name="connsiteY3" fmla="*/ 391005 h 442763"/>
              <a:gd name="connsiteX4" fmla="*/ 94890 w 2822484"/>
              <a:gd name="connsiteY4" fmla="*/ 8626 h 442763"/>
              <a:gd name="connsiteX0" fmla="*/ 94890 w 2822484"/>
              <a:gd name="connsiteY0" fmla="*/ 8626 h 442763"/>
              <a:gd name="connsiteX1" fmla="*/ 2770725 w 2822484"/>
              <a:gd name="connsiteY1" fmla="*/ 0 h 442763"/>
              <a:gd name="connsiteX2" fmla="*/ 2822484 w 2822484"/>
              <a:gd name="connsiteY2" fmla="*/ 442763 h 442763"/>
              <a:gd name="connsiteX3" fmla="*/ 0 w 2822484"/>
              <a:gd name="connsiteY3" fmla="*/ 382378 h 442763"/>
              <a:gd name="connsiteX4" fmla="*/ 94890 w 2822484"/>
              <a:gd name="connsiteY4" fmla="*/ 8626 h 442763"/>
              <a:gd name="connsiteX0" fmla="*/ 94890 w 2796605"/>
              <a:gd name="connsiteY0" fmla="*/ 8626 h 434137"/>
              <a:gd name="connsiteX1" fmla="*/ 2770725 w 2796605"/>
              <a:gd name="connsiteY1" fmla="*/ 0 h 434137"/>
              <a:gd name="connsiteX2" fmla="*/ 2796605 w 2796605"/>
              <a:gd name="connsiteY2" fmla="*/ 434137 h 434137"/>
              <a:gd name="connsiteX3" fmla="*/ 0 w 2796605"/>
              <a:gd name="connsiteY3" fmla="*/ 382378 h 434137"/>
              <a:gd name="connsiteX4" fmla="*/ 94890 w 2796605"/>
              <a:gd name="connsiteY4" fmla="*/ 8626 h 434137"/>
              <a:gd name="connsiteX0" fmla="*/ 94890 w 2796605"/>
              <a:gd name="connsiteY0" fmla="*/ 0 h 425511"/>
              <a:gd name="connsiteX1" fmla="*/ 2572318 w 2796605"/>
              <a:gd name="connsiteY1" fmla="*/ 0 h 425511"/>
              <a:gd name="connsiteX2" fmla="*/ 2796605 w 2796605"/>
              <a:gd name="connsiteY2" fmla="*/ 425511 h 425511"/>
              <a:gd name="connsiteX3" fmla="*/ 0 w 2796605"/>
              <a:gd name="connsiteY3" fmla="*/ 373752 h 425511"/>
              <a:gd name="connsiteX4" fmla="*/ 94890 w 2796605"/>
              <a:gd name="connsiteY4" fmla="*/ 0 h 425511"/>
              <a:gd name="connsiteX0" fmla="*/ 94890 w 2649956"/>
              <a:gd name="connsiteY0" fmla="*/ 0 h 391005"/>
              <a:gd name="connsiteX1" fmla="*/ 2572318 w 2649956"/>
              <a:gd name="connsiteY1" fmla="*/ 0 h 391005"/>
              <a:gd name="connsiteX2" fmla="*/ 2649956 w 2649956"/>
              <a:gd name="connsiteY2" fmla="*/ 391005 h 391005"/>
              <a:gd name="connsiteX3" fmla="*/ 0 w 2649956"/>
              <a:gd name="connsiteY3" fmla="*/ 373752 h 391005"/>
              <a:gd name="connsiteX4" fmla="*/ 94890 w 2649956"/>
              <a:gd name="connsiteY4" fmla="*/ 0 h 391005"/>
              <a:gd name="connsiteX0" fmla="*/ 43132 w 2598198"/>
              <a:gd name="connsiteY0" fmla="*/ 0 h 408257"/>
              <a:gd name="connsiteX1" fmla="*/ 2520560 w 2598198"/>
              <a:gd name="connsiteY1" fmla="*/ 0 h 408257"/>
              <a:gd name="connsiteX2" fmla="*/ 2598198 w 2598198"/>
              <a:gd name="connsiteY2" fmla="*/ 391005 h 408257"/>
              <a:gd name="connsiteX3" fmla="*/ 0 w 2598198"/>
              <a:gd name="connsiteY3" fmla="*/ 408257 h 408257"/>
              <a:gd name="connsiteX4" fmla="*/ 43132 w 2598198"/>
              <a:gd name="connsiteY4" fmla="*/ 0 h 408257"/>
              <a:gd name="connsiteX0" fmla="*/ 43132 w 2960508"/>
              <a:gd name="connsiteY0" fmla="*/ 8626 h 416883"/>
              <a:gd name="connsiteX1" fmla="*/ 2960508 w 2960508"/>
              <a:gd name="connsiteY1" fmla="*/ 0 h 416883"/>
              <a:gd name="connsiteX2" fmla="*/ 2598198 w 2960508"/>
              <a:gd name="connsiteY2" fmla="*/ 399631 h 416883"/>
              <a:gd name="connsiteX3" fmla="*/ 0 w 2960508"/>
              <a:gd name="connsiteY3" fmla="*/ 416883 h 416883"/>
              <a:gd name="connsiteX4" fmla="*/ 43132 w 2960508"/>
              <a:gd name="connsiteY4" fmla="*/ 8626 h 416883"/>
              <a:gd name="connsiteX0" fmla="*/ 43132 w 2960508"/>
              <a:gd name="connsiteY0" fmla="*/ 8626 h 416883"/>
              <a:gd name="connsiteX1" fmla="*/ 2960508 w 2960508"/>
              <a:gd name="connsiteY1" fmla="*/ 0 h 416883"/>
              <a:gd name="connsiteX2" fmla="*/ 2882870 w 2960508"/>
              <a:gd name="connsiteY2" fmla="*/ 408257 h 416883"/>
              <a:gd name="connsiteX3" fmla="*/ 0 w 2960508"/>
              <a:gd name="connsiteY3" fmla="*/ 416883 h 416883"/>
              <a:gd name="connsiteX4" fmla="*/ 43132 w 2960508"/>
              <a:gd name="connsiteY4" fmla="*/ 8626 h 416883"/>
              <a:gd name="connsiteX0" fmla="*/ 0 w 2995014"/>
              <a:gd name="connsiteY0" fmla="*/ 25879 h 416883"/>
              <a:gd name="connsiteX1" fmla="*/ 2995014 w 2995014"/>
              <a:gd name="connsiteY1" fmla="*/ 0 h 416883"/>
              <a:gd name="connsiteX2" fmla="*/ 2917376 w 2995014"/>
              <a:gd name="connsiteY2" fmla="*/ 408257 h 416883"/>
              <a:gd name="connsiteX3" fmla="*/ 34506 w 2995014"/>
              <a:gd name="connsiteY3" fmla="*/ 416883 h 416883"/>
              <a:gd name="connsiteX4" fmla="*/ 0 w 2995014"/>
              <a:gd name="connsiteY4" fmla="*/ 25879 h 416883"/>
              <a:gd name="connsiteX0" fmla="*/ 0 w 2995014"/>
              <a:gd name="connsiteY0" fmla="*/ 25879 h 416883"/>
              <a:gd name="connsiteX1" fmla="*/ 2995014 w 2995014"/>
              <a:gd name="connsiteY1" fmla="*/ 0 h 416883"/>
              <a:gd name="connsiteX2" fmla="*/ 2917376 w 2995014"/>
              <a:gd name="connsiteY2" fmla="*/ 408257 h 416883"/>
              <a:gd name="connsiteX3" fmla="*/ 60385 w 2995014"/>
              <a:gd name="connsiteY3" fmla="*/ 416883 h 416883"/>
              <a:gd name="connsiteX4" fmla="*/ 0 w 2995014"/>
              <a:gd name="connsiteY4" fmla="*/ 25879 h 416883"/>
              <a:gd name="connsiteX0" fmla="*/ 25879 w 3020893"/>
              <a:gd name="connsiteY0" fmla="*/ 25879 h 434136"/>
              <a:gd name="connsiteX1" fmla="*/ 3020893 w 3020893"/>
              <a:gd name="connsiteY1" fmla="*/ 0 h 434136"/>
              <a:gd name="connsiteX2" fmla="*/ 2943255 w 3020893"/>
              <a:gd name="connsiteY2" fmla="*/ 408257 h 434136"/>
              <a:gd name="connsiteX3" fmla="*/ 0 w 3020893"/>
              <a:gd name="connsiteY3" fmla="*/ 434136 h 434136"/>
              <a:gd name="connsiteX4" fmla="*/ 25879 w 3020893"/>
              <a:gd name="connsiteY4" fmla="*/ 25879 h 434136"/>
              <a:gd name="connsiteX0" fmla="*/ 51759 w 3020893"/>
              <a:gd name="connsiteY0" fmla="*/ 25879 h 434136"/>
              <a:gd name="connsiteX1" fmla="*/ 3020893 w 3020893"/>
              <a:gd name="connsiteY1" fmla="*/ 0 h 434136"/>
              <a:gd name="connsiteX2" fmla="*/ 2943255 w 3020893"/>
              <a:gd name="connsiteY2" fmla="*/ 408257 h 434136"/>
              <a:gd name="connsiteX3" fmla="*/ 0 w 3020893"/>
              <a:gd name="connsiteY3" fmla="*/ 434136 h 434136"/>
              <a:gd name="connsiteX4" fmla="*/ 51759 w 3020893"/>
              <a:gd name="connsiteY4" fmla="*/ 25879 h 434136"/>
              <a:gd name="connsiteX0" fmla="*/ 51759 w 2943255"/>
              <a:gd name="connsiteY0" fmla="*/ 34505 h 442762"/>
              <a:gd name="connsiteX1" fmla="*/ 1554403 w 2943255"/>
              <a:gd name="connsiteY1" fmla="*/ 0 h 442762"/>
              <a:gd name="connsiteX2" fmla="*/ 2943255 w 2943255"/>
              <a:gd name="connsiteY2" fmla="*/ 416883 h 442762"/>
              <a:gd name="connsiteX3" fmla="*/ 0 w 2943255"/>
              <a:gd name="connsiteY3" fmla="*/ 442762 h 442762"/>
              <a:gd name="connsiteX4" fmla="*/ 51759 w 2943255"/>
              <a:gd name="connsiteY4" fmla="*/ 34505 h 442762"/>
              <a:gd name="connsiteX0" fmla="*/ 51759 w 1571655"/>
              <a:gd name="connsiteY0" fmla="*/ 34505 h 442762"/>
              <a:gd name="connsiteX1" fmla="*/ 1554403 w 1571655"/>
              <a:gd name="connsiteY1" fmla="*/ 0 h 442762"/>
              <a:gd name="connsiteX2" fmla="*/ 1571655 w 1571655"/>
              <a:gd name="connsiteY2" fmla="*/ 425509 h 442762"/>
              <a:gd name="connsiteX3" fmla="*/ 0 w 1571655"/>
              <a:gd name="connsiteY3" fmla="*/ 442762 h 442762"/>
              <a:gd name="connsiteX4" fmla="*/ 51759 w 1571655"/>
              <a:gd name="connsiteY4" fmla="*/ 34505 h 442762"/>
              <a:gd name="connsiteX0" fmla="*/ 0 w 1519896"/>
              <a:gd name="connsiteY0" fmla="*/ 34505 h 434136"/>
              <a:gd name="connsiteX1" fmla="*/ 1502644 w 1519896"/>
              <a:gd name="connsiteY1" fmla="*/ 0 h 434136"/>
              <a:gd name="connsiteX2" fmla="*/ 1519896 w 1519896"/>
              <a:gd name="connsiteY2" fmla="*/ 425509 h 434136"/>
              <a:gd name="connsiteX3" fmla="*/ 34505 w 1519896"/>
              <a:gd name="connsiteY3" fmla="*/ 434136 h 434136"/>
              <a:gd name="connsiteX4" fmla="*/ 0 w 1519896"/>
              <a:gd name="connsiteY4" fmla="*/ 34505 h 434136"/>
              <a:gd name="connsiteX0" fmla="*/ 0 w 3288312"/>
              <a:gd name="connsiteY0" fmla="*/ 60385 h 460016"/>
              <a:gd name="connsiteX1" fmla="*/ 3288312 w 3288312"/>
              <a:gd name="connsiteY1" fmla="*/ 0 h 460016"/>
              <a:gd name="connsiteX2" fmla="*/ 1519896 w 3288312"/>
              <a:gd name="connsiteY2" fmla="*/ 451389 h 460016"/>
              <a:gd name="connsiteX3" fmla="*/ 34505 w 3288312"/>
              <a:gd name="connsiteY3" fmla="*/ 460016 h 460016"/>
              <a:gd name="connsiteX4" fmla="*/ 0 w 3288312"/>
              <a:gd name="connsiteY4" fmla="*/ 60385 h 460016"/>
              <a:gd name="connsiteX0" fmla="*/ 0 w 3322817"/>
              <a:gd name="connsiteY0" fmla="*/ 60385 h 460016"/>
              <a:gd name="connsiteX1" fmla="*/ 3288312 w 3322817"/>
              <a:gd name="connsiteY1" fmla="*/ 0 h 460016"/>
              <a:gd name="connsiteX2" fmla="*/ 3322817 w 3322817"/>
              <a:gd name="connsiteY2" fmla="*/ 434136 h 460016"/>
              <a:gd name="connsiteX3" fmla="*/ 34505 w 3322817"/>
              <a:gd name="connsiteY3" fmla="*/ 460016 h 460016"/>
              <a:gd name="connsiteX4" fmla="*/ 0 w 3322817"/>
              <a:gd name="connsiteY4" fmla="*/ 60385 h 460016"/>
              <a:gd name="connsiteX0" fmla="*/ 0 w 3322817"/>
              <a:gd name="connsiteY0" fmla="*/ 0 h 520401"/>
              <a:gd name="connsiteX1" fmla="*/ 3288312 w 3322817"/>
              <a:gd name="connsiteY1" fmla="*/ 60385 h 520401"/>
              <a:gd name="connsiteX2" fmla="*/ 3322817 w 3322817"/>
              <a:gd name="connsiteY2" fmla="*/ 494521 h 520401"/>
              <a:gd name="connsiteX3" fmla="*/ 34505 w 3322817"/>
              <a:gd name="connsiteY3" fmla="*/ 520401 h 520401"/>
              <a:gd name="connsiteX4" fmla="*/ 0 w 3322817"/>
              <a:gd name="connsiteY4" fmla="*/ 0 h 520401"/>
              <a:gd name="connsiteX0" fmla="*/ 0 w 3331444"/>
              <a:gd name="connsiteY0" fmla="*/ 0 h 477269"/>
              <a:gd name="connsiteX1" fmla="*/ 3296939 w 3331444"/>
              <a:gd name="connsiteY1" fmla="*/ 17253 h 477269"/>
              <a:gd name="connsiteX2" fmla="*/ 3331444 w 3331444"/>
              <a:gd name="connsiteY2" fmla="*/ 451389 h 477269"/>
              <a:gd name="connsiteX3" fmla="*/ 43132 w 3331444"/>
              <a:gd name="connsiteY3" fmla="*/ 477269 h 477269"/>
              <a:gd name="connsiteX4" fmla="*/ 0 w 3331444"/>
              <a:gd name="connsiteY4" fmla="*/ 0 h 477269"/>
              <a:gd name="connsiteX0" fmla="*/ 0 w 3331444"/>
              <a:gd name="connsiteY0" fmla="*/ 0 h 477269"/>
              <a:gd name="connsiteX1" fmla="*/ 3296939 w 3331444"/>
              <a:gd name="connsiteY1" fmla="*/ 60386 h 477269"/>
              <a:gd name="connsiteX2" fmla="*/ 3331444 w 3331444"/>
              <a:gd name="connsiteY2" fmla="*/ 451389 h 477269"/>
              <a:gd name="connsiteX3" fmla="*/ 43132 w 3331444"/>
              <a:gd name="connsiteY3" fmla="*/ 477269 h 477269"/>
              <a:gd name="connsiteX4" fmla="*/ 0 w 3331444"/>
              <a:gd name="connsiteY4" fmla="*/ 0 h 477269"/>
              <a:gd name="connsiteX0" fmla="*/ 0 w 3314191"/>
              <a:gd name="connsiteY0" fmla="*/ 0 h 477269"/>
              <a:gd name="connsiteX1" fmla="*/ 3296939 w 3314191"/>
              <a:gd name="connsiteY1" fmla="*/ 60386 h 477269"/>
              <a:gd name="connsiteX2" fmla="*/ 3314191 w 3314191"/>
              <a:gd name="connsiteY2" fmla="*/ 416883 h 477269"/>
              <a:gd name="connsiteX3" fmla="*/ 43132 w 3314191"/>
              <a:gd name="connsiteY3" fmla="*/ 477269 h 477269"/>
              <a:gd name="connsiteX4" fmla="*/ 0 w 3314191"/>
              <a:gd name="connsiteY4" fmla="*/ 0 h 477269"/>
              <a:gd name="connsiteX0" fmla="*/ 0 w 3314191"/>
              <a:gd name="connsiteY0" fmla="*/ 0 h 442763"/>
              <a:gd name="connsiteX1" fmla="*/ 3296939 w 3314191"/>
              <a:gd name="connsiteY1" fmla="*/ 25880 h 442763"/>
              <a:gd name="connsiteX2" fmla="*/ 3314191 w 3314191"/>
              <a:gd name="connsiteY2" fmla="*/ 382377 h 442763"/>
              <a:gd name="connsiteX3" fmla="*/ 43132 w 3314191"/>
              <a:gd name="connsiteY3" fmla="*/ 442763 h 442763"/>
              <a:gd name="connsiteX4" fmla="*/ 0 w 3314191"/>
              <a:gd name="connsiteY4" fmla="*/ 0 h 442763"/>
              <a:gd name="connsiteX0" fmla="*/ 0 w 3296939"/>
              <a:gd name="connsiteY0" fmla="*/ 0 h 443337"/>
              <a:gd name="connsiteX1" fmla="*/ 3296939 w 3296939"/>
              <a:gd name="connsiteY1" fmla="*/ 25880 h 443337"/>
              <a:gd name="connsiteX2" fmla="*/ 2469460 w 3296939"/>
              <a:gd name="connsiteY2" fmla="*/ 443337 h 443337"/>
              <a:gd name="connsiteX3" fmla="*/ 43132 w 3296939"/>
              <a:gd name="connsiteY3" fmla="*/ 442763 h 443337"/>
              <a:gd name="connsiteX4" fmla="*/ 0 w 3296939"/>
              <a:gd name="connsiteY4" fmla="*/ 0 h 443337"/>
              <a:gd name="connsiteX0" fmla="*/ 0 w 2469625"/>
              <a:gd name="connsiteY0" fmla="*/ 17663 h 461000"/>
              <a:gd name="connsiteX1" fmla="*/ 2469625 w 2469625"/>
              <a:gd name="connsiteY1" fmla="*/ 0 h 461000"/>
              <a:gd name="connsiteX2" fmla="*/ 2469460 w 2469625"/>
              <a:gd name="connsiteY2" fmla="*/ 461000 h 461000"/>
              <a:gd name="connsiteX3" fmla="*/ 43132 w 2469625"/>
              <a:gd name="connsiteY3" fmla="*/ 460426 h 461000"/>
              <a:gd name="connsiteX4" fmla="*/ 0 w 2469625"/>
              <a:gd name="connsiteY4" fmla="*/ 17663 h 461000"/>
              <a:gd name="connsiteX0" fmla="*/ 0 w 2469460"/>
              <a:gd name="connsiteY0" fmla="*/ 61206 h 504543"/>
              <a:gd name="connsiteX1" fmla="*/ 2426083 w 2469460"/>
              <a:gd name="connsiteY1" fmla="*/ 0 h 504543"/>
              <a:gd name="connsiteX2" fmla="*/ 2469460 w 2469460"/>
              <a:gd name="connsiteY2" fmla="*/ 504543 h 504543"/>
              <a:gd name="connsiteX3" fmla="*/ 43132 w 2469460"/>
              <a:gd name="connsiteY3" fmla="*/ 503969 h 504543"/>
              <a:gd name="connsiteX4" fmla="*/ 0 w 2469460"/>
              <a:gd name="connsiteY4" fmla="*/ 61206 h 504543"/>
              <a:gd name="connsiteX0" fmla="*/ 0 w 3351634"/>
              <a:gd name="connsiteY0" fmla="*/ 61206 h 504543"/>
              <a:gd name="connsiteX1" fmla="*/ 3351634 w 3351634"/>
              <a:gd name="connsiteY1" fmla="*/ 0 h 504543"/>
              <a:gd name="connsiteX2" fmla="*/ 2469460 w 3351634"/>
              <a:gd name="connsiteY2" fmla="*/ 504543 h 504543"/>
              <a:gd name="connsiteX3" fmla="*/ 43132 w 3351634"/>
              <a:gd name="connsiteY3" fmla="*/ 503969 h 504543"/>
              <a:gd name="connsiteX4" fmla="*/ 0 w 3351634"/>
              <a:gd name="connsiteY4" fmla="*/ 61206 h 504543"/>
              <a:gd name="connsiteX0" fmla="*/ 0 w 3351634"/>
              <a:gd name="connsiteY0" fmla="*/ 61206 h 503969"/>
              <a:gd name="connsiteX1" fmla="*/ 3351634 w 3351634"/>
              <a:gd name="connsiteY1" fmla="*/ 0 h 503969"/>
              <a:gd name="connsiteX2" fmla="*/ 3127382 w 3351634"/>
              <a:gd name="connsiteY2" fmla="*/ 459938 h 503969"/>
              <a:gd name="connsiteX3" fmla="*/ 43132 w 3351634"/>
              <a:gd name="connsiteY3" fmla="*/ 503969 h 503969"/>
              <a:gd name="connsiteX4" fmla="*/ 0 w 3351634"/>
              <a:gd name="connsiteY4" fmla="*/ 61206 h 503969"/>
              <a:gd name="connsiteX0" fmla="*/ 0 w 3487306"/>
              <a:gd name="connsiteY0" fmla="*/ 61206 h 503969"/>
              <a:gd name="connsiteX1" fmla="*/ 3351634 w 3487306"/>
              <a:gd name="connsiteY1" fmla="*/ 0 h 503969"/>
              <a:gd name="connsiteX2" fmla="*/ 3487306 w 3487306"/>
              <a:gd name="connsiteY2" fmla="*/ 450210 h 503969"/>
              <a:gd name="connsiteX3" fmla="*/ 43132 w 3487306"/>
              <a:gd name="connsiteY3" fmla="*/ 503969 h 503969"/>
              <a:gd name="connsiteX4" fmla="*/ 0 w 3487306"/>
              <a:gd name="connsiteY4" fmla="*/ 61206 h 503969"/>
              <a:gd name="connsiteX0" fmla="*/ 0 w 3487306"/>
              <a:gd name="connsiteY0" fmla="*/ 61206 h 503969"/>
              <a:gd name="connsiteX1" fmla="*/ 3448911 w 3487306"/>
              <a:gd name="connsiteY1" fmla="*/ 0 h 503969"/>
              <a:gd name="connsiteX2" fmla="*/ 3487306 w 3487306"/>
              <a:gd name="connsiteY2" fmla="*/ 450210 h 503969"/>
              <a:gd name="connsiteX3" fmla="*/ 43132 w 3487306"/>
              <a:gd name="connsiteY3" fmla="*/ 503969 h 503969"/>
              <a:gd name="connsiteX4" fmla="*/ 0 w 3487306"/>
              <a:gd name="connsiteY4" fmla="*/ 61206 h 503969"/>
              <a:gd name="connsiteX0" fmla="*/ 0 w 3477578"/>
              <a:gd name="connsiteY0" fmla="*/ 61206 h 503969"/>
              <a:gd name="connsiteX1" fmla="*/ 3448911 w 3477578"/>
              <a:gd name="connsiteY1" fmla="*/ 0 h 503969"/>
              <a:gd name="connsiteX2" fmla="*/ 3477578 w 3477578"/>
              <a:gd name="connsiteY2" fmla="*/ 479393 h 503969"/>
              <a:gd name="connsiteX3" fmla="*/ 43132 w 3477578"/>
              <a:gd name="connsiteY3" fmla="*/ 503969 h 503969"/>
              <a:gd name="connsiteX4" fmla="*/ 0 w 3477578"/>
              <a:gd name="connsiteY4" fmla="*/ 61206 h 503969"/>
              <a:gd name="connsiteX0" fmla="*/ 0 w 3448911"/>
              <a:gd name="connsiteY0" fmla="*/ 61206 h 503969"/>
              <a:gd name="connsiteX1" fmla="*/ 3448911 w 3448911"/>
              <a:gd name="connsiteY1" fmla="*/ 0 h 503969"/>
              <a:gd name="connsiteX2" fmla="*/ 2086523 w 3448911"/>
              <a:gd name="connsiteY2" fmla="*/ 489120 h 503969"/>
              <a:gd name="connsiteX3" fmla="*/ 43132 w 3448911"/>
              <a:gd name="connsiteY3" fmla="*/ 503969 h 503969"/>
              <a:gd name="connsiteX4" fmla="*/ 0 w 3448911"/>
              <a:gd name="connsiteY4" fmla="*/ 61206 h 503969"/>
              <a:gd name="connsiteX0" fmla="*/ 0 w 2125950"/>
              <a:gd name="connsiteY0" fmla="*/ 32023 h 474786"/>
              <a:gd name="connsiteX1" fmla="*/ 2125950 w 2125950"/>
              <a:gd name="connsiteY1" fmla="*/ 0 h 474786"/>
              <a:gd name="connsiteX2" fmla="*/ 2086523 w 2125950"/>
              <a:gd name="connsiteY2" fmla="*/ 459937 h 474786"/>
              <a:gd name="connsiteX3" fmla="*/ 43132 w 2125950"/>
              <a:gd name="connsiteY3" fmla="*/ 474786 h 474786"/>
              <a:gd name="connsiteX4" fmla="*/ 0 w 2125950"/>
              <a:gd name="connsiteY4" fmla="*/ 32023 h 474786"/>
              <a:gd name="connsiteX0" fmla="*/ 0 w 2125950"/>
              <a:gd name="connsiteY0" fmla="*/ 0 h 510857"/>
              <a:gd name="connsiteX1" fmla="*/ 2125950 w 2125950"/>
              <a:gd name="connsiteY1" fmla="*/ 36071 h 510857"/>
              <a:gd name="connsiteX2" fmla="*/ 2086523 w 2125950"/>
              <a:gd name="connsiteY2" fmla="*/ 496008 h 510857"/>
              <a:gd name="connsiteX3" fmla="*/ 43132 w 2125950"/>
              <a:gd name="connsiteY3" fmla="*/ 510857 h 510857"/>
              <a:gd name="connsiteX4" fmla="*/ 0 w 2125950"/>
              <a:gd name="connsiteY4" fmla="*/ 0 h 510857"/>
              <a:gd name="connsiteX0" fmla="*/ 63873 w 2189823"/>
              <a:gd name="connsiteY0" fmla="*/ 0 h 501130"/>
              <a:gd name="connsiteX1" fmla="*/ 2189823 w 2189823"/>
              <a:gd name="connsiteY1" fmla="*/ 36071 h 501130"/>
              <a:gd name="connsiteX2" fmla="*/ 2150396 w 2189823"/>
              <a:gd name="connsiteY2" fmla="*/ 496008 h 501130"/>
              <a:gd name="connsiteX3" fmla="*/ 0 w 2189823"/>
              <a:gd name="connsiteY3" fmla="*/ 501130 h 501130"/>
              <a:gd name="connsiteX4" fmla="*/ 63873 w 2189823"/>
              <a:gd name="connsiteY4" fmla="*/ 0 h 501130"/>
              <a:gd name="connsiteX0" fmla="*/ 63873 w 2150396"/>
              <a:gd name="connsiteY0" fmla="*/ 0 h 501130"/>
              <a:gd name="connsiteX1" fmla="*/ 2102274 w 2150396"/>
              <a:gd name="connsiteY1" fmla="*/ 94437 h 501130"/>
              <a:gd name="connsiteX2" fmla="*/ 2150396 w 2150396"/>
              <a:gd name="connsiteY2" fmla="*/ 496008 h 501130"/>
              <a:gd name="connsiteX3" fmla="*/ 0 w 2150396"/>
              <a:gd name="connsiteY3" fmla="*/ 501130 h 501130"/>
              <a:gd name="connsiteX4" fmla="*/ 63873 w 2150396"/>
              <a:gd name="connsiteY4" fmla="*/ 0 h 501130"/>
              <a:gd name="connsiteX0" fmla="*/ 63873 w 3833798"/>
              <a:gd name="connsiteY0" fmla="*/ 0 h 501130"/>
              <a:gd name="connsiteX1" fmla="*/ 3833798 w 3833798"/>
              <a:gd name="connsiteY1" fmla="*/ 6888 h 501130"/>
              <a:gd name="connsiteX2" fmla="*/ 2150396 w 3833798"/>
              <a:gd name="connsiteY2" fmla="*/ 496008 h 501130"/>
              <a:gd name="connsiteX3" fmla="*/ 0 w 3833798"/>
              <a:gd name="connsiteY3" fmla="*/ 501130 h 501130"/>
              <a:gd name="connsiteX4" fmla="*/ 63873 w 3833798"/>
              <a:gd name="connsiteY4" fmla="*/ 0 h 501130"/>
              <a:gd name="connsiteX0" fmla="*/ 63873 w 3833798"/>
              <a:gd name="connsiteY0" fmla="*/ 0 h 544647"/>
              <a:gd name="connsiteX1" fmla="*/ 3833798 w 3833798"/>
              <a:gd name="connsiteY1" fmla="*/ 6888 h 544647"/>
              <a:gd name="connsiteX2" fmla="*/ 3609545 w 3833798"/>
              <a:gd name="connsiteY2" fmla="*/ 544647 h 544647"/>
              <a:gd name="connsiteX3" fmla="*/ 0 w 3833798"/>
              <a:gd name="connsiteY3" fmla="*/ 501130 h 544647"/>
              <a:gd name="connsiteX4" fmla="*/ 63873 w 3833798"/>
              <a:gd name="connsiteY4" fmla="*/ 0 h 544647"/>
              <a:gd name="connsiteX0" fmla="*/ 24962 w 3794887"/>
              <a:gd name="connsiteY0" fmla="*/ 0 h 544647"/>
              <a:gd name="connsiteX1" fmla="*/ 3794887 w 3794887"/>
              <a:gd name="connsiteY1" fmla="*/ 6888 h 544647"/>
              <a:gd name="connsiteX2" fmla="*/ 3570634 w 3794887"/>
              <a:gd name="connsiteY2" fmla="*/ 544647 h 544647"/>
              <a:gd name="connsiteX3" fmla="*/ 0 w 3794887"/>
              <a:gd name="connsiteY3" fmla="*/ 471947 h 544647"/>
              <a:gd name="connsiteX4" fmla="*/ 24962 w 3794887"/>
              <a:gd name="connsiteY4" fmla="*/ 0 h 544647"/>
              <a:gd name="connsiteX0" fmla="*/ 34689 w 3794887"/>
              <a:gd name="connsiteY0" fmla="*/ 32023 h 537759"/>
              <a:gd name="connsiteX1" fmla="*/ 3794887 w 3794887"/>
              <a:gd name="connsiteY1" fmla="*/ 0 h 537759"/>
              <a:gd name="connsiteX2" fmla="*/ 3570634 w 3794887"/>
              <a:gd name="connsiteY2" fmla="*/ 537759 h 537759"/>
              <a:gd name="connsiteX3" fmla="*/ 0 w 3794887"/>
              <a:gd name="connsiteY3" fmla="*/ 465059 h 537759"/>
              <a:gd name="connsiteX4" fmla="*/ 34689 w 3794887"/>
              <a:gd name="connsiteY4" fmla="*/ 32023 h 537759"/>
              <a:gd name="connsiteX0" fmla="*/ 34689 w 3726793"/>
              <a:gd name="connsiteY0" fmla="*/ 32023 h 537759"/>
              <a:gd name="connsiteX1" fmla="*/ 3726793 w 3726793"/>
              <a:gd name="connsiteY1" fmla="*/ 0 h 537759"/>
              <a:gd name="connsiteX2" fmla="*/ 3570634 w 3726793"/>
              <a:gd name="connsiteY2" fmla="*/ 537759 h 537759"/>
              <a:gd name="connsiteX3" fmla="*/ 0 w 3726793"/>
              <a:gd name="connsiteY3" fmla="*/ 465059 h 537759"/>
              <a:gd name="connsiteX4" fmla="*/ 34689 w 3726793"/>
              <a:gd name="connsiteY4" fmla="*/ 32023 h 537759"/>
              <a:gd name="connsiteX0" fmla="*/ 34689 w 3852736"/>
              <a:gd name="connsiteY0" fmla="*/ 32023 h 528031"/>
              <a:gd name="connsiteX1" fmla="*/ 3726793 w 3852736"/>
              <a:gd name="connsiteY1" fmla="*/ 0 h 528031"/>
              <a:gd name="connsiteX2" fmla="*/ 3852736 w 3852736"/>
              <a:gd name="connsiteY2" fmla="*/ 528031 h 528031"/>
              <a:gd name="connsiteX3" fmla="*/ 0 w 3852736"/>
              <a:gd name="connsiteY3" fmla="*/ 465059 h 528031"/>
              <a:gd name="connsiteX4" fmla="*/ 34689 w 3852736"/>
              <a:gd name="connsiteY4" fmla="*/ 32023 h 528031"/>
              <a:gd name="connsiteX0" fmla="*/ 34689 w 3852736"/>
              <a:gd name="connsiteY0" fmla="*/ 12567 h 508575"/>
              <a:gd name="connsiteX1" fmla="*/ 3833797 w 3852736"/>
              <a:gd name="connsiteY1" fmla="*/ 0 h 508575"/>
              <a:gd name="connsiteX2" fmla="*/ 3852736 w 3852736"/>
              <a:gd name="connsiteY2" fmla="*/ 508575 h 508575"/>
              <a:gd name="connsiteX3" fmla="*/ 0 w 3852736"/>
              <a:gd name="connsiteY3" fmla="*/ 445603 h 508575"/>
              <a:gd name="connsiteX4" fmla="*/ 34689 w 3852736"/>
              <a:gd name="connsiteY4" fmla="*/ 12567 h 508575"/>
              <a:gd name="connsiteX0" fmla="*/ 34689 w 3833797"/>
              <a:gd name="connsiteY0" fmla="*/ 12567 h 445603"/>
              <a:gd name="connsiteX1" fmla="*/ 3833797 w 3833797"/>
              <a:gd name="connsiteY1" fmla="*/ 0 h 445603"/>
              <a:gd name="connsiteX2" fmla="*/ 2199033 w 3833797"/>
              <a:gd name="connsiteY2" fmla="*/ 430754 h 445603"/>
              <a:gd name="connsiteX3" fmla="*/ 0 w 3833797"/>
              <a:gd name="connsiteY3" fmla="*/ 445603 h 445603"/>
              <a:gd name="connsiteX4" fmla="*/ 34689 w 3833797"/>
              <a:gd name="connsiteY4" fmla="*/ 12567 h 445603"/>
              <a:gd name="connsiteX0" fmla="*/ 34689 w 2199550"/>
              <a:gd name="connsiteY0" fmla="*/ 12567 h 445603"/>
              <a:gd name="connsiteX1" fmla="*/ 2199550 w 2199550"/>
              <a:gd name="connsiteY1" fmla="*/ 0 h 445603"/>
              <a:gd name="connsiteX2" fmla="*/ 2199033 w 2199550"/>
              <a:gd name="connsiteY2" fmla="*/ 430754 h 445603"/>
              <a:gd name="connsiteX3" fmla="*/ 0 w 2199550"/>
              <a:gd name="connsiteY3" fmla="*/ 445603 h 445603"/>
              <a:gd name="connsiteX4" fmla="*/ 34689 w 2199550"/>
              <a:gd name="connsiteY4" fmla="*/ 12567 h 445603"/>
              <a:gd name="connsiteX0" fmla="*/ 34689 w 2286582"/>
              <a:gd name="connsiteY0" fmla="*/ 12567 h 445603"/>
              <a:gd name="connsiteX1" fmla="*/ 2199550 w 2286582"/>
              <a:gd name="connsiteY1" fmla="*/ 0 h 445603"/>
              <a:gd name="connsiteX2" fmla="*/ 2286582 w 2286582"/>
              <a:gd name="connsiteY2" fmla="*/ 440481 h 445603"/>
              <a:gd name="connsiteX3" fmla="*/ 0 w 2286582"/>
              <a:gd name="connsiteY3" fmla="*/ 445603 h 445603"/>
              <a:gd name="connsiteX4" fmla="*/ 34689 w 2286582"/>
              <a:gd name="connsiteY4" fmla="*/ 12567 h 445603"/>
              <a:gd name="connsiteX0" fmla="*/ 0 w 2251893"/>
              <a:gd name="connsiteY0" fmla="*/ 12567 h 440481"/>
              <a:gd name="connsiteX1" fmla="*/ 2164861 w 2251893"/>
              <a:gd name="connsiteY1" fmla="*/ 0 h 440481"/>
              <a:gd name="connsiteX2" fmla="*/ 2251893 w 2251893"/>
              <a:gd name="connsiteY2" fmla="*/ 440481 h 440481"/>
              <a:gd name="connsiteX3" fmla="*/ 4222 w 2251893"/>
              <a:gd name="connsiteY3" fmla="*/ 435875 h 440481"/>
              <a:gd name="connsiteX4" fmla="*/ 0 w 2251893"/>
              <a:gd name="connsiteY4" fmla="*/ 12567 h 440481"/>
              <a:gd name="connsiteX0" fmla="*/ 0 w 2251893"/>
              <a:gd name="connsiteY0" fmla="*/ 12567 h 440481"/>
              <a:gd name="connsiteX1" fmla="*/ 2164861 w 2251893"/>
              <a:gd name="connsiteY1" fmla="*/ 0 h 440481"/>
              <a:gd name="connsiteX2" fmla="*/ 2251893 w 2251893"/>
              <a:gd name="connsiteY2" fmla="*/ 440481 h 440481"/>
              <a:gd name="connsiteX3" fmla="*/ 4222 w 2251893"/>
              <a:gd name="connsiteY3" fmla="*/ 416419 h 440481"/>
              <a:gd name="connsiteX4" fmla="*/ 0 w 2251893"/>
              <a:gd name="connsiteY4" fmla="*/ 12567 h 440481"/>
              <a:gd name="connsiteX0" fmla="*/ 0 w 2251893"/>
              <a:gd name="connsiteY0" fmla="*/ 12567 h 824980"/>
              <a:gd name="connsiteX1" fmla="*/ 2164861 w 2251893"/>
              <a:gd name="connsiteY1" fmla="*/ 0 h 824980"/>
              <a:gd name="connsiteX2" fmla="*/ 2251893 w 2251893"/>
              <a:gd name="connsiteY2" fmla="*/ 440481 h 824980"/>
              <a:gd name="connsiteX3" fmla="*/ 52860 w 2251893"/>
              <a:gd name="connsiteY3" fmla="*/ 824980 h 824980"/>
              <a:gd name="connsiteX4" fmla="*/ 0 w 2251893"/>
              <a:gd name="connsiteY4" fmla="*/ 12567 h 824980"/>
              <a:gd name="connsiteX0" fmla="*/ 0 w 4557349"/>
              <a:gd name="connsiteY0" fmla="*/ 12567 h 824980"/>
              <a:gd name="connsiteX1" fmla="*/ 2164861 w 4557349"/>
              <a:gd name="connsiteY1" fmla="*/ 0 h 824980"/>
              <a:gd name="connsiteX2" fmla="*/ 4557349 w 4557349"/>
              <a:gd name="connsiteY2" fmla="*/ 790677 h 824980"/>
              <a:gd name="connsiteX3" fmla="*/ 52860 w 4557349"/>
              <a:gd name="connsiteY3" fmla="*/ 824980 h 824980"/>
              <a:gd name="connsiteX4" fmla="*/ 0 w 4557349"/>
              <a:gd name="connsiteY4" fmla="*/ 12567 h 824980"/>
              <a:gd name="connsiteX0" fmla="*/ 0 w 4557349"/>
              <a:gd name="connsiteY0" fmla="*/ 0 h 812413"/>
              <a:gd name="connsiteX1" fmla="*/ 4518955 w 4557349"/>
              <a:gd name="connsiteY1" fmla="*/ 36071 h 812413"/>
              <a:gd name="connsiteX2" fmla="*/ 4557349 w 4557349"/>
              <a:gd name="connsiteY2" fmla="*/ 778110 h 812413"/>
              <a:gd name="connsiteX3" fmla="*/ 52860 w 4557349"/>
              <a:gd name="connsiteY3" fmla="*/ 812413 h 812413"/>
              <a:gd name="connsiteX4" fmla="*/ 0 w 4557349"/>
              <a:gd name="connsiteY4" fmla="*/ 0 h 812413"/>
              <a:gd name="connsiteX0" fmla="*/ 0 w 4557349"/>
              <a:gd name="connsiteY0" fmla="*/ 22295 h 834708"/>
              <a:gd name="connsiteX1" fmla="*/ 4480044 w 4557349"/>
              <a:gd name="connsiteY1" fmla="*/ 0 h 834708"/>
              <a:gd name="connsiteX2" fmla="*/ 4557349 w 4557349"/>
              <a:gd name="connsiteY2" fmla="*/ 800405 h 834708"/>
              <a:gd name="connsiteX3" fmla="*/ 52860 w 4557349"/>
              <a:gd name="connsiteY3" fmla="*/ 834708 h 834708"/>
              <a:gd name="connsiteX4" fmla="*/ 0 w 4557349"/>
              <a:gd name="connsiteY4" fmla="*/ 22295 h 834708"/>
              <a:gd name="connsiteX0" fmla="*/ 0 w 5014549"/>
              <a:gd name="connsiteY0" fmla="*/ 22295 h 834708"/>
              <a:gd name="connsiteX1" fmla="*/ 4480044 w 5014549"/>
              <a:gd name="connsiteY1" fmla="*/ 0 h 834708"/>
              <a:gd name="connsiteX2" fmla="*/ 5014549 w 5014549"/>
              <a:gd name="connsiteY2" fmla="*/ 819860 h 834708"/>
              <a:gd name="connsiteX3" fmla="*/ 52860 w 5014549"/>
              <a:gd name="connsiteY3" fmla="*/ 834708 h 834708"/>
              <a:gd name="connsiteX4" fmla="*/ 0 w 5014549"/>
              <a:gd name="connsiteY4" fmla="*/ 22295 h 834708"/>
              <a:gd name="connsiteX0" fmla="*/ 0 w 5014549"/>
              <a:gd name="connsiteY0" fmla="*/ 51478 h 863891"/>
              <a:gd name="connsiteX1" fmla="*/ 4908061 w 5014549"/>
              <a:gd name="connsiteY1" fmla="*/ 0 h 863891"/>
              <a:gd name="connsiteX2" fmla="*/ 5014549 w 5014549"/>
              <a:gd name="connsiteY2" fmla="*/ 849043 h 863891"/>
              <a:gd name="connsiteX3" fmla="*/ 52860 w 5014549"/>
              <a:gd name="connsiteY3" fmla="*/ 863891 h 863891"/>
              <a:gd name="connsiteX4" fmla="*/ 0 w 5014549"/>
              <a:gd name="connsiteY4" fmla="*/ 51478 h 863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4549" h="863891">
                <a:moveTo>
                  <a:pt x="0" y="51478"/>
                </a:moveTo>
                <a:lnTo>
                  <a:pt x="4908061" y="0"/>
                </a:lnTo>
                <a:cubicBezTo>
                  <a:pt x="4907889" y="143585"/>
                  <a:pt x="5014721" y="705458"/>
                  <a:pt x="5014549" y="849043"/>
                </a:cubicBezTo>
                <a:lnTo>
                  <a:pt x="52860" y="863891"/>
                </a:lnTo>
                <a:cubicBezTo>
                  <a:pt x="51453" y="722788"/>
                  <a:pt x="1407" y="192581"/>
                  <a:pt x="0" y="5147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Inhaltsplatzhalter 1"/>
          <p:cNvSpPr>
            <a:spLocks noGrp="1"/>
          </p:cNvSpPr>
          <p:nvPr>
            <p:ph sz="quarter" idx="10"/>
          </p:nvPr>
        </p:nvSpPr>
        <p:spPr>
          <a:xfrm>
            <a:off x="515938" y="1660832"/>
            <a:ext cx="11397639" cy="2437112"/>
          </a:xfrm>
        </p:spPr>
        <p:txBody>
          <a:bodyPr>
            <a:noAutofit/>
          </a:bodyPr>
          <a:lstStyle/>
          <a:p>
            <a:r>
              <a:rPr lang="de-DE" sz="6000" dirty="0">
                <a:solidFill>
                  <a:srgbClr val="1A4273"/>
                </a:solidFill>
              </a:rPr>
              <a:t>WELCOME!</a:t>
            </a:r>
            <a:br>
              <a:rPr lang="de-DE" sz="6000" dirty="0">
                <a:solidFill>
                  <a:srgbClr val="1A4273"/>
                </a:solidFill>
              </a:rPr>
            </a:br>
            <a:r>
              <a:rPr lang="de-DE" sz="6000" dirty="0"/>
              <a:t>TO TECHNOLOGY CAMPUS </a:t>
            </a:r>
            <a:br>
              <a:rPr lang="de-DE" sz="6000" dirty="0"/>
            </a:br>
            <a:r>
              <a:rPr lang="de-DE" sz="6000" dirty="0"/>
              <a:t>CHAM</a:t>
            </a:r>
          </a:p>
        </p:txBody>
      </p:sp>
      <p:sp>
        <p:nvSpPr>
          <p:cNvPr id="11" name="Rechteck 10"/>
          <p:cNvSpPr/>
          <p:nvPr/>
        </p:nvSpPr>
        <p:spPr>
          <a:xfrm>
            <a:off x="0" y="6795435"/>
            <a:ext cx="12192000" cy="72000"/>
          </a:xfrm>
          <a:prstGeom prst="rect">
            <a:avLst/>
          </a:prstGeom>
          <a:solidFill>
            <a:srgbClr val="1A42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3070" y="429002"/>
            <a:ext cx="2409475" cy="1034839"/>
          </a:xfrm>
          <a:prstGeom prst="rect">
            <a:avLst/>
          </a:prstGeom>
        </p:spPr>
      </p:pic>
    </p:spTree>
    <p:extLst>
      <p:ext uri="{BB962C8B-B14F-4D97-AF65-F5344CB8AC3E}">
        <p14:creationId xmlns:p14="http://schemas.microsoft.com/office/powerpoint/2010/main" val="1616797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515940" y="532022"/>
            <a:ext cx="4335592" cy="460016"/>
          </a:xfrm>
          <a:custGeom>
            <a:avLst/>
            <a:gdLst>
              <a:gd name="connsiteX0" fmla="*/ 0 w 1856326"/>
              <a:gd name="connsiteY0" fmla="*/ 0 h 399630"/>
              <a:gd name="connsiteX1" fmla="*/ 1856326 w 1856326"/>
              <a:gd name="connsiteY1" fmla="*/ 0 h 399630"/>
              <a:gd name="connsiteX2" fmla="*/ 1856326 w 1856326"/>
              <a:gd name="connsiteY2" fmla="*/ 399630 h 399630"/>
              <a:gd name="connsiteX3" fmla="*/ 0 w 1856326"/>
              <a:gd name="connsiteY3" fmla="*/ 399630 h 399630"/>
              <a:gd name="connsiteX4" fmla="*/ 0 w 1856326"/>
              <a:gd name="connsiteY4" fmla="*/ 0 h 399630"/>
              <a:gd name="connsiteX0" fmla="*/ 69011 w 1925337"/>
              <a:gd name="connsiteY0" fmla="*/ 0 h 434136"/>
              <a:gd name="connsiteX1" fmla="*/ 1925337 w 1925337"/>
              <a:gd name="connsiteY1" fmla="*/ 0 h 434136"/>
              <a:gd name="connsiteX2" fmla="*/ 1925337 w 1925337"/>
              <a:gd name="connsiteY2" fmla="*/ 399630 h 434136"/>
              <a:gd name="connsiteX3" fmla="*/ 0 w 1925337"/>
              <a:gd name="connsiteY3" fmla="*/ 434136 h 434136"/>
              <a:gd name="connsiteX4" fmla="*/ 69011 w 1925337"/>
              <a:gd name="connsiteY4" fmla="*/ 0 h 434136"/>
              <a:gd name="connsiteX0" fmla="*/ 163901 w 1925337"/>
              <a:gd name="connsiteY0" fmla="*/ 0 h 477269"/>
              <a:gd name="connsiteX1" fmla="*/ 1925337 w 1925337"/>
              <a:gd name="connsiteY1" fmla="*/ 43133 h 477269"/>
              <a:gd name="connsiteX2" fmla="*/ 1925337 w 1925337"/>
              <a:gd name="connsiteY2" fmla="*/ 442763 h 477269"/>
              <a:gd name="connsiteX3" fmla="*/ 0 w 1925337"/>
              <a:gd name="connsiteY3" fmla="*/ 477269 h 477269"/>
              <a:gd name="connsiteX4" fmla="*/ 163901 w 1925337"/>
              <a:gd name="connsiteY4" fmla="*/ 0 h 477269"/>
              <a:gd name="connsiteX0" fmla="*/ 163901 w 1925337"/>
              <a:gd name="connsiteY0" fmla="*/ 112143 h 589412"/>
              <a:gd name="connsiteX1" fmla="*/ 1925337 w 1925337"/>
              <a:gd name="connsiteY1" fmla="*/ 0 h 589412"/>
              <a:gd name="connsiteX2" fmla="*/ 1925337 w 1925337"/>
              <a:gd name="connsiteY2" fmla="*/ 554906 h 589412"/>
              <a:gd name="connsiteX3" fmla="*/ 0 w 1925337"/>
              <a:gd name="connsiteY3" fmla="*/ 589412 h 589412"/>
              <a:gd name="connsiteX4" fmla="*/ 163901 w 1925337"/>
              <a:gd name="connsiteY4" fmla="*/ 112143 h 589412"/>
              <a:gd name="connsiteX0" fmla="*/ 163901 w 1925337"/>
              <a:gd name="connsiteY0" fmla="*/ 0 h 477269"/>
              <a:gd name="connsiteX1" fmla="*/ 1804567 w 1925337"/>
              <a:gd name="connsiteY1" fmla="*/ 0 h 477269"/>
              <a:gd name="connsiteX2" fmla="*/ 1925337 w 1925337"/>
              <a:gd name="connsiteY2" fmla="*/ 442763 h 477269"/>
              <a:gd name="connsiteX3" fmla="*/ 0 w 1925337"/>
              <a:gd name="connsiteY3" fmla="*/ 477269 h 477269"/>
              <a:gd name="connsiteX4" fmla="*/ 163901 w 1925337"/>
              <a:gd name="connsiteY4" fmla="*/ 0 h 477269"/>
              <a:gd name="connsiteX0" fmla="*/ 155275 w 1925337"/>
              <a:gd name="connsiteY0" fmla="*/ 69011 h 477269"/>
              <a:gd name="connsiteX1" fmla="*/ 1804567 w 1925337"/>
              <a:gd name="connsiteY1" fmla="*/ 0 h 477269"/>
              <a:gd name="connsiteX2" fmla="*/ 1925337 w 1925337"/>
              <a:gd name="connsiteY2" fmla="*/ 442763 h 477269"/>
              <a:gd name="connsiteX3" fmla="*/ 0 w 1925337"/>
              <a:gd name="connsiteY3" fmla="*/ 477269 h 477269"/>
              <a:gd name="connsiteX4" fmla="*/ 155275 w 1925337"/>
              <a:gd name="connsiteY4" fmla="*/ 69011 h 477269"/>
              <a:gd name="connsiteX0" fmla="*/ 94890 w 1864952"/>
              <a:gd name="connsiteY0" fmla="*/ 69011 h 451390"/>
              <a:gd name="connsiteX1" fmla="*/ 1744182 w 1864952"/>
              <a:gd name="connsiteY1" fmla="*/ 0 h 451390"/>
              <a:gd name="connsiteX2" fmla="*/ 1864952 w 1864952"/>
              <a:gd name="connsiteY2" fmla="*/ 442763 h 451390"/>
              <a:gd name="connsiteX3" fmla="*/ 0 w 1864952"/>
              <a:gd name="connsiteY3" fmla="*/ 451390 h 451390"/>
              <a:gd name="connsiteX4" fmla="*/ 94890 w 1864952"/>
              <a:gd name="connsiteY4" fmla="*/ 69011 h 451390"/>
              <a:gd name="connsiteX0" fmla="*/ 94890 w 1830446"/>
              <a:gd name="connsiteY0" fmla="*/ 69011 h 494522"/>
              <a:gd name="connsiteX1" fmla="*/ 1744182 w 1830446"/>
              <a:gd name="connsiteY1" fmla="*/ 0 h 494522"/>
              <a:gd name="connsiteX2" fmla="*/ 1830446 w 1830446"/>
              <a:gd name="connsiteY2" fmla="*/ 494522 h 494522"/>
              <a:gd name="connsiteX3" fmla="*/ 0 w 1830446"/>
              <a:gd name="connsiteY3" fmla="*/ 451390 h 494522"/>
              <a:gd name="connsiteX4" fmla="*/ 94890 w 1830446"/>
              <a:gd name="connsiteY4" fmla="*/ 69011 h 494522"/>
              <a:gd name="connsiteX0" fmla="*/ 94890 w 2770725"/>
              <a:gd name="connsiteY0" fmla="*/ 8626 h 434137"/>
              <a:gd name="connsiteX1" fmla="*/ 2770725 w 2770725"/>
              <a:gd name="connsiteY1" fmla="*/ 0 h 434137"/>
              <a:gd name="connsiteX2" fmla="*/ 1830446 w 2770725"/>
              <a:gd name="connsiteY2" fmla="*/ 434137 h 434137"/>
              <a:gd name="connsiteX3" fmla="*/ 0 w 2770725"/>
              <a:gd name="connsiteY3" fmla="*/ 391005 h 434137"/>
              <a:gd name="connsiteX4" fmla="*/ 94890 w 2770725"/>
              <a:gd name="connsiteY4" fmla="*/ 8626 h 434137"/>
              <a:gd name="connsiteX0" fmla="*/ 94890 w 2839736"/>
              <a:gd name="connsiteY0" fmla="*/ 8626 h 408257"/>
              <a:gd name="connsiteX1" fmla="*/ 2770725 w 2839736"/>
              <a:gd name="connsiteY1" fmla="*/ 0 h 408257"/>
              <a:gd name="connsiteX2" fmla="*/ 2839736 w 2839736"/>
              <a:gd name="connsiteY2" fmla="*/ 408257 h 408257"/>
              <a:gd name="connsiteX3" fmla="*/ 0 w 2839736"/>
              <a:gd name="connsiteY3" fmla="*/ 391005 h 408257"/>
              <a:gd name="connsiteX4" fmla="*/ 94890 w 2839736"/>
              <a:gd name="connsiteY4" fmla="*/ 8626 h 408257"/>
              <a:gd name="connsiteX0" fmla="*/ 94890 w 2822484"/>
              <a:gd name="connsiteY0" fmla="*/ 8626 h 442763"/>
              <a:gd name="connsiteX1" fmla="*/ 2770725 w 2822484"/>
              <a:gd name="connsiteY1" fmla="*/ 0 h 442763"/>
              <a:gd name="connsiteX2" fmla="*/ 2822484 w 2822484"/>
              <a:gd name="connsiteY2" fmla="*/ 442763 h 442763"/>
              <a:gd name="connsiteX3" fmla="*/ 0 w 2822484"/>
              <a:gd name="connsiteY3" fmla="*/ 391005 h 442763"/>
              <a:gd name="connsiteX4" fmla="*/ 94890 w 2822484"/>
              <a:gd name="connsiteY4" fmla="*/ 8626 h 442763"/>
              <a:gd name="connsiteX0" fmla="*/ 94890 w 2822484"/>
              <a:gd name="connsiteY0" fmla="*/ 8626 h 442763"/>
              <a:gd name="connsiteX1" fmla="*/ 2770725 w 2822484"/>
              <a:gd name="connsiteY1" fmla="*/ 0 h 442763"/>
              <a:gd name="connsiteX2" fmla="*/ 2822484 w 2822484"/>
              <a:gd name="connsiteY2" fmla="*/ 442763 h 442763"/>
              <a:gd name="connsiteX3" fmla="*/ 0 w 2822484"/>
              <a:gd name="connsiteY3" fmla="*/ 382378 h 442763"/>
              <a:gd name="connsiteX4" fmla="*/ 94890 w 2822484"/>
              <a:gd name="connsiteY4" fmla="*/ 8626 h 442763"/>
              <a:gd name="connsiteX0" fmla="*/ 94890 w 2796605"/>
              <a:gd name="connsiteY0" fmla="*/ 8626 h 434137"/>
              <a:gd name="connsiteX1" fmla="*/ 2770725 w 2796605"/>
              <a:gd name="connsiteY1" fmla="*/ 0 h 434137"/>
              <a:gd name="connsiteX2" fmla="*/ 2796605 w 2796605"/>
              <a:gd name="connsiteY2" fmla="*/ 434137 h 434137"/>
              <a:gd name="connsiteX3" fmla="*/ 0 w 2796605"/>
              <a:gd name="connsiteY3" fmla="*/ 382378 h 434137"/>
              <a:gd name="connsiteX4" fmla="*/ 94890 w 2796605"/>
              <a:gd name="connsiteY4" fmla="*/ 8626 h 434137"/>
              <a:gd name="connsiteX0" fmla="*/ 94890 w 2796605"/>
              <a:gd name="connsiteY0" fmla="*/ 0 h 425511"/>
              <a:gd name="connsiteX1" fmla="*/ 2572318 w 2796605"/>
              <a:gd name="connsiteY1" fmla="*/ 0 h 425511"/>
              <a:gd name="connsiteX2" fmla="*/ 2796605 w 2796605"/>
              <a:gd name="connsiteY2" fmla="*/ 425511 h 425511"/>
              <a:gd name="connsiteX3" fmla="*/ 0 w 2796605"/>
              <a:gd name="connsiteY3" fmla="*/ 373752 h 425511"/>
              <a:gd name="connsiteX4" fmla="*/ 94890 w 2796605"/>
              <a:gd name="connsiteY4" fmla="*/ 0 h 425511"/>
              <a:gd name="connsiteX0" fmla="*/ 94890 w 2649956"/>
              <a:gd name="connsiteY0" fmla="*/ 0 h 391005"/>
              <a:gd name="connsiteX1" fmla="*/ 2572318 w 2649956"/>
              <a:gd name="connsiteY1" fmla="*/ 0 h 391005"/>
              <a:gd name="connsiteX2" fmla="*/ 2649956 w 2649956"/>
              <a:gd name="connsiteY2" fmla="*/ 391005 h 391005"/>
              <a:gd name="connsiteX3" fmla="*/ 0 w 2649956"/>
              <a:gd name="connsiteY3" fmla="*/ 373752 h 391005"/>
              <a:gd name="connsiteX4" fmla="*/ 94890 w 2649956"/>
              <a:gd name="connsiteY4" fmla="*/ 0 h 391005"/>
              <a:gd name="connsiteX0" fmla="*/ 43132 w 2598198"/>
              <a:gd name="connsiteY0" fmla="*/ 0 h 408257"/>
              <a:gd name="connsiteX1" fmla="*/ 2520560 w 2598198"/>
              <a:gd name="connsiteY1" fmla="*/ 0 h 408257"/>
              <a:gd name="connsiteX2" fmla="*/ 2598198 w 2598198"/>
              <a:gd name="connsiteY2" fmla="*/ 391005 h 408257"/>
              <a:gd name="connsiteX3" fmla="*/ 0 w 2598198"/>
              <a:gd name="connsiteY3" fmla="*/ 408257 h 408257"/>
              <a:gd name="connsiteX4" fmla="*/ 43132 w 2598198"/>
              <a:gd name="connsiteY4" fmla="*/ 0 h 408257"/>
              <a:gd name="connsiteX0" fmla="*/ 43132 w 2960508"/>
              <a:gd name="connsiteY0" fmla="*/ 8626 h 416883"/>
              <a:gd name="connsiteX1" fmla="*/ 2960508 w 2960508"/>
              <a:gd name="connsiteY1" fmla="*/ 0 h 416883"/>
              <a:gd name="connsiteX2" fmla="*/ 2598198 w 2960508"/>
              <a:gd name="connsiteY2" fmla="*/ 399631 h 416883"/>
              <a:gd name="connsiteX3" fmla="*/ 0 w 2960508"/>
              <a:gd name="connsiteY3" fmla="*/ 416883 h 416883"/>
              <a:gd name="connsiteX4" fmla="*/ 43132 w 2960508"/>
              <a:gd name="connsiteY4" fmla="*/ 8626 h 416883"/>
              <a:gd name="connsiteX0" fmla="*/ 43132 w 2960508"/>
              <a:gd name="connsiteY0" fmla="*/ 8626 h 416883"/>
              <a:gd name="connsiteX1" fmla="*/ 2960508 w 2960508"/>
              <a:gd name="connsiteY1" fmla="*/ 0 h 416883"/>
              <a:gd name="connsiteX2" fmla="*/ 2882870 w 2960508"/>
              <a:gd name="connsiteY2" fmla="*/ 408257 h 416883"/>
              <a:gd name="connsiteX3" fmla="*/ 0 w 2960508"/>
              <a:gd name="connsiteY3" fmla="*/ 416883 h 416883"/>
              <a:gd name="connsiteX4" fmla="*/ 43132 w 2960508"/>
              <a:gd name="connsiteY4" fmla="*/ 8626 h 416883"/>
              <a:gd name="connsiteX0" fmla="*/ 0 w 2995014"/>
              <a:gd name="connsiteY0" fmla="*/ 25879 h 416883"/>
              <a:gd name="connsiteX1" fmla="*/ 2995014 w 2995014"/>
              <a:gd name="connsiteY1" fmla="*/ 0 h 416883"/>
              <a:gd name="connsiteX2" fmla="*/ 2917376 w 2995014"/>
              <a:gd name="connsiteY2" fmla="*/ 408257 h 416883"/>
              <a:gd name="connsiteX3" fmla="*/ 34506 w 2995014"/>
              <a:gd name="connsiteY3" fmla="*/ 416883 h 416883"/>
              <a:gd name="connsiteX4" fmla="*/ 0 w 2995014"/>
              <a:gd name="connsiteY4" fmla="*/ 25879 h 416883"/>
              <a:gd name="connsiteX0" fmla="*/ 0 w 2995014"/>
              <a:gd name="connsiteY0" fmla="*/ 25879 h 416883"/>
              <a:gd name="connsiteX1" fmla="*/ 2995014 w 2995014"/>
              <a:gd name="connsiteY1" fmla="*/ 0 h 416883"/>
              <a:gd name="connsiteX2" fmla="*/ 2917376 w 2995014"/>
              <a:gd name="connsiteY2" fmla="*/ 408257 h 416883"/>
              <a:gd name="connsiteX3" fmla="*/ 60385 w 2995014"/>
              <a:gd name="connsiteY3" fmla="*/ 416883 h 416883"/>
              <a:gd name="connsiteX4" fmla="*/ 0 w 2995014"/>
              <a:gd name="connsiteY4" fmla="*/ 25879 h 416883"/>
              <a:gd name="connsiteX0" fmla="*/ 25879 w 3020893"/>
              <a:gd name="connsiteY0" fmla="*/ 25879 h 434136"/>
              <a:gd name="connsiteX1" fmla="*/ 3020893 w 3020893"/>
              <a:gd name="connsiteY1" fmla="*/ 0 h 434136"/>
              <a:gd name="connsiteX2" fmla="*/ 2943255 w 3020893"/>
              <a:gd name="connsiteY2" fmla="*/ 408257 h 434136"/>
              <a:gd name="connsiteX3" fmla="*/ 0 w 3020893"/>
              <a:gd name="connsiteY3" fmla="*/ 434136 h 434136"/>
              <a:gd name="connsiteX4" fmla="*/ 25879 w 3020893"/>
              <a:gd name="connsiteY4" fmla="*/ 25879 h 434136"/>
              <a:gd name="connsiteX0" fmla="*/ 51759 w 3020893"/>
              <a:gd name="connsiteY0" fmla="*/ 25879 h 434136"/>
              <a:gd name="connsiteX1" fmla="*/ 3020893 w 3020893"/>
              <a:gd name="connsiteY1" fmla="*/ 0 h 434136"/>
              <a:gd name="connsiteX2" fmla="*/ 2943255 w 3020893"/>
              <a:gd name="connsiteY2" fmla="*/ 408257 h 434136"/>
              <a:gd name="connsiteX3" fmla="*/ 0 w 3020893"/>
              <a:gd name="connsiteY3" fmla="*/ 434136 h 434136"/>
              <a:gd name="connsiteX4" fmla="*/ 51759 w 3020893"/>
              <a:gd name="connsiteY4" fmla="*/ 25879 h 434136"/>
              <a:gd name="connsiteX0" fmla="*/ 51759 w 2943255"/>
              <a:gd name="connsiteY0" fmla="*/ 34505 h 442762"/>
              <a:gd name="connsiteX1" fmla="*/ 1554403 w 2943255"/>
              <a:gd name="connsiteY1" fmla="*/ 0 h 442762"/>
              <a:gd name="connsiteX2" fmla="*/ 2943255 w 2943255"/>
              <a:gd name="connsiteY2" fmla="*/ 416883 h 442762"/>
              <a:gd name="connsiteX3" fmla="*/ 0 w 2943255"/>
              <a:gd name="connsiteY3" fmla="*/ 442762 h 442762"/>
              <a:gd name="connsiteX4" fmla="*/ 51759 w 2943255"/>
              <a:gd name="connsiteY4" fmla="*/ 34505 h 442762"/>
              <a:gd name="connsiteX0" fmla="*/ 51759 w 1571655"/>
              <a:gd name="connsiteY0" fmla="*/ 34505 h 442762"/>
              <a:gd name="connsiteX1" fmla="*/ 1554403 w 1571655"/>
              <a:gd name="connsiteY1" fmla="*/ 0 h 442762"/>
              <a:gd name="connsiteX2" fmla="*/ 1571655 w 1571655"/>
              <a:gd name="connsiteY2" fmla="*/ 425509 h 442762"/>
              <a:gd name="connsiteX3" fmla="*/ 0 w 1571655"/>
              <a:gd name="connsiteY3" fmla="*/ 442762 h 442762"/>
              <a:gd name="connsiteX4" fmla="*/ 51759 w 1571655"/>
              <a:gd name="connsiteY4" fmla="*/ 34505 h 442762"/>
              <a:gd name="connsiteX0" fmla="*/ 0 w 1519896"/>
              <a:gd name="connsiteY0" fmla="*/ 34505 h 434136"/>
              <a:gd name="connsiteX1" fmla="*/ 1502644 w 1519896"/>
              <a:gd name="connsiteY1" fmla="*/ 0 h 434136"/>
              <a:gd name="connsiteX2" fmla="*/ 1519896 w 1519896"/>
              <a:gd name="connsiteY2" fmla="*/ 425509 h 434136"/>
              <a:gd name="connsiteX3" fmla="*/ 34505 w 1519896"/>
              <a:gd name="connsiteY3" fmla="*/ 434136 h 434136"/>
              <a:gd name="connsiteX4" fmla="*/ 0 w 1519896"/>
              <a:gd name="connsiteY4" fmla="*/ 34505 h 434136"/>
              <a:gd name="connsiteX0" fmla="*/ 0 w 3365949"/>
              <a:gd name="connsiteY0" fmla="*/ 43132 h 442763"/>
              <a:gd name="connsiteX1" fmla="*/ 3365949 w 3365949"/>
              <a:gd name="connsiteY1" fmla="*/ 0 h 442763"/>
              <a:gd name="connsiteX2" fmla="*/ 1519896 w 3365949"/>
              <a:gd name="connsiteY2" fmla="*/ 434136 h 442763"/>
              <a:gd name="connsiteX3" fmla="*/ 34505 w 3365949"/>
              <a:gd name="connsiteY3" fmla="*/ 442763 h 442763"/>
              <a:gd name="connsiteX4" fmla="*/ 0 w 3365949"/>
              <a:gd name="connsiteY4" fmla="*/ 43132 h 442763"/>
              <a:gd name="connsiteX0" fmla="*/ 0 w 3365949"/>
              <a:gd name="connsiteY0" fmla="*/ 43132 h 442763"/>
              <a:gd name="connsiteX1" fmla="*/ 3365949 w 3365949"/>
              <a:gd name="connsiteY1" fmla="*/ 0 h 442763"/>
              <a:gd name="connsiteX2" fmla="*/ 3141662 w 3365949"/>
              <a:gd name="connsiteY2" fmla="*/ 434136 h 442763"/>
              <a:gd name="connsiteX3" fmla="*/ 34505 w 3365949"/>
              <a:gd name="connsiteY3" fmla="*/ 442763 h 442763"/>
              <a:gd name="connsiteX4" fmla="*/ 0 w 3365949"/>
              <a:gd name="connsiteY4" fmla="*/ 43132 h 442763"/>
              <a:gd name="connsiteX0" fmla="*/ 0 w 3202047"/>
              <a:gd name="connsiteY0" fmla="*/ 17253 h 416884"/>
              <a:gd name="connsiteX1" fmla="*/ 3202047 w 3202047"/>
              <a:gd name="connsiteY1" fmla="*/ 0 h 416884"/>
              <a:gd name="connsiteX2" fmla="*/ 3141662 w 3202047"/>
              <a:gd name="connsiteY2" fmla="*/ 408257 h 416884"/>
              <a:gd name="connsiteX3" fmla="*/ 34505 w 3202047"/>
              <a:gd name="connsiteY3" fmla="*/ 416884 h 416884"/>
              <a:gd name="connsiteX4" fmla="*/ 0 w 3202047"/>
              <a:gd name="connsiteY4" fmla="*/ 17253 h 416884"/>
              <a:gd name="connsiteX0" fmla="*/ 0 w 3202047"/>
              <a:gd name="connsiteY0" fmla="*/ 60385 h 460016"/>
              <a:gd name="connsiteX1" fmla="*/ 3202047 w 3202047"/>
              <a:gd name="connsiteY1" fmla="*/ 0 h 460016"/>
              <a:gd name="connsiteX2" fmla="*/ 3141662 w 3202047"/>
              <a:gd name="connsiteY2" fmla="*/ 451389 h 460016"/>
              <a:gd name="connsiteX3" fmla="*/ 34505 w 3202047"/>
              <a:gd name="connsiteY3" fmla="*/ 460016 h 460016"/>
              <a:gd name="connsiteX4" fmla="*/ 0 w 3202047"/>
              <a:gd name="connsiteY4" fmla="*/ 60385 h 460016"/>
              <a:gd name="connsiteX0" fmla="*/ 0 w 3202047"/>
              <a:gd name="connsiteY0" fmla="*/ 60385 h 460016"/>
              <a:gd name="connsiteX1" fmla="*/ 3202047 w 3202047"/>
              <a:gd name="connsiteY1" fmla="*/ 0 h 460016"/>
              <a:gd name="connsiteX2" fmla="*/ 3167541 w 3202047"/>
              <a:gd name="connsiteY2" fmla="*/ 416884 h 460016"/>
              <a:gd name="connsiteX3" fmla="*/ 34505 w 3202047"/>
              <a:gd name="connsiteY3" fmla="*/ 460016 h 460016"/>
              <a:gd name="connsiteX4" fmla="*/ 0 w 3202047"/>
              <a:gd name="connsiteY4" fmla="*/ 60385 h 460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2047" h="460016">
                <a:moveTo>
                  <a:pt x="0" y="60385"/>
                </a:moveTo>
                <a:lnTo>
                  <a:pt x="3202047" y="0"/>
                </a:lnTo>
                <a:lnTo>
                  <a:pt x="3167541" y="416884"/>
                </a:lnTo>
                <a:lnTo>
                  <a:pt x="34505" y="460016"/>
                </a:lnTo>
                <a:lnTo>
                  <a:pt x="0" y="60385"/>
                </a:lnTo>
                <a:close/>
              </a:path>
            </a:pathLst>
          </a:custGeom>
          <a:solidFill>
            <a:srgbClr val="1A42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Inhaltsplatzhalter 1"/>
          <p:cNvSpPr>
            <a:spLocks noGrp="1"/>
          </p:cNvSpPr>
          <p:nvPr>
            <p:ph sz="quarter" idx="10"/>
          </p:nvPr>
        </p:nvSpPr>
        <p:spPr/>
        <p:txBody>
          <a:bodyPr/>
          <a:lstStyle/>
          <a:p>
            <a:r>
              <a:rPr lang="de-DE" dirty="0"/>
              <a:t>TECHNOLOGY CAMPUS</a:t>
            </a:r>
            <a:br>
              <a:rPr lang="de-DE" dirty="0"/>
            </a:br>
            <a:r>
              <a:rPr lang="de-DE" dirty="0">
                <a:solidFill>
                  <a:srgbClr val="1A4273"/>
                </a:solidFill>
              </a:rPr>
              <a:t>CHAM</a:t>
            </a:r>
          </a:p>
        </p:txBody>
      </p:sp>
      <p:sp>
        <p:nvSpPr>
          <p:cNvPr id="11" name="Rechteck 10"/>
          <p:cNvSpPr/>
          <p:nvPr/>
        </p:nvSpPr>
        <p:spPr>
          <a:xfrm>
            <a:off x="0" y="6795435"/>
            <a:ext cx="12192000" cy="72000"/>
          </a:xfrm>
          <a:prstGeom prst="rect">
            <a:avLst/>
          </a:prstGeom>
          <a:solidFill>
            <a:srgbClr val="1A42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itel 1"/>
          <p:cNvSpPr txBox="1">
            <a:spLocks/>
          </p:cNvSpPr>
          <p:nvPr/>
        </p:nvSpPr>
        <p:spPr>
          <a:xfrm>
            <a:off x="2063552" y="1693621"/>
            <a:ext cx="8229600" cy="1832248"/>
          </a:xfrm>
          <a:prstGeom prst="rect">
            <a:avLst/>
          </a:prstGeom>
        </p:spPr>
        <p:txBody>
          <a:bodyPr vert="horz" lIns="91440" tIns="45720" rIns="91440" bIns="45720" rtlCol="0" anchor="ctr">
            <a:noAutofit/>
          </a:bodyPr>
          <a:lstStyle>
            <a:defPPr>
              <a:defRPr lang="de-DE"/>
            </a:defPPr>
            <a:lvl1pPr algn="ctr">
              <a:spcBef>
                <a:spcPct val="0"/>
              </a:spcBef>
              <a:buNone/>
              <a:defRPr sz="4400">
                <a:effectLst>
                  <a:outerShdw blurRad="38100" dist="38100" dir="2700000" algn="tl">
                    <a:srgbClr val="000000">
                      <a:alpha val="43137"/>
                    </a:srgbClr>
                  </a:outerShdw>
                </a:effectLst>
                <a:latin typeface="+mj-lt"/>
                <a:ea typeface="+mj-ea"/>
                <a:cs typeface="+mj-cs"/>
              </a:defRPr>
            </a:lvl1pPr>
          </a:lstStyle>
          <a:p>
            <a:endParaRPr lang="de-DE" dirty="0"/>
          </a:p>
        </p:txBody>
      </p:sp>
      <p:sp>
        <p:nvSpPr>
          <p:cNvPr id="18" name="Titel 1"/>
          <p:cNvSpPr txBox="1">
            <a:spLocks/>
          </p:cNvSpPr>
          <p:nvPr/>
        </p:nvSpPr>
        <p:spPr bwMode="auto">
          <a:xfrm>
            <a:off x="4763136" y="1693619"/>
            <a:ext cx="2436562" cy="59593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400" b="1" kern="1200">
                <a:solidFill>
                  <a:schemeClr val="accent1"/>
                </a:solidFill>
                <a:latin typeface="AvantGarde Bk BT" pitchFamily="34" charset="0"/>
                <a:ea typeface="+mj-ea"/>
                <a:cs typeface="+mj-cs"/>
              </a:defRPr>
            </a:lvl1pPr>
            <a:lvl2pPr algn="l" rtl="0" eaLnBrk="1" fontAlgn="base" hangingPunct="1">
              <a:spcBef>
                <a:spcPct val="0"/>
              </a:spcBef>
              <a:spcAft>
                <a:spcPct val="0"/>
              </a:spcAft>
              <a:defRPr sz="2400" b="1">
                <a:solidFill>
                  <a:schemeClr val="accent1"/>
                </a:solidFill>
                <a:latin typeface="Verdana" pitchFamily="34" charset="0"/>
              </a:defRPr>
            </a:lvl2pPr>
            <a:lvl3pPr algn="l" rtl="0" eaLnBrk="1" fontAlgn="base" hangingPunct="1">
              <a:spcBef>
                <a:spcPct val="0"/>
              </a:spcBef>
              <a:spcAft>
                <a:spcPct val="0"/>
              </a:spcAft>
              <a:defRPr sz="2400" b="1">
                <a:solidFill>
                  <a:schemeClr val="accent1"/>
                </a:solidFill>
                <a:latin typeface="Verdana" pitchFamily="34" charset="0"/>
              </a:defRPr>
            </a:lvl3pPr>
            <a:lvl4pPr algn="l" rtl="0" eaLnBrk="1" fontAlgn="base" hangingPunct="1">
              <a:spcBef>
                <a:spcPct val="0"/>
              </a:spcBef>
              <a:spcAft>
                <a:spcPct val="0"/>
              </a:spcAft>
              <a:defRPr sz="2400" b="1">
                <a:solidFill>
                  <a:schemeClr val="accent1"/>
                </a:solidFill>
                <a:latin typeface="Verdana" pitchFamily="34" charset="0"/>
              </a:defRPr>
            </a:lvl4pPr>
            <a:lvl5pPr algn="l" rtl="0" eaLnBrk="1" fontAlgn="base" hangingPunct="1">
              <a:spcBef>
                <a:spcPct val="0"/>
              </a:spcBef>
              <a:spcAft>
                <a:spcPct val="0"/>
              </a:spcAft>
              <a:defRPr sz="2400" b="1">
                <a:solidFill>
                  <a:schemeClr val="accent1"/>
                </a:solidFill>
                <a:latin typeface="Verdana" pitchFamily="34" charset="0"/>
              </a:defRPr>
            </a:lvl5pPr>
            <a:lvl6pPr marL="457200" algn="l" rtl="0" eaLnBrk="1" fontAlgn="base" hangingPunct="1">
              <a:spcBef>
                <a:spcPct val="0"/>
              </a:spcBef>
              <a:spcAft>
                <a:spcPct val="0"/>
              </a:spcAft>
              <a:defRPr sz="2800">
                <a:solidFill>
                  <a:schemeClr val="tx1"/>
                </a:solidFill>
                <a:latin typeface="AvantGarde Bk BT" pitchFamily="34" charset="0"/>
              </a:defRPr>
            </a:lvl6pPr>
            <a:lvl7pPr marL="914400" algn="l" rtl="0" eaLnBrk="1" fontAlgn="base" hangingPunct="1">
              <a:spcBef>
                <a:spcPct val="0"/>
              </a:spcBef>
              <a:spcAft>
                <a:spcPct val="0"/>
              </a:spcAft>
              <a:defRPr sz="2800">
                <a:solidFill>
                  <a:schemeClr val="tx1"/>
                </a:solidFill>
                <a:latin typeface="AvantGarde Bk BT" pitchFamily="34" charset="0"/>
              </a:defRPr>
            </a:lvl7pPr>
            <a:lvl8pPr marL="1371600" algn="l" rtl="0" eaLnBrk="1" fontAlgn="base" hangingPunct="1">
              <a:spcBef>
                <a:spcPct val="0"/>
              </a:spcBef>
              <a:spcAft>
                <a:spcPct val="0"/>
              </a:spcAft>
              <a:defRPr sz="2800">
                <a:solidFill>
                  <a:schemeClr val="tx1"/>
                </a:solidFill>
                <a:latin typeface="AvantGarde Bk BT" pitchFamily="34" charset="0"/>
              </a:defRPr>
            </a:lvl8pPr>
            <a:lvl9pPr marL="1828800" algn="l" rtl="0" eaLnBrk="1" fontAlgn="base" hangingPunct="1">
              <a:spcBef>
                <a:spcPct val="0"/>
              </a:spcBef>
              <a:spcAft>
                <a:spcPct val="0"/>
              </a:spcAft>
              <a:defRPr sz="2800">
                <a:solidFill>
                  <a:schemeClr val="tx1"/>
                </a:solidFill>
                <a:latin typeface="AvantGarde Bk BT" pitchFamily="34" charset="0"/>
              </a:defRPr>
            </a:lvl9pPr>
          </a:lstStyle>
          <a:p>
            <a:pPr>
              <a:lnSpc>
                <a:spcPct val="150000"/>
              </a:lnSpc>
            </a:pPr>
            <a:r>
              <a:rPr lang="de-DE" sz="2000" dirty="0">
                <a:latin typeface="Calibri" panose="020F0502020204030204" pitchFamily="34" charset="0"/>
                <a:ea typeface="Verdana" panose="020B0604030504040204" pitchFamily="34" charset="0"/>
                <a:cs typeface="Calibri" panose="020F0502020204030204" pitchFamily="34" charset="0"/>
              </a:rPr>
              <a:t>Prof: </a:t>
            </a:r>
            <a:r>
              <a:rPr lang="de-DE" sz="2000" b="0" dirty="0">
                <a:latin typeface="Calibri" panose="020F0502020204030204" pitchFamily="34" charset="0"/>
                <a:ea typeface="Verdana" panose="020B0604030504040204" pitchFamily="34" charset="0"/>
                <a:cs typeface="Calibri" panose="020F0502020204030204" pitchFamily="34" charset="0"/>
              </a:rPr>
              <a:t>Sunil P. </a:t>
            </a:r>
            <a:r>
              <a:rPr lang="de-DE" sz="2000" b="0" dirty="0" err="1">
                <a:latin typeface="Calibri" panose="020F0502020204030204" pitchFamily="34" charset="0"/>
                <a:ea typeface="Verdana" panose="020B0604030504040204" pitchFamily="34" charset="0"/>
                <a:cs typeface="Calibri" panose="020F0502020204030204" pitchFamily="34" charset="0"/>
              </a:rPr>
              <a:t>Survaiya</a:t>
            </a:r>
            <a:endParaRPr lang="de-DE" sz="2000" b="0" dirty="0">
              <a:latin typeface="Calibri" panose="020F0502020204030204" pitchFamily="34" charset="0"/>
              <a:ea typeface="Verdana" panose="020B0604030504040204" pitchFamily="34" charset="0"/>
              <a:cs typeface="Calibri" panose="020F0502020204030204" pitchFamily="34" charset="0"/>
            </a:endParaRPr>
          </a:p>
        </p:txBody>
      </p:sp>
      <p:sp>
        <p:nvSpPr>
          <p:cNvPr id="19" name="Titel 1"/>
          <p:cNvSpPr txBox="1">
            <a:spLocks/>
          </p:cNvSpPr>
          <p:nvPr/>
        </p:nvSpPr>
        <p:spPr bwMode="auto">
          <a:xfrm>
            <a:off x="6660369" y="2035784"/>
            <a:ext cx="1153560" cy="55686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400" b="1" kern="1200">
                <a:solidFill>
                  <a:schemeClr val="accent1"/>
                </a:solidFill>
                <a:latin typeface="AvantGarde Bk BT" pitchFamily="34" charset="0"/>
                <a:ea typeface="+mj-ea"/>
                <a:cs typeface="+mj-cs"/>
              </a:defRPr>
            </a:lvl1pPr>
            <a:lvl2pPr algn="l" rtl="0" eaLnBrk="1" fontAlgn="base" hangingPunct="1">
              <a:spcBef>
                <a:spcPct val="0"/>
              </a:spcBef>
              <a:spcAft>
                <a:spcPct val="0"/>
              </a:spcAft>
              <a:defRPr sz="2400" b="1">
                <a:solidFill>
                  <a:schemeClr val="accent1"/>
                </a:solidFill>
                <a:latin typeface="Verdana" pitchFamily="34" charset="0"/>
              </a:defRPr>
            </a:lvl2pPr>
            <a:lvl3pPr algn="l" rtl="0" eaLnBrk="1" fontAlgn="base" hangingPunct="1">
              <a:spcBef>
                <a:spcPct val="0"/>
              </a:spcBef>
              <a:spcAft>
                <a:spcPct val="0"/>
              </a:spcAft>
              <a:defRPr sz="2400" b="1">
                <a:solidFill>
                  <a:schemeClr val="accent1"/>
                </a:solidFill>
                <a:latin typeface="Verdana" pitchFamily="34" charset="0"/>
              </a:defRPr>
            </a:lvl3pPr>
            <a:lvl4pPr algn="l" rtl="0" eaLnBrk="1" fontAlgn="base" hangingPunct="1">
              <a:spcBef>
                <a:spcPct val="0"/>
              </a:spcBef>
              <a:spcAft>
                <a:spcPct val="0"/>
              </a:spcAft>
              <a:defRPr sz="2400" b="1">
                <a:solidFill>
                  <a:schemeClr val="accent1"/>
                </a:solidFill>
                <a:latin typeface="Verdana" pitchFamily="34" charset="0"/>
              </a:defRPr>
            </a:lvl4pPr>
            <a:lvl5pPr algn="l" rtl="0" eaLnBrk="1" fontAlgn="base" hangingPunct="1">
              <a:spcBef>
                <a:spcPct val="0"/>
              </a:spcBef>
              <a:spcAft>
                <a:spcPct val="0"/>
              </a:spcAft>
              <a:defRPr sz="2400" b="1">
                <a:solidFill>
                  <a:schemeClr val="accent1"/>
                </a:solidFill>
                <a:latin typeface="Verdana" pitchFamily="34" charset="0"/>
              </a:defRPr>
            </a:lvl5pPr>
            <a:lvl6pPr marL="457200" algn="l" rtl="0" eaLnBrk="1" fontAlgn="base" hangingPunct="1">
              <a:spcBef>
                <a:spcPct val="0"/>
              </a:spcBef>
              <a:spcAft>
                <a:spcPct val="0"/>
              </a:spcAft>
              <a:defRPr sz="2800">
                <a:solidFill>
                  <a:schemeClr val="tx1"/>
                </a:solidFill>
                <a:latin typeface="AvantGarde Bk BT" pitchFamily="34" charset="0"/>
              </a:defRPr>
            </a:lvl6pPr>
            <a:lvl7pPr marL="914400" algn="l" rtl="0" eaLnBrk="1" fontAlgn="base" hangingPunct="1">
              <a:spcBef>
                <a:spcPct val="0"/>
              </a:spcBef>
              <a:spcAft>
                <a:spcPct val="0"/>
              </a:spcAft>
              <a:defRPr sz="2800">
                <a:solidFill>
                  <a:schemeClr val="tx1"/>
                </a:solidFill>
                <a:latin typeface="AvantGarde Bk BT" pitchFamily="34" charset="0"/>
              </a:defRPr>
            </a:lvl7pPr>
            <a:lvl8pPr marL="1371600" algn="l" rtl="0" eaLnBrk="1" fontAlgn="base" hangingPunct="1">
              <a:spcBef>
                <a:spcPct val="0"/>
              </a:spcBef>
              <a:spcAft>
                <a:spcPct val="0"/>
              </a:spcAft>
              <a:defRPr sz="2800">
                <a:solidFill>
                  <a:schemeClr val="tx1"/>
                </a:solidFill>
                <a:latin typeface="AvantGarde Bk BT" pitchFamily="34" charset="0"/>
              </a:defRPr>
            </a:lvl8pPr>
            <a:lvl9pPr marL="1828800" algn="l" rtl="0" eaLnBrk="1" fontAlgn="base" hangingPunct="1">
              <a:spcBef>
                <a:spcPct val="0"/>
              </a:spcBef>
              <a:spcAft>
                <a:spcPct val="0"/>
              </a:spcAft>
              <a:defRPr sz="2800">
                <a:solidFill>
                  <a:schemeClr val="tx1"/>
                </a:solidFill>
                <a:latin typeface="AvantGarde Bk BT" pitchFamily="34" charset="0"/>
              </a:defRPr>
            </a:lvl9pPr>
          </a:lstStyle>
          <a:p>
            <a:pPr algn="r">
              <a:lnSpc>
                <a:spcPct val="150000"/>
              </a:lnSpc>
            </a:pPr>
            <a:r>
              <a:rPr lang="de-DE" sz="2000" dirty="0">
                <a:latin typeface="Verdana" panose="020B0604030504040204" pitchFamily="34" charset="0"/>
                <a:ea typeface="Verdana" panose="020B0604030504040204" pitchFamily="34" charset="0"/>
                <a:cs typeface="Verdana" panose="020B0604030504040204" pitchFamily="34" charset="0"/>
              </a:rPr>
              <a:t>Cham, </a:t>
            </a:r>
          </a:p>
        </p:txBody>
      </p:sp>
      <p:sp>
        <p:nvSpPr>
          <p:cNvPr id="16" name="Titel 1"/>
          <p:cNvSpPr txBox="1">
            <a:spLocks/>
          </p:cNvSpPr>
          <p:nvPr/>
        </p:nvSpPr>
        <p:spPr>
          <a:xfrm>
            <a:off x="1879921" y="1118319"/>
            <a:ext cx="8208912" cy="1150601"/>
          </a:xfrm>
          <a:prstGeom prst="rect">
            <a:avLst/>
          </a:prstGeom>
        </p:spPr>
        <p:txBody>
          <a:bodyPr/>
          <a:lstStyle>
            <a:defPPr>
              <a:defRPr lang="de-DE"/>
            </a:defPPr>
            <a:lvl1pPr algn="ctr">
              <a:lnSpc>
                <a:spcPct val="150000"/>
              </a:lnSpc>
              <a:spcBef>
                <a:spcPct val="0"/>
              </a:spcBef>
              <a:buNone/>
              <a:defRPr sz="2400" b="1">
                <a:solidFill>
                  <a:srgbClr val="1A4273"/>
                </a:solidFill>
                <a:latin typeface="Verdana" pitchFamily="34" charset="0"/>
                <a:ea typeface="+mj-ea"/>
                <a:cs typeface="+mj-cs"/>
              </a:defRPr>
            </a:lvl1pPr>
          </a:lstStyle>
          <a:p>
            <a:pPr>
              <a:lnSpc>
                <a:spcPct val="100000"/>
              </a:lnSpc>
            </a:pPr>
            <a:r>
              <a:rPr lang="en-US" dirty="0">
                <a:latin typeface="Calibri" panose="020F0502020204030204" pitchFamily="34" charset="0"/>
                <a:cs typeface="Calibri" panose="020F0502020204030204" pitchFamily="34" charset="0"/>
              </a:rPr>
              <a:t>Design and Simulation of a PID Controller for Precise DC Motor Speed Control</a:t>
            </a:r>
          </a:p>
        </p:txBody>
      </p:sp>
      <p:sp>
        <p:nvSpPr>
          <p:cNvPr id="14" name="Datumsplatzhalter 7"/>
          <p:cNvSpPr>
            <a:spLocks noGrp="1"/>
          </p:cNvSpPr>
          <p:nvPr>
            <p:ph type="dt" sz="half" idx="13"/>
          </p:nvPr>
        </p:nvSpPr>
        <p:spPr>
          <a:xfrm>
            <a:off x="7666987" y="2189007"/>
            <a:ext cx="1851600" cy="365125"/>
          </a:xfrm>
        </p:spPr>
        <p:txBody>
          <a:bodyPr/>
          <a:lstStyle/>
          <a:p>
            <a:r>
              <a:rPr lang="de-DE" sz="2000" b="1" dirty="0">
                <a:solidFill>
                  <a:schemeClr val="accent1"/>
                </a:solidFill>
                <a:latin typeface="Verdana" panose="020B0604030504040204" pitchFamily="34" charset="0"/>
                <a:ea typeface="Verdana" panose="020B0604030504040204" pitchFamily="34" charset="0"/>
                <a:cs typeface="Verdana" panose="020B0604030504040204" pitchFamily="34" charset="0"/>
              </a:rPr>
              <a:t>15.09.2022</a:t>
            </a:r>
          </a:p>
        </p:txBody>
      </p:sp>
      <p:pic>
        <p:nvPicPr>
          <p:cNvPr id="15" name="Picture 2" descr="http://tc-cham.hdu-deggendorf.de/images/stories/bildarchiv/bild_07_g.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529715" y="4195275"/>
            <a:ext cx="2280000" cy="1710000"/>
          </a:xfrm>
          <a:prstGeom prst="rect">
            <a:avLst/>
          </a:prstGeom>
          <a:noFill/>
        </p:spPr>
      </p:pic>
      <p:pic>
        <p:nvPicPr>
          <p:cNvPr id="20" name="Grafik 1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10951" y="4195276"/>
            <a:ext cx="2238384" cy="1709999"/>
          </a:xfrm>
          <a:prstGeom prst="rect">
            <a:avLst/>
          </a:prstGeom>
        </p:spPr>
      </p:pic>
      <p:pic>
        <p:nvPicPr>
          <p:cNvPr id="21" name="Grafik 20"/>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349335" y="4195275"/>
            <a:ext cx="3270085" cy="1710000"/>
          </a:xfrm>
          <a:prstGeom prst="rect">
            <a:avLst/>
          </a:prstGeom>
        </p:spPr>
      </p:pic>
    </p:spTree>
    <p:extLst>
      <p:ext uri="{BB962C8B-B14F-4D97-AF65-F5344CB8AC3E}">
        <p14:creationId xmlns:p14="http://schemas.microsoft.com/office/powerpoint/2010/main" val="123686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658974E-9E23-1579-D70C-5DBCC43BBEBB}"/>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E0F71507-2709-423A-4396-317888294851}"/>
              </a:ext>
            </a:extLst>
          </p:cNvPr>
          <p:cNvSpPr>
            <a:spLocks noGrp="1"/>
          </p:cNvSpPr>
          <p:nvPr>
            <p:ph type="sldNum" sz="quarter" idx="15"/>
          </p:nvPr>
        </p:nvSpPr>
        <p:spPr/>
        <p:txBody>
          <a:bodyPr/>
          <a:lstStyle/>
          <a:p>
            <a:fld id="{05FEBB84-A833-4D9F-8E64-647D4209DE1B}" type="slidenum">
              <a:rPr lang="de-DE" smtClean="0"/>
              <a:t>3</a:t>
            </a:fld>
            <a:endParaRPr lang="de-DE" dirty="0"/>
          </a:p>
        </p:txBody>
      </p:sp>
      <p:graphicFrame>
        <p:nvGraphicFramePr>
          <p:cNvPr id="9" name="Diagram 8">
            <a:extLst>
              <a:ext uri="{FF2B5EF4-FFF2-40B4-BE49-F238E27FC236}">
                <a16:creationId xmlns:a16="http://schemas.microsoft.com/office/drawing/2014/main" id="{AA82A067-1A09-1F6E-81AE-1C68F27773DD}"/>
              </a:ext>
            </a:extLst>
          </p:cNvPr>
          <p:cNvGraphicFramePr/>
          <p:nvPr>
            <p:extLst>
              <p:ext uri="{D42A27DB-BD31-4B8C-83A1-F6EECF244321}">
                <p14:modId xmlns:p14="http://schemas.microsoft.com/office/powerpoint/2010/main" val="226628135"/>
              </p:ext>
            </p:extLst>
          </p:nvPr>
        </p:nvGraphicFramePr>
        <p:xfrm>
          <a:off x="1408497" y="1094873"/>
          <a:ext cx="9375006" cy="46682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itel 1">
            <a:extLst>
              <a:ext uri="{FF2B5EF4-FFF2-40B4-BE49-F238E27FC236}">
                <a16:creationId xmlns:a16="http://schemas.microsoft.com/office/drawing/2014/main" id="{D85CA6EB-9319-41B8-0711-7BF102BDC02D}"/>
              </a:ext>
            </a:extLst>
          </p:cNvPr>
          <p:cNvSpPr txBox="1">
            <a:spLocks/>
          </p:cNvSpPr>
          <p:nvPr/>
        </p:nvSpPr>
        <p:spPr>
          <a:xfrm>
            <a:off x="1860670" y="519573"/>
            <a:ext cx="8208912" cy="683586"/>
          </a:xfrm>
          <a:prstGeom prst="rect">
            <a:avLst/>
          </a:prstGeom>
        </p:spPr>
        <p:txBody>
          <a:bodyPr/>
          <a:lstStyle>
            <a:defPPr>
              <a:defRPr lang="de-DE"/>
            </a:defPPr>
            <a:lvl1pPr algn="ctr">
              <a:lnSpc>
                <a:spcPct val="150000"/>
              </a:lnSpc>
              <a:spcBef>
                <a:spcPct val="0"/>
              </a:spcBef>
              <a:buNone/>
              <a:defRPr sz="2400" b="1">
                <a:solidFill>
                  <a:srgbClr val="1A4273"/>
                </a:solidFill>
                <a:latin typeface="Verdana" pitchFamily="34" charset="0"/>
                <a:ea typeface="+mj-ea"/>
                <a:cs typeface="+mj-cs"/>
              </a:defRPr>
            </a:lvl1pPr>
          </a:lstStyle>
          <a:p>
            <a:pPr>
              <a:lnSpc>
                <a:spcPct val="100000"/>
              </a:lnSpc>
            </a:pPr>
            <a:r>
              <a:rPr lang="en-US" dirty="0">
                <a:latin typeface="Calibri" panose="020F0502020204030204" pitchFamily="34" charset="0"/>
                <a:cs typeface="Calibri" panose="020F0502020204030204" pitchFamily="34" charset="0"/>
              </a:rPr>
              <a:t>Group Members</a:t>
            </a:r>
          </a:p>
        </p:txBody>
      </p:sp>
    </p:spTree>
    <p:extLst>
      <p:ext uri="{BB962C8B-B14F-4D97-AF65-F5344CB8AC3E}">
        <p14:creationId xmlns:p14="http://schemas.microsoft.com/office/powerpoint/2010/main" val="4082805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6795435"/>
            <a:ext cx="12192000" cy="72000"/>
          </a:xfrm>
          <a:prstGeom prst="rect">
            <a:avLst/>
          </a:prstGeom>
          <a:solidFill>
            <a:srgbClr val="1A42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oliennummernplatzhalter 11"/>
          <p:cNvSpPr>
            <a:spLocks noGrp="1"/>
          </p:cNvSpPr>
          <p:nvPr>
            <p:ph type="sldNum" sz="quarter" idx="15"/>
          </p:nvPr>
        </p:nvSpPr>
        <p:spPr>
          <a:xfrm>
            <a:off x="9039225" y="6356350"/>
            <a:ext cx="2743200" cy="365125"/>
          </a:xfrm>
        </p:spPr>
        <p:txBody>
          <a:bodyPr/>
          <a:lstStyle/>
          <a:p>
            <a:fld id="{05FEBB84-A833-4D9F-8E64-647D4209DE1B}" type="slidenum">
              <a:rPr lang="de-DE" smtClean="0"/>
              <a:t>4</a:t>
            </a:fld>
            <a:endParaRPr lang="de-DE" dirty="0"/>
          </a:p>
        </p:txBody>
      </p:sp>
      <p:pic>
        <p:nvPicPr>
          <p:cNvPr id="13" name="Picture 5" descr="I:\arrow.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93" y="394254"/>
            <a:ext cx="276225" cy="276225"/>
          </a:xfrm>
          <a:prstGeom prst="rect">
            <a:avLst/>
          </a:prstGeom>
          <a:noFill/>
          <a:extLst>
            <a:ext uri="{909E8E84-426E-40DD-AFC4-6F175D3DCCD1}">
              <a14:hiddenFill xmlns:a14="http://schemas.microsoft.com/office/drawing/2010/main">
                <a:solidFill>
                  <a:srgbClr val="FFFFFF"/>
                </a:solidFill>
              </a14:hiddenFill>
            </a:ext>
          </a:extLst>
        </p:spPr>
      </p:pic>
      <p:sp>
        <p:nvSpPr>
          <p:cNvPr id="14" name="Rechteck 9"/>
          <p:cNvSpPr txBox="1">
            <a:spLocks noChangeArrowheads="1"/>
          </p:cNvSpPr>
          <p:nvPr/>
        </p:nvSpPr>
        <p:spPr>
          <a:xfrm>
            <a:off x="2027" y="293595"/>
            <a:ext cx="9205347" cy="461665"/>
          </a:xfrm>
          <a:prstGeom prst="rect">
            <a:avLst/>
          </a:prstGeom>
          <a:solidFill>
            <a:schemeClr val="bg1">
              <a:lumMod val="85000"/>
              <a:alpha val="80000"/>
            </a:schemeClr>
          </a:solidFill>
        </p:spPr>
        <p:txBody>
          <a:bodyPr wrap="square">
            <a:spAutoFit/>
          </a:bodyPr>
          <a:lstStyle>
            <a:lvl1pPr algn="l" rtl="0" eaLnBrk="0" fontAlgn="base" hangingPunct="0">
              <a:spcBef>
                <a:spcPct val="0"/>
              </a:spcBef>
              <a:spcAft>
                <a:spcPct val="0"/>
              </a:spcAft>
              <a:defRPr sz="2400" kern="1200">
                <a:solidFill>
                  <a:schemeClr val="tx1"/>
                </a:solidFill>
                <a:latin typeface="AvantGarde Bk BT" pitchFamily="34" charset="0"/>
                <a:ea typeface="+mj-ea"/>
                <a:cs typeface="+mj-cs"/>
              </a:defRPr>
            </a:lvl1pPr>
            <a:lvl2pPr algn="l" rtl="0" eaLnBrk="0" fontAlgn="base" hangingPunct="0">
              <a:spcBef>
                <a:spcPct val="0"/>
              </a:spcBef>
              <a:spcAft>
                <a:spcPct val="0"/>
              </a:spcAft>
              <a:defRPr sz="2400">
                <a:solidFill>
                  <a:schemeClr val="tx1"/>
                </a:solidFill>
                <a:latin typeface="AvantGarde Bk BT" pitchFamily="34" charset="0"/>
              </a:defRPr>
            </a:lvl2pPr>
            <a:lvl3pPr algn="l" rtl="0" eaLnBrk="0" fontAlgn="base" hangingPunct="0">
              <a:spcBef>
                <a:spcPct val="0"/>
              </a:spcBef>
              <a:spcAft>
                <a:spcPct val="0"/>
              </a:spcAft>
              <a:defRPr sz="2400">
                <a:solidFill>
                  <a:schemeClr val="tx1"/>
                </a:solidFill>
                <a:latin typeface="AvantGarde Bk BT" pitchFamily="34" charset="0"/>
              </a:defRPr>
            </a:lvl3pPr>
            <a:lvl4pPr algn="l" rtl="0" eaLnBrk="0" fontAlgn="base" hangingPunct="0">
              <a:spcBef>
                <a:spcPct val="0"/>
              </a:spcBef>
              <a:spcAft>
                <a:spcPct val="0"/>
              </a:spcAft>
              <a:defRPr sz="2400">
                <a:solidFill>
                  <a:schemeClr val="tx1"/>
                </a:solidFill>
                <a:latin typeface="AvantGarde Bk BT" pitchFamily="34" charset="0"/>
              </a:defRPr>
            </a:lvl4pPr>
            <a:lvl5pPr algn="l" rtl="0" eaLnBrk="0" fontAlgn="base" hangingPunct="0">
              <a:spcBef>
                <a:spcPct val="0"/>
              </a:spcBef>
              <a:spcAft>
                <a:spcPct val="0"/>
              </a:spcAft>
              <a:defRPr sz="2400">
                <a:solidFill>
                  <a:schemeClr val="tx1"/>
                </a:solidFill>
                <a:latin typeface="AvantGarde Bk BT" pitchFamily="34" charset="0"/>
              </a:defRPr>
            </a:lvl5pPr>
            <a:lvl6pPr marL="457200" algn="l" rtl="0" eaLnBrk="1" fontAlgn="base" hangingPunct="1">
              <a:spcBef>
                <a:spcPct val="0"/>
              </a:spcBef>
              <a:spcAft>
                <a:spcPct val="0"/>
              </a:spcAft>
              <a:defRPr sz="2800">
                <a:solidFill>
                  <a:schemeClr val="tx1"/>
                </a:solidFill>
                <a:latin typeface="AvantGarde Bk BT" pitchFamily="34" charset="0"/>
              </a:defRPr>
            </a:lvl6pPr>
            <a:lvl7pPr marL="914400" algn="l" rtl="0" eaLnBrk="1" fontAlgn="base" hangingPunct="1">
              <a:spcBef>
                <a:spcPct val="0"/>
              </a:spcBef>
              <a:spcAft>
                <a:spcPct val="0"/>
              </a:spcAft>
              <a:defRPr sz="2800">
                <a:solidFill>
                  <a:schemeClr val="tx1"/>
                </a:solidFill>
                <a:latin typeface="AvantGarde Bk BT" pitchFamily="34" charset="0"/>
              </a:defRPr>
            </a:lvl7pPr>
            <a:lvl8pPr marL="1371600" algn="l" rtl="0" eaLnBrk="1" fontAlgn="base" hangingPunct="1">
              <a:spcBef>
                <a:spcPct val="0"/>
              </a:spcBef>
              <a:spcAft>
                <a:spcPct val="0"/>
              </a:spcAft>
              <a:defRPr sz="2800">
                <a:solidFill>
                  <a:schemeClr val="tx1"/>
                </a:solidFill>
                <a:latin typeface="AvantGarde Bk BT" pitchFamily="34" charset="0"/>
              </a:defRPr>
            </a:lvl8pPr>
            <a:lvl9pPr marL="1828800" algn="l" rtl="0" eaLnBrk="1" fontAlgn="base" hangingPunct="1">
              <a:spcBef>
                <a:spcPct val="0"/>
              </a:spcBef>
              <a:spcAft>
                <a:spcPct val="0"/>
              </a:spcAft>
              <a:defRPr sz="2800">
                <a:solidFill>
                  <a:schemeClr val="tx1"/>
                </a:solidFill>
                <a:latin typeface="AvantGarde Bk BT" pitchFamily="34" charset="0"/>
              </a:defRPr>
            </a:lvl9pPr>
          </a:lstStyle>
          <a:p>
            <a:pPr>
              <a:tabLst>
                <a:tab pos="715963" algn="l"/>
              </a:tabLst>
              <a:defRPr/>
            </a:pPr>
            <a:r>
              <a:rPr lang="de-DE" b="1" dirty="0">
                <a:solidFill>
                  <a:srgbClr val="8064A2">
                    <a:lumMod val="50000"/>
                  </a:srgbClr>
                </a:solidFill>
                <a:latin typeface="AvantGarde Md BT" panose="020B0602020202020204" pitchFamily="34" charset="0"/>
              </a:rPr>
              <a:t>	</a:t>
            </a:r>
            <a:r>
              <a:rPr lang="en-US" b="1" dirty="0">
                <a:solidFill>
                  <a:srgbClr val="8064A2">
                    <a:lumMod val="50000"/>
                  </a:srgbClr>
                </a:solidFill>
                <a:latin typeface="AvantGarde Md BT" panose="020B0602020202020204" pitchFamily="34" charset="0"/>
              </a:rPr>
              <a:t>System</a:t>
            </a:r>
            <a:r>
              <a:rPr lang="en-US" dirty="0"/>
              <a:t> </a:t>
            </a:r>
            <a:r>
              <a:rPr lang="en-US" b="1" dirty="0">
                <a:solidFill>
                  <a:srgbClr val="8064A2">
                    <a:lumMod val="50000"/>
                  </a:srgbClr>
                </a:solidFill>
                <a:latin typeface="AvantGarde Md BT" panose="020B0602020202020204" pitchFamily="34" charset="0"/>
              </a:rPr>
              <a:t>Identification</a:t>
            </a:r>
            <a:r>
              <a:rPr lang="en-US" dirty="0"/>
              <a:t> &amp; </a:t>
            </a:r>
            <a:r>
              <a:rPr lang="en-US" b="1" dirty="0">
                <a:solidFill>
                  <a:srgbClr val="8064A2">
                    <a:lumMod val="50000"/>
                  </a:srgbClr>
                </a:solidFill>
                <a:latin typeface="AvantGarde Md BT" panose="020B0602020202020204" pitchFamily="34" charset="0"/>
              </a:rPr>
              <a:t>Plant</a:t>
            </a:r>
            <a:r>
              <a:rPr lang="en-US" dirty="0"/>
              <a:t> </a:t>
            </a:r>
            <a:r>
              <a:rPr lang="en-US" b="1" dirty="0">
                <a:solidFill>
                  <a:srgbClr val="8064A2">
                    <a:lumMod val="50000"/>
                  </a:srgbClr>
                </a:solidFill>
                <a:latin typeface="AvantGarde Md BT" panose="020B0602020202020204" pitchFamily="34" charset="0"/>
              </a:rPr>
              <a:t>Parameters</a:t>
            </a:r>
            <a:endParaRPr lang="de-DE" b="1" dirty="0">
              <a:solidFill>
                <a:srgbClr val="8064A2">
                  <a:lumMod val="50000"/>
                </a:srgbClr>
              </a:solidFill>
              <a:latin typeface="AvantGarde Md BT" panose="020B0602020202020204" pitchFamily="34" charset="0"/>
            </a:endParaRPr>
          </a:p>
        </p:txBody>
      </p:sp>
      <p:pic>
        <p:nvPicPr>
          <p:cNvPr id="15" name="Picture 5" descr="I:\arrow.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788" y="394254"/>
            <a:ext cx="276225" cy="276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A5583BA-B400-8773-4191-7712732C1C09}"/>
              </a:ext>
            </a:extLst>
          </p:cNvPr>
          <p:cNvSpPr txBox="1"/>
          <p:nvPr/>
        </p:nvSpPr>
        <p:spPr>
          <a:xfrm>
            <a:off x="303788" y="884227"/>
            <a:ext cx="2747420" cy="369332"/>
          </a:xfrm>
          <a:prstGeom prst="rect">
            <a:avLst/>
          </a:prstGeom>
          <a:noFill/>
        </p:spPr>
        <p:txBody>
          <a:bodyPr wrap="square">
            <a:spAutoFit/>
          </a:bodyPr>
          <a:lstStyle/>
          <a:p>
            <a:r>
              <a:rPr lang="en-US" b="1" dirty="0"/>
              <a:t>Physical System Definition</a:t>
            </a:r>
          </a:p>
        </p:txBody>
      </p:sp>
      <p:graphicFrame>
        <p:nvGraphicFramePr>
          <p:cNvPr id="18" name="Diagram 17">
            <a:extLst>
              <a:ext uri="{FF2B5EF4-FFF2-40B4-BE49-F238E27FC236}">
                <a16:creationId xmlns:a16="http://schemas.microsoft.com/office/drawing/2014/main" id="{E2000E4C-36E8-F848-272E-2725B5585080}"/>
              </a:ext>
            </a:extLst>
          </p:cNvPr>
          <p:cNvGraphicFramePr/>
          <p:nvPr>
            <p:extLst>
              <p:ext uri="{D42A27DB-BD31-4B8C-83A1-F6EECF244321}">
                <p14:modId xmlns:p14="http://schemas.microsoft.com/office/powerpoint/2010/main" val="1541783698"/>
              </p:ext>
            </p:extLst>
          </p:nvPr>
        </p:nvGraphicFramePr>
        <p:xfrm>
          <a:off x="1820305" y="1382526"/>
          <a:ext cx="8551388" cy="17543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a:extLst>
              <a:ext uri="{FF2B5EF4-FFF2-40B4-BE49-F238E27FC236}">
                <a16:creationId xmlns:a16="http://schemas.microsoft.com/office/drawing/2014/main" id="{2257547E-B495-DC69-CBF5-8E5460418BFF}"/>
              </a:ext>
            </a:extLst>
          </p:cNvPr>
          <p:cNvSpPr txBox="1"/>
          <p:nvPr/>
        </p:nvSpPr>
        <p:spPr>
          <a:xfrm>
            <a:off x="456905" y="3265819"/>
            <a:ext cx="6097604" cy="369332"/>
          </a:xfrm>
          <a:prstGeom prst="rect">
            <a:avLst/>
          </a:prstGeom>
          <a:noFill/>
        </p:spPr>
        <p:txBody>
          <a:bodyPr wrap="square">
            <a:spAutoFit/>
          </a:bodyPr>
          <a:lstStyle/>
          <a:p>
            <a:r>
              <a:rPr lang="en-US" b="1" dirty="0"/>
              <a:t>Defined Plant Parameters</a:t>
            </a:r>
          </a:p>
        </p:txBody>
      </p:sp>
      <p:sp>
        <p:nvSpPr>
          <p:cNvPr id="11" name="TextBox 10">
            <a:extLst>
              <a:ext uri="{FF2B5EF4-FFF2-40B4-BE49-F238E27FC236}">
                <a16:creationId xmlns:a16="http://schemas.microsoft.com/office/drawing/2014/main" id="{EB09EDB5-D121-B88C-8B50-DC9117294CC9}"/>
              </a:ext>
            </a:extLst>
          </p:cNvPr>
          <p:cNvSpPr txBox="1"/>
          <p:nvPr/>
        </p:nvSpPr>
        <p:spPr>
          <a:xfrm>
            <a:off x="930114" y="3699634"/>
            <a:ext cx="9358162" cy="369332"/>
          </a:xfrm>
          <a:prstGeom prst="rect">
            <a:avLst/>
          </a:prstGeom>
          <a:noFill/>
        </p:spPr>
        <p:txBody>
          <a:bodyPr wrap="square">
            <a:spAutoFit/>
          </a:bodyPr>
          <a:lstStyle/>
          <a:p>
            <a:r>
              <a:rPr lang="en-US" dirty="0"/>
              <a:t>To perform a precise simulation, the following constant values must be established as the "Plant":</a:t>
            </a:r>
          </a:p>
        </p:txBody>
      </p:sp>
      <mc:AlternateContent xmlns:mc="http://schemas.openxmlformats.org/markup-compatibility/2006" xmlns:a14="http://schemas.microsoft.com/office/drawing/2010/main">
        <mc:Choice Requires="a14">
          <p:graphicFrame>
            <p:nvGraphicFramePr>
              <p:cNvPr id="20" name="Content Placeholder 14">
                <a:extLst>
                  <a:ext uri="{FF2B5EF4-FFF2-40B4-BE49-F238E27FC236}">
                    <a16:creationId xmlns:a16="http://schemas.microsoft.com/office/drawing/2014/main" id="{AD9BBBB4-85EF-FCF5-0EA7-E339CDF422CA}"/>
                  </a:ext>
                </a:extLst>
              </p:cNvPr>
              <p:cNvGraphicFramePr>
                <a:graphicFrameLocks noGrp="1"/>
              </p:cNvGraphicFramePr>
              <p:nvPr>
                <p:ph sz="quarter" idx="10"/>
                <p:extLst>
                  <p:ext uri="{D42A27DB-BD31-4B8C-83A1-F6EECF244321}">
                    <p14:modId xmlns:p14="http://schemas.microsoft.com/office/powerpoint/2010/main" val="1073683313"/>
                  </p:ext>
                </p:extLst>
              </p:nvPr>
            </p:nvGraphicFramePr>
            <p:xfrm>
              <a:off x="2781702" y="4133450"/>
              <a:ext cx="6050363" cy="2544279"/>
            </p:xfrm>
            <a:graphic>
              <a:graphicData uri="http://schemas.openxmlformats.org/drawingml/2006/table">
                <a:tbl>
                  <a:tblPr firstRow="1" bandRow="1">
                    <a:tableStyleId>{93296810-A885-4BE3-A3E7-6D5BEEA58F35}</a:tableStyleId>
                  </a:tblPr>
                  <a:tblGrid>
                    <a:gridCol w="2612169">
                      <a:extLst>
                        <a:ext uri="{9D8B030D-6E8A-4147-A177-3AD203B41FA5}">
                          <a16:colId xmlns:a16="http://schemas.microsoft.com/office/drawing/2014/main" val="1764765936"/>
                        </a:ext>
                      </a:extLst>
                    </a:gridCol>
                    <a:gridCol w="1032366">
                      <a:extLst>
                        <a:ext uri="{9D8B030D-6E8A-4147-A177-3AD203B41FA5}">
                          <a16:colId xmlns:a16="http://schemas.microsoft.com/office/drawing/2014/main" val="2217918418"/>
                        </a:ext>
                      </a:extLst>
                    </a:gridCol>
                    <a:gridCol w="1404915">
                      <a:extLst>
                        <a:ext uri="{9D8B030D-6E8A-4147-A177-3AD203B41FA5}">
                          <a16:colId xmlns:a16="http://schemas.microsoft.com/office/drawing/2014/main" val="4211706127"/>
                        </a:ext>
                      </a:extLst>
                    </a:gridCol>
                    <a:gridCol w="1000913">
                      <a:extLst>
                        <a:ext uri="{9D8B030D-6E8A-4147-A177-3AD203B41FA5}">
                          <a16:colId xmlns:a16="http://schemas.microsoft.com/office/drawing/2014/main" val="4036014078"/>
                        </a:ext>
                      </a:extLst>
                    </a:gridCol>
                  </a:tblGrid>
                  <a:tr h="358330">
                    <a:tc>
                      <a:txBody>
                        <a:bodyPr/>
                        <a:lstStyle/>
                        <a:p>
                          <a:pPr>
                            <a:buNone/>
                          </a:pPr>
                          <a:r>
                            <a:rPr lang="en-US" sz="1400" b="1" dirty="0">
                              <a:effectLst/>
                            </a:rPr>
                            <a:t>Parameter</a:t>
                          </a:r>
                          <a:endParaRPr lang="en-US" sz="1400" dirty="0">
                            <a:effectLst/>
                            <a:latin typeface="+mn-lt"/>
                          </a:endParaRPr>
                        </a:p>
                      </a:txBody>
                      <a:tcPr anchor="ctr"/>
                    </a:tc>
                    <a:tc>
                      <a:txBody>
                        <a:bodyPr/>
                        <a:lstStyle/>
                        <a:p>
                          <a:pPr>
                            <a:buNone/>
                          </a:pPr>
                          <a:r>
                            <a:rPr lang="en-US" sz="1400" b="1">
                              <a:effectLst/>
                            </a:rPr>
                            <a:t>Symbol</a:t>
                          </a:r>
                          <a:endParaRPr lang="en-US" sz="1400">
                            <a:effectLst/>
                            <a:latin typeface="+mn-lt"/>
                          </a:endParaRPr>
                        </a:p>
                      </a:txBody>
                      <a:tcPr anchor="ctr"/>
                    </a:tc>
                    <a:tc>
                      <a:txBody>
                        <a:bodyPr/>
                        <a:lstStyle/>
                        <a:p>
                          <a:pPr>
                            <a:buNone/>
                          </a:pPr>
                          <a:r>
                            <a:rPr lang="en-US" sz="1400" b="1">
                              <a:effectLst/>
                            </a:rPr>
                            <a:t>Value</a:t>
                          </a:r>
                          <a:endParaRPr lang="en-US" sz="1400">
                            <a:effectLst/>
                            <a:latin typeface="+mn-lt"/>
                          </a:endParaRPr>
                        </a:p>
                      </a:txBody>
                      <a:tcPr anchor="ctr"/>
                    </a:tc>
                    <a:tc>
                      <a:txBody>
                        <a:bodyPr/>
                        <a:lstStyle/>
                        <a:p>
                          <a:pPr>
                            <a:buNone/>
                          </a:pPr>
                          <a:r>
                            <a:rPr lang="en-US" sz="1400" b="1" dirty="0">
                              <a:effectLst/>
                            </a:rPr>
                            <a:t>Unit</a:t>
                          </a:r>
                          <a:endParaRPr lang="en-US" sz="1400" dirty="0">
                            <a:effectLst/>
                            <a:latin typeface="+mn-lt"/>
                          </a:endParaRPr>
                        </a:p>
                      </a:txBody>
                      <a:tcPr anchor="ctr"/>
                    </a:tc>
                    <a:extLst>
                      <a:ext uri="{0D108BD9-81ED-4DB2-BD59-A6C34878D82A}">
                        <a16:rowId xmlns:a16="http://schemas.microsoft.com/office/drawing/2014/main" val="3604750217"/>
                      </a:ext>
                    </a:extLst>
                  </a:tr>
                  <a:tr h="358330">
                    <a:tc>
                      <a:txBody>
                        <a:bodyPr/>
                        <a:lstStyle/>
                        <a:p>
                          <a:pPr>
                            <a:buNone/>
                          </a:pPr>
                          <a:r>
                            <a:rPr lang="en-US" sz="1400" b="1">
                              <a:effectLst/>
                            </a:rPr>
                            <a:t>Armature Resistance</a:t>
                          </a:r>
                          <a:endParaRPr lang="en-US" sz="1400">
                            <a:effectLst/>
                            <a:latin typeface="+mn-lt"/>
                          </a:endParaRPr>
                        </a:p>
                      </a:txBody>
                      <a:tcPr anchor="ctr"/>
                    </a:tc>
                    <a:tc>
                      <a:txBody>
                        <a:bodyPr/>
                        <a:lstStyle/>
                        <a:p>
                          <a:pPr>
                            <a:buNone/>
                          </a:pPr>
                          <a:r>
                            <a:rPr lang="en-US" sz="1400" dirty="0">
                              <a:effectLst/>
                            </a:rPr>
                            <a:t>R</a:t>
                          </a:r>
                          <a:endParaRPr lang="en-US" sz="1400" dirty="0">
                            <a:effectLst/>
                            <a:latin typeface="+mn-lt"/>
                          </a:endParaRPr>
                        </a:p>
                      </a:txBody>
                      <a:tcPr anchor="ctr"/>
                    </a:tc>
                    <a:tc>
                      <a:txBody>
                        <a:bodyPr/>
                        <a:lstStyle/>
                        <a:p>
                          <a:pPr>
                            <a:buNone/>
                          </a:pPr>
                          <a:r>
                            <a:rPr lang="en-US" sz="1400">
                              <a:effectLst/>
                            </a:rPr>
                            <a:t>1.0</a:t>
                          </a:r>
                          <a:endParaRPr lang="en-US" sz="1400">
                            <a:effectLst/>
                            <a:latin typeface="+mn-lt"/>
                          </a:endParaRPr>
                        </a:p>
                      </a:txBody>
                      <a:tcPr anchor="ctr"/>
                    </a:tc>
                    <a:tc>
                      <a:txBody>
                        <a:bodyPr/>
                        <a:lstStyle/>
                        <a:p>
                          <a:pPr>
                            <a:buNone/>
                          </a:pPr>
                          <a14:m>
                            <m:oMathPara xmlns:m="http://schemas.openxmlformats.org/officeDocument/2006/math">
                              <m:oMathParaPr>
                                <m:jc m:val="left"/>
                              </m:oMathParaPr>
                              <m:oMath xmlns:m="http://schemas.openxmlformats.org/officeDocument/2006/math">
                                <m:r>
                                  <m:rPr>
                                    <m:sty m:val="p"/>
                                  </m:rPr>
                                  <a:rPr lang="el-GR" sz="1400" smtClean="0">
                                    <a:effectLst/>
                                    <a:latin typeface="Cambria Math" panose="02040503050406030204" pitchFamily="18" charset="0"/>
                                  </a:rPr>
                                  <m:t>Ω</m:t>
                                </m:r>
                              </m:oMath>
                            </m:oMathPara>
                          </a14:m>
                          <a:endParaRPr lang="en-US" sz="1400" dirty="0">
                            <a:effectLst/>
                            <a:latin typeface="+mn-lt"/>
                          </a:endParaRPr>
                        </a:p>
                      </a:txBody>
                      <a:tcPr anchor="ctr"/>
                    </a:tc>
                    <a:extLst>
                      <a:ext uri="{0D108BD9-81ED-4DB2-BD59-A6C34878D82A}">
                        <a16:rowId xmlns:a16="http://schemas.microsoft.com/office/drawing/2014/main" val="4103842267"/>
                      </a:ext>
                    </a:extLst>
                  </a:tr>
                  <a:tr h="358330">
                    <a:tc>
                      <a:txBody>
                        <a:bodyPr/>
                        <a:lstStyle/>
                        <a:p>
                          <a:pPr>
                            <a:buNone/>
                          </a:pPr>
                          <a:r>
                            <a:rPr lang="en-US" sz="1400" b="1">
                              <a:effectLst/>
                            </a:rPr>
                            <a:t>Armature Inductance</a:t>
                          </a:r>
                          <a:endParaRPr lang="en-US" sz="1400">
                            <a:effectLst/>
                            <a:latin typeface="+mn-lt"/>
                          </a:endParaRPr>
                        </a:p>
                      </a:txBody>
                      <a:tcPr anchor="ctr"/>
                    </a:tc>
                    <a:tc>
                      <a:txBody>
                        <a:bodyPr/>
                        <a:lstStyle/>
                        <a:p>
                          <a:pPr>
                            <a:buNone/>
                          </a:pPr>
                          <a:r>
                            <a:rPr lang="en-US" sz="1400" dirty="0">
                              <a:effectLst/>
                            </a:rPr>
                            <a:t>L</a:t>
                          </a:r>
                          <a:endParaRPr lang="en-US" sz="1400" dirty="0">
                            <a:effectLst/>
                            <a:latin typeface="+mn-lt"/>
                          </a:endParaRPr>
                        </a:p>
                      </a:txBody>
                      <a:tcPr anchor="ctr"/>
                    </a:tc>
                    <a:tc>
                      <a:txBody>
                        <a:bodyPr/>
                        <a:lstStyle/>
                        <a:p>
                          <a:pPr>
                            <a:buNone/>
                          </a:pPr>
                          <a:r>
                            <a:rPr lang="en-US" sz="1400">
                              <a:effectLst/>
                            </a:rPr>
                            <a:t>0.5</a:t>
                          </a:r>
                          <a:endParaRPr lang="en-US" sz="1400">
                            <a:effectLst/>
                            <a:latin typeface="+mn-lt"/>
                          </a:endParaRPr>
                        </a:p>
                      </a:txBody>
                      <a:tcPr anchor="ctr"/>
                    </a:tc>
                    <a:tc>
                      <a:txBody>
                        <a:bodyPr/>
                        <a:lstStyle/>
                        <a:p>
                          <a:pPr>
                            <a:buNone/>
                          </a:pPr>
                          <a:r>
                            <a:rPr lang="en-US" sz="1400">
                              <a:effectLst/>
                            </a:rPr>
                            <a:t>H</a:t>
                          </a:r>
                          <a:endParaRPr lang="en-US" sz="1400">
                            <a:effectLst/>
                            <a:latin typeface="+mn-lt"/>
                          </a:endParaRPr>
                        </a:p>
                      </a:txBody>
                      <a:tcPr anchor="ctr"/>
                    </a:tc>
                    <a:extLst>
                      <a:ext uri="{0D108BD9-81ED-4DB2-BD59-A6C34878D82A}">
                        <a16:rowId xmlns:a16="http://schemas.microsoft.com/office/drawing/2014/main" val="2284424013"/>
                      </a:ext>
                    </a:extLst>
                  </a:tr>
                  <a:tr h="358330">
                    <a:tc>
                      <a:txBody>
                        <a:bodyPr/>
                        <a:lstStyle/>
                        <a:p>
                          <a:pPr>
                            <a:buNone/>
                          </a:pPr>
                          <a:r>
                            <a:rPr lang="en-US" sz="1400" b="1">
                              <a:effectLst/>
                            </a:rPr>
                            <a:t>Moment of Inertia</a:t>
                          </a:r>
                          <a:endParaRPr lang="en-US" sz="1400">
                            <a:effectLst/>
                            <a:latin typeface="+mn-lt"/>
                          </a:endParaRPr>
                        </a:p>
                      </a:txBody>
                      <a:tcPr anchor="ctr"/>
                    </a:tc>
                    <a:tc>
                      <a:txBody>
                        <a:bodyPr/>
                        <a:lstStyle/>
                        <a:p>
                          <a:pPr>
                            <a:buNone/>
                          </a:pPr>
                          <a:r>
                            <a:rPr lang="en-US" sz="1400" dirty="0">
                              <a:effectLst/>
                            </a:rPr>
                            <a:t>J</a:t>
                          </a:r>
                          <a:endParaRPr lang="en-US" sz="1400" dirty="0">
                            <a:effectLst/>
                            <a:latin typeface="+mn-lt"/>
                          </a:endParaRPr>
                        </a:p>
                      </a:txBody>
                      <a:tcPr anchor="ctr"/>
                    </a:tc>
                    <a:tc>
                      <a:txBody>
                        <a:bodyPr/>
                        <a:lstStyle/>
                        <a:p>
                          <a:pPr>
                            <a:buNone/>
                          </a:pPr>
                          <a:r>
                            <a:rPr lang="en-US" sz="1400">
                              <a:effectLst/>
                            </a:rPr>
                            <a:t>0.01</a:t>
                          </a:r>
                          <a:endParaRPr lang="en-US" sz="1400">
                            <a:effectLst/>
                            <a:latin typeface="+mn-lt"/>
                          </a:endParaRPr>
                        </a:p>
                      </a:txBody>
                      <a:tcPr anchor="ctr"/>
                    </a:tc>
                    <a:tc>
                      <a:txBody>
                        <a:bodyPr/>
                        <a:lstStyle/>
                        <a:p>
                          <a:pPr>
                            <a:buNone/>
                          </a:pPr>
                          <a:r>
                            <a:rPr lang="en-US" sz="1400">
                              <a:effectLst/>
                            </a:rPr>
                            <a:t>kg·m²</a:t>
                          </a:r>
                          <a:endParaRPr lang="en-US" sz="1400">
                            <a:effectLst/>
                            <a:latin typeface="+mn-lt"/>
                          </a:endParaRPr>
                        </a:p>
                      </a:txBody>
                      <a:tcPr anchor="ctr"/>
                    </a:tc>
                    <a:extLst>
                      <a:ext uri="{0D108BD9-81ED-4DB2-BD59-A6C34878D82A}">
                        <a16:rowId xmlns:a16="http://schemas.microsoft.com/office/drawing/2014/main" val="975680239"/>
                      </a:ext>
                    </a:extLst>
                  </a:tr>
                  <a:tr h="358330">
                    <a:tc>
                      <a:txBody>
                        <a:bodyPr/>
                        <a:lstStyle/>
                        <a:p>
                          <a:pPr>
                            <a:buNone/>
                          </a:pPr>
                          <a:r>
                            <a:rPr lang="en-US" sz="1400" b="1">
                              <a:effectLst/>
                            </a:rPr>
                            <a:t>Damping Coefficient</a:t>
                          </a:r>
                          <a:endParaRPr lang="en-US" sz="1400">
                            <a:effectLst/>
                            <a:latin typeface="+mn-lt"/>
                          </a:endParaRPr>
                        </a:p>
                      </a:txBody>
                      <a:tcPr anchor="ctr"/>
                    </a:tc>
                    <a:tc>
                      <a:txBody>
                        <a:bodyPr/>
                        <a:lstStyle/>
                        <a:p>
                          <a:pPr>
                            <a:buNone/>
                          </a:pPr>
                          <a:r>
                            <a:rPr lang="en-US" sz="1400" dirty="0">
                              <a:effectLst/>
                            </a:rPr>
                            <a:t>B</a:t>
                          </a:r>
                          <a:endParaRPr lang="en-US" sz="1400" dirty="0">
                            <a:effectLst/>
                            <a:latin typeface="+mn-lt"/>
                          </a:endParaRPr>
                        </a:p>
                      </a:txBody>
                      <a:tcPr anchor="ctr"/>
                    </a:tc>
                    <a:tc>
                      <a:txBody>
                        <a:bodyPr/>
                        <a:lstStyle/>
                        <a:p>
                          <a:pPr>
                            <a:buNone/>
                          </a:pPr>
                          <a:r>
                            <a:rPr lang="en-US" sz="1400">
                              <a:effectLst/>
                            </a:rPr>
                            <a:t>0.1</a:t>
                          </a:r>
                          <a:endParaRPr lang="en-US" sz="1400">
                            <a:effectLst/>
                            <a:latin typeface="+mn-lt"/>
                          </a:endParaRPr>
                        </a:p>
                      </a:txBody>
                      <a:tcPr anchor="ctr"/>
                    </a:tc>
                    <a:tc>
                      <a:txBody>
                        <a:bodyPr/>
                        <a:lstStyle/>
                        <a:p>
                          <a:pPr>
                            <a:buNone/>
                          </a:pPr>
                          <a:r>
                            <a:rPr lang="en-US" sz="1400">
                              <a:effectLst/>
                            </a:rPr>
                            <a:t>N·m·s</a:t>
                          </a:r>
                          <a:endParaRPr lang="en-US" sz="1400">
                            <a:effectLst/>
                            <a:latin typeface="+mn-lt"/>
                          </a:endParaRPr>
                        </a:p>
                      </a:txBody>
                      <a:tcPr anchor="ctr"/>
                    </a:tc>
                    <a:extLst>
                      <a:ext uri="{0D108BD9-81ED-4DB2-BD59-A6C34878D82A}">
                        <a16:rowId xmlns:a16="http://schemas.microsoft.com/office/drawing/2014/main" val="767733856"/>
                      </a:ext>
                    </a:extLst>
                  </a:tr>
                  <a:tr h="394299">
                    <a:tc>
                      <a:txBody>
                        <a:bodyPr/>
                        <a:lstStyle/>
                        <a:p>
                          <a:pPr>
                            <a:buNone/>
                          </a:pPr>
                          <a:r>
                            <a:rPr lang="en-US" sz="1400" b="1" dirty="0">
                              <a:effectLst/>
                            </a:rPr>
                            <a:t>Motor Torque Constant</a:t>
                          </a:r>
                          <a:endParaRPr lang="en-US" sz="1400" dirty="0">
                            <a:effectLst/>
                            <a:latin typeface="+mn-lt"/>
                          </a:endParaRPr>
                        </a:p>
                      </a:txBody>
                      <a:tcPr anchor="ctr"/>
                    </a:tc>
                    <a:tc>
                      <a:txBody>
                        <a:bodyPr/>
                        <a:lstStyle/>
                        <a:p>
                          <a:pPr>
                            <a:buNone/>
                          </a:pPr>
                          <a:r>
                            <a:rPr lang="en-US" sz="1400" dirty="0">
                              <a:effectLst/>
                            </a:rPr>
                            <a:t>Kt</a:t>
                          </a:r>
                          <a:endParaRPr lang="en-US" sz="1400" dirty="0">
                            <a:effectLst/>
                            <a:latin typeface="+mn-lt"/>
                          </a:endParaRPr>
                        </a:p>
                      </a:txBody>
                      <a:tcPr anchor="ctr"/>
                    </a:tc>
                    <a:tc>
                      <a:txBody>
                        <a:bodyPr/>
                        <a:lstStyle/>
                        <a:p>
                          <a:pPr>
                            <a:buNone/>
                          </a:pPr>
                          <a:r>
                            <a:rPr lang="en-US" sz="1400">
                              <a:effectLst/>
                            </a:rPr>
                            <a:t>0.01</a:t>
                          </a:r>
                          <a:endParaRPr lang="en-US" sz="1400">
                            <a:effectLst/>
                            <a:latin typeface="+mn-lt"/>
                          </a:endParaRPr>
                        </a:p>
                      </a:txBody>
                      <a:tcPr anchor="ctr"/>
                    </a:tc>
                    <a:tc>
                      <a:txBody>
                        <a:bodyPr/>
                        <a:lstStyle/>
                        <a:p>
                          <a:pPr>
                            <a:buNone/>
                          </a:pPr>
                          <a:r>
                            <a:rPr lang="en-US" sz="1400">
                              <a:effectLst/>
                            </a:rPr>
                            <a:t>N·m/A</a:t>
                          </a:r>
                          <a:endParaRPr lang="en-US" sz="1400">
                            <a:effectLst/>
                            <a:latin typeface="+mn-lt"/>
                          </a:endParaRPr>
                        </a:p>
                      </a:txBody>
                      <a:tcPr anchor="ctr"/>
                    </a:tc>
                    <a:extLst>
                      <a:ext uri="{0D108BD9-81ED-4DB2-BD59-A6C34878D82A}">
                        <a16:rowId xmlns:a16="http://schemas.microsoft.com/office/drawing/2014/main" val="965297464"/>
                      </a:ext>
                    </a:extLst>
                  </a:tr>
                  <a:tr h="358330">
                    <a:tc>
                      <a:txBody>
                        <a:bodyPr/>
                        <a:lstStyle/>
                        <a:p>
                          <a:pPr>
                            <a:buNone/>
                          </a:pPr>
                          <a:r>
                            <a:rPr lang="en-US" sz="1400" b="1">
                              <a:effectLst/>
                            </a:rPr>
                            <a:t>Back-EMF Constant</a:t>
                          </a:r>
                          <a:endParaRPr lang="en-US" sz="1400">
                            <a:effectLst/>
                            <a:latin typeface="+mn-lt"/>
                          </a:endParaRPr>
                        </a:p>
                      </a:txBody>
                      <a:tcPr anchor="ctr"/>
                    </a:tc>
                    <a:tc>
                      <a:txBody>
                        <a:bodyPr/>
                        <a:lstStyle/>
                        <a:p>
                          <a:pPr>
                            <a:buNone/>
                          </a:pPr>
                          <a:r>
                            <a:rPr lang="en-US" sz="1400" dirty="0" err="1">
                              <a:effectLst/>
                            </a:rPr>
                            <a:t>Kb</a:t>
                          </a:r>
                          <a:endParaRPr lang="en-US" sz="1400" dirty="0">
                            <a:effectLst/>
                            <a:latin typeface="+mn-lt"/>
                          </a:endParaRPr>
                        </a:p>
                      </a:txBody>
                      <a:tcPr anchor="ctr"/>
                    </a:tc>
                    <a:tc>
                      <a:txBody>
                        <a:bodyPr/>
                        <a:lstStyle/>
                        <a:p>
                          <a:pPr>
                            <a:buNone/>
                          </a:pPr>
                          <a:r>
                            <a:rPr lang="en-US" sz="1400">
                              <a:effectLst/>
                            </a:rPr>
                            <a:t>0.01</a:t>
                          </a:r>
                          <a:endParaRPr lang="en-US" sz="1400">
                            <a:effectLst/>
                            <a:latin typeface="+mn-lt"/>
                          </a:endParaRPr>
                        </a:p>
                      </a:txBody>
                      <a:tcPr anchor="ctr"/>
                    </a:tc>
                    <a:tc>
                      <a:txBody>
                        <a:bodyPr/>
                        <a:lstStyle/>
                        <a:p>
                          <a:pPr>
                            <a:buNone/>
                          </a:pPr>
                          <a:r>
                            <a:rPr lang="en-US" sz="1400" dirty="0">
                              <a:effectLst/>
                            </a:rPr>
                            <a:t>V·s/rad</a:t>
                          </a:r>
                          <a:endParaRPr lang="en-US" sz="1400" dirty="0">
                            <a:effectLst/>
                            <a:latin typeface="+mn-lt"/>
                          </a:endParaRPr>
                        </a:p>
                      </a:txBody>
                      <a:tcPr anchor="ctr"/>
                    </a:tc>
                    <a:extLst>
                      <a:ext uri="{0D108BD9-81ED-4DB2-BD59-A6C34878D82A}">
                        <a16:rowId xmlns:a16="http://schemas.microsoft.com/office/drawing/2014/main" val="3347888852"/>
                      </a:ext>
                    </a:extLst>
                  </a:tr>
                </a:tbl>
              </a:graphicData>
            </a:graphic>
          </p:graphicFrame>
        </mc:Choice>
        <mc:Fallback xmlns="">
          <p:graphicFrame>
            <p:nvGraphicFramePr>
              <p:cNvPr id="20" name="Content Placeholder 14">
                <a:extLst>
                  <a:ext uri="{FF2B5EF4-FFF2-40B4-BE49-F238E27FC236}">
                    <a16:creationId xmlns:a16="http://schemas.microsoft.com/office/drawing/2014/main" id="{AD9BBBB4-85EF-FCF5-0EA7-E339CDF422CA}"/>
                  </a:ext>
                </a:extLst>
              </p:cNvPr>
              <p:cNvGraphicFramePr>
                <a:graphicFrameLocks noGrp="1"/>
              </p:cNvGraphicFramePr>
              <p:nvPr>
                <p:ph sz="quarter" idx="10"/>
                <p:extLst>
                  <p:ext uri="{D42A27DB-BD31-4B8C-83A1-F6EECF244321}">
                    <p14:modId xmlns:p14="http://schemas.microsoft.com/office/powerpoint/2010/main" val="1073683313"/>
                  </p:ext>
                </p:extLst>
              </p:nvPr>
            </p:nvGraphicFramePr>
            <p:xfrm>
              <a:off x="2781702" y="4133450"/>
              <a:ext cx="6050363" cy="2544279"/>
            </p:xfrm>
            <a:graphic>
              <a:graphicData uri="http://schemas.openxmlformats.org/drawingml/2006/table">
                <a:tbl>
                  <a:tblPr firstRow="1" bandRow="1">
                    <a:tableStyleId>{93296810-A885-4BE3-A3E7-6D5BEEA58F35}</a:tableStyleId>
                  </a:tblPr>
                  <a:tblGrid>
                    <a:gridCol w="2612169">
                      <a:extLst>
                        <a:ext uri="{9D8B030D-6E8A-4147-A177-3AD203B41FA5}">
                          <a16:colId xmlns:a16="http://schemas.microsoft.com/office/drawing/2014/main" val="1764765936"/>
                        </a:ext>
                      </a:extLst>
                    </a:gridCol>
                    <a:gridCol w="1032366">
                      <a:extLst>
                        <a:ext uri="{9D8B030D-6E8A-4147-A177-3AD203B41FA5}">
                          <a16:colId xmlns:a16="http://schemas.microsoft.com/office/drawing/2014/main" val="2217918418"/>
                        </a:ext>
                      </a:extLst>
                    </a:gridCol>
                    <a:gridCol w="1404915">
                      <a:extLst>
                        <a:ext uri="{9D8B030D-6E8A-4147-A177-3AD203B41FA5}">
                          <a16:colId xmlns:a16="http://schemas.microsoft.com/office/drawing/2014/main" val="4211706127"/>
                        </a:ext>
                      </a:extLst>
                    </a:gridCol>
                    <a:gridCol w="1000913">
                      <a:extLst>
                        <a:ext uri="{9D8B030D-6E8A-4147-A177-3AD203B41FA5}">
                          <a16:colId xmlns:a16="http://schemas.microsoft.com/office/drawing/2014/main" val="4036014078"/>
                        </a:ext>
                      </a:extLst>
                    </a:gridCol>
                  </a:tblGrid>
                  <a:tr h="358330">
                    <a:tc>
                      <a:txBody>
                        <a:bodyPr/>
                        <a:lstStyle/>
                        <a:p>
                          <a:pPr>
                            <a:buNone/>
                          </a:pPr>
                          <a:r>
                            <a:rPr lang="en-US" sz="1400" b="1" dirty="0">
                              <a:effectLst/>
                            </a:rPr>
                            <a:t>Parameter</a:t>
                          </a:r>
                          <a:endParaRPr lang="en-US" sz="1400" dirty="0">
                            <a:effectLst/>
                            <a:latin typeface="+mn-lt"/>
                          </a:endParaRPr>
                        </a:p>
                      </a:txBody>
                      <a:tcPr anchor="ctr"/>
                    </a:tc>
                    <a:tc>
                      <a:txBody>
                        <a:bodyPr/>
                        <a:lstStyle/>
                        <a:p>
                          <a:pPr>
                            <a:buNone/>
                          </a:pPr>
                          <a:r>
                            <a:rPr lang="en-US" sz="1400" b="1">
                              <a:effectLst/>
                            </a:rPr>
                            <a:t>Symbol</a:t>
                          </a:r>
                          <a:endParaRPr lang="en-US" sz="1400">
                            <a:effectLst/>
                            <a:latin typeface="+mn-lt"/>
                          </a:endParaRPr>
                        </a:p>
                      </a:txBody>
                      <a:tcPr anchor="ctr"/>
                    </a:tc>
                    <a:tc>
                      <a:txBody>
                        <a:bodyPr/>
                        <a:lstStyle/>
                        <a:p>
                          <a:pPr>
                            <a:buNone/>
                          </a:pPr>
                          <a:r>
                            <a:rPr lang="en-US" sz="1400" b="1">
                              <a:effectLst/>
                            </a:rPr>
                            <a:t>Value</a:t>
                          </a:r>
                          <a:endParaRPr lang="en-US" sz="1400">
                            <a:effectLst/>
                            <a:latin typeface="+mn-lt"/>
                          </a:endParaRPr>
                        </a:p>
                      </a:txBody>
                      <a:tcPr anchor="ctr"/>
                    </a:tc>
                    <a:tc>
                      <a:txBody>
                        <a:bodyPr/>
                        <a:lstStyle/>
                        <a:p>
                          <a:pPr>
                            <a:buNone/>
                          </a:pPr>
                          <a:r>
                            <a:rPr lang="en-US" sz="1400" b="1" dirty="0">
                              <a:effectLst/>
                            </a:rPr>
                            <a:t>Unit</a:t>
                          </a:r>
                          <a:endParaRPr lang="en-US" sz="1400" dirty="0">
                            <a:effectLst/>
                            <a:latin typeface="+mn-lt"/>
                          </a:endParaRPr>
                        </a:p>
                      </a:txBody>
                      <a:tcPr anchor="ctr"/>
                    </a:tc>
                    <a:extLst>
                      <a:ext uri="{0D108BD9-81ED-4DB2-BD59-A6C34878D82A}">
                        <a16:rowId xmlns:a16="http://schemas.microsoft.com/office/drawing/2014/main" val="3604750217"/>
                      </a:ext>
                    </a:extLst>
                  </a:tr>
                  <a:tr h="358330">
                    <a:tc>
                      <a:txBody>
                        <a:bodyPr/>
                        <a:lstStyle/>
                        <a:p>
                          <a:pPr>
                            <a:buNone/>
                          </a:pPr>
                          <a:r>
                            <a:rPr lang="en-US" sz="1400" b="1">
                              <a:effectLst/>
                            </a:rPr>
                            <a:t>Armature Resistance</a:t>
                          </a:r>
                          <a:endParaRPr lang="en-US" sz="1400">
                            <a:effectLst/>
                            <a:latin typeface="+mn-lt"/>
                          </a:endParaRPr>
                        </a:p>
                      </a:txBody>
                      <a:tcPr anchor="ctr"/>
                    </a:tc>
                    <a:tc>
                      <a:txBody>
                        <a:bodyPr/>
                        <a:lstStyle/>
                        <a:p>
                          <a:pPr>
                            <a:buNone/>
                          </a:pPr>
                          <a:r>
                            <a:rPr lang="en-US" sz="1400" dirty="0">
                              <a:effectLst/>
                            </a:rPr>
                            <a:t>R</a:t>
                          </a:r>
                          <a:endParaRPr lang="en-US" sz="1400" dirty="0">
                            <a:effectLst/>
                            <a:latin typeface="+mn-lt"/>
                          </a:endParaRPr>
                        </a:p>
                      </a:txBody>
                      <a:tcPr anchor="ctr"/>
                    </a:tc>
                    <a:tc>
                      <a:txBody>
                        <a:bodyPr/>
                        <a:lstStyle/>
                        <a:p>
                          <a:pPr>
                            <a:buNone/>
                          </a:pPr>
                          <a:r>
                            <a:rPr lang="en-US" sz="1400">
                              <a:effectLst/>
                            </a:rPr>
                            <a:t>1.0</a:t>
                          </a:r>
                          <a:endParaRPr lang="en-US" sz="1400">
                            <a:effectLst/>
                            <a:latin typeface="+mn-lt"/>
                          </a:endParaRPr>
                        </a:p>
                      </a:txBody>
                      <a:tcPr anchor="ctr"/>
                    </a:tc>
                    <a:tc>
                      <a:txBody>
                        <a:bodyPr/>
                        <a:lstStyle/>
                        <a:p>
                          <a:endParaRPr lang="en-US"/>
                        </a:p>
                      </a:txBody>
                      <a:tcPr anchor="ctr">
                        <a:blipFill>
                          <a:blip r:embed="rId9"/>
                          <a:stretch>
                            <a:fillRect l="-505063" t="-100000" r="-2532" b="-506897"/>
                          </a:stretch>
                        </a:blipFill>
                      </a:tcPr>
                    </a:tc>
                    <a:extLst>
                      <a:ext uri="{0D108BD9-81ED-4DB2-BD59-A6C34878D82A}">
                        <a16:rowId xmlns:a16="http://schemas.microsoft.com/office/drawing/2014/main" val="4103842267"/>
                      </a:ext>
                    </a:extLst>
                  </a:tr>
                  <a:tr h="358330">
                    <a:tc>
                      <a:txBody>
                        <a:bodyPr/>
                        <a:lstStyle/>
                        <a:p>
                          <a:pPr>
                            <a:buNone/>
                          </a:pPr>
                          <a:r>
                            <a:rPr lang="en-US" sz="1400" b="1">
                              <a:effectLst/>
                            </a:rPr>
                            <a:t>Armature Inductance</a:t>
                          </a:r>
                          <a:endParaRPr lang="en-US" sz="1400">
                            <a:effectLst/>
                            <a:latin typeface="+mn-lt"/>
                          </a:endParaRPr>
                        </a:p>
                      </a:txBody>
                      <a:tcPr anchor="ctr"/>
                    </a:tc>
                    <a:tc>
                      <a:txBody>
                        <a:bodyPr/>
                        <a:lstStyle/>
                        <a:p>
                          <a:pPr>
                            <a:buNone/>
                          </a:pPr>
                          <a:r>
                            <a:rPr lang="en-US" sz="1400" dirty="0">
                              <a:effectLst/>
                            </a:rPr>
                            <a:t>L</a:t>
                          </a:r>
                          <a:endParaRPr lang="en-US" sz="1400" dirty="0">
                            <a:effectLst/>
                            <a:latin typeface="+mn-lt"/>
                          </a:endParaRPr>
                        </a:p>
                      </a:txBody>
                      <a:tcPr anchor="ctr"/>
                    </a:tc>
                    <a:tc>
                      <a:txBody>
                        <a:bodyPr/>
                        <a:lstStyle/>
                        <a:p>
                          <a:pPr>
                            <a:buNone/>
                          </a:pPr>
                          <a:r>
                            <a:rPr lang="en-US" sz="1400">
                              <a:effectLst/>
                            </a:rPr>
                            <a:t>0.5</a:t>
                          </a:r>
                          <a:endParaRPr lang="en-US" sz="1400">
                            <a:effectLst/>
                            <a:latin typeface="+mn-lt"/>
                          </a:endParaRPr>
                        </a:p>
                      </a:txBody>
                      <a:tcPr anchor="ctr"/>
                    </a:tc>
                    <a:tc>
                      <a:txBody>
                        <a:bodyPr/>
                        <a:lstStyle/>
                        <a:p>
                          <a:pPr>
                            <a:buNone/>
                          </a:pPr>
                          <a:r>
                            <a:rPr lang="en-US" sz="1400">
                              <a:effectLst/>
                            </a:rPr>
                            <a:t>H</a:t>
                          </a:r>
                          <a:endParaRPr lang="en-US" sz="1400">
                            <a:effectLst/>
                            <a:latin typeface="+mn-lt"/>
                          </a:endParaRPr>
                        </a:p>
                      </a:txBody>
                      <a:tcPr anchor="ctr"/>
                    </a:tc>
                    <a:extLst>
                      <a:ext uri="{0D108BD9-81ED-4DB2-BD59-A6C34878D82A}">
                        <a16:rowId xmlns:a16="http://schemas.microsoft.com/office/drawing/2014/main" val="2284424013"/>
                      </a:ext>
                    </a:extLst>
                  </a:tr>
                  <a:tr h="358330">
                    <a:tc>
                      <a:txBody>
                        <a:bodyPr/>
                        <a:lstStyle/>
                        <a:p>
                          <a:pPr>
                            <a:buNone/>
                          </a:pPr>
                          <a:r>
                            <a:rPr lang="en-US" sz="1400" b="1">
                              <a:effectLst/>
                            </a:rPr>
                            <a:t>Moment of Inertia</a:t>
                          </a:r>
                          <a:endParaRPr lang="en-US" sz="1400">
                            <a:effectLst/>
                            <a:latin typeface="+mn-lt"/>
                          </a:endParaRPr>
                        </a:p>
                      </a:txBody>
                      <a:tcPr anchor="ctr"/>
                    </a:tc>
                    <a:tc>
                      <a:txBody>
                        <a:bodyPr/>
                        <a:lstStyle/>
                        <a:p>
                          <a:pPr>
                            <a:buNone/>
                          </a:pPr>
                          <a:r>
                            <a:rPr lang="en-US" sz="1400" dirty="0">
                              <a:effectLst/>
                            </a:rPr>
                            <a:t>J</a:t>
                          </a:r>
                          <a:endParaRPr lang="en-US" sz="1400" dirty="0">
                            <a:effectLst/>
                            <a:latin typeface="+mn-lt"/>
                          </a:endParaRPr>
                        </a:p>
                      </a:txBody>
                      <a:tcPr anchor="ctr"/>
                    </a:tc>
                    <a:tc>
                      <a:txBody>
                        <a:bodyPr/>
                        <a:lstStyle/>
                        <a:p>
                          <a:pPr>
                            <a:buNone/>
                          </a:pPr>
                          <a:r>
                            <a:rPr lang="en-US" sz="1400">
                              <a:effectLst/>
                            </a:rPr>
                            <a:t>0.01</a:t>
                          </a:r>
                          <a:endParaRPr lang="en-US" sz="1400">
                            <a:effectLst/>
                            <a:latin typeface="+mn-lt"/>
                          </a:endParaRPr>
                        </a:p>
                      </a:txBody>
                      <a:tcPr anchor="ctr"/>
                    </a:tc>
                    <a:tc>
                      <a:txBody>
                        <a:bodyPr/>
                        <a:lstStyle/>
                        <a:p>
                          <a:pPr>
                            <a:buNone/>
                          </a:pPr>
                          <a:r>
                            <a:rPr lang="en-US" sz="1400">
                              <a:effectLst/>
                            </a:rPr>
                            <a:t>kg·m²</a:t>
                          </a:r>
                          <a:endParaRPr lang="en-US" sz="1400">
                            <a:effectLst/>
                            <a:latin typeface="+mn-lt"/>
                          </a:endParaRPr>
                        </a:p>
                      </a:txBody>
                      <a:tcPr anchor="ctr"/>
                    </a:tc>
                    <a:extLst>
                      <a:ext uri="{0D108BD9-81ED-4DB2-BD59-A6C34878D82A}">
                        <a16:rowId xmlns:a16="http://schemas.microsoft.com/office/drawing/2014/main" val="975680239"/>
                      </a:ext>
                    </a:extLst>
                  </a:tr>
                  <a:tr h="358330">
                    <a:tc>
                      <a:txBody>
                        <a:bodyPr/>
                        <a:lstStyle/>
                        <a:p>
                          <a:pPr>
                            <a:buNone/>
                          </a:pPr>
                          <a:r>
                            <a:rPr lang="en-US" sz="1400" b="1">
                              <a:effectLst/>
                            </a:rPr>
                            <a:t>Damping Coefficient</a:t>
                          </a:r>
                          <a:endParaRPr lang="en-US" sz="1400">
                            <a:effectLst/>
                            <a:latin typeface="+mn-lt"/>
                          </a:endParaRPr>
                        </a:p>
                      </a:txBody>
                      <a:tcPr anchor="ctr"/>
                    </a:tc>
                    <a:tc>
                      <a:txBody>
                        <a:bodyPr/>
                        <a:lstStyle/>
                        <a:p>
                          <a:pPr>
                            <a:buNone/>
                          </a:pPr>
                          <a:r>
                            <a:rPr lang="en-US" sz="1400" dirty="0">
                              <a:effectLst/>
                            </a:rPr>
                            <a:t>B</a:t>
                          </a:r>
                          <a:endParaRPr lang="en-US" sz="1400" dirty="0">
                            <a:effectLst/>
                            <a:latin typeface="+mn-lt"/>
                          </a:endParaRPr>
                        </a:p>
                      </a:txBody>
                      <a:tcPr anchor="ctr"/>
                    </a:tc>
                    <a:tc>
                      <a:txBody>
                        <a:bodyPr/>
                        <a:lstStyle/>
                        <a:p>
                          <a:pPr>
                            <a:buNone/>
                          </a:pPr>
                          <a:r>
                            <a:rPr lang="en-US" sz="1400">
                              <a:effectLst/>
                            </a:rPr>
                            <a:t>0.1</a:t>
                          </a:r>
                          <a:endParaRPr lang="en-US" sz="1400">
                            <a:effectLst/>
                            <a:latin typeface="+mn-lt"/>
                          </a:endParaRPr>
                        </a:p>
                      </a:txBody>
                      <a:tcPr anchor="ctr"/>
                    </a:tc>
                    <a:tc>
                      <a:txBody>
                        <a:bodyPr/>
                        <a:lstStyle/>
                        <a:p>
                          <a:pPr>
                            <a:buNone/>
                          </a:pPr>
                          <a:r>
                            <a:rPr lang="en-US" sz="1400">
                              <a:effectLst/>
                            </a:rPr>
                            <a:t>N·m·s</a:t>
                          </a:r>
                          <a:endParaRPr lang="en-US" sz="1400">
                            <a:effectLst/>
                            <a:latin typeface="+mn-lt"/>
                          </a:endParaRPr>
                        </a:p>
                      </a:txBody>
                      <a:tcPr anchor="ctr"/>
                    </a:tc>
                    <a:extLst>
                      <a:ext uri="{0D108BD9-81ED-4DB2-BD59-A6C34878D82A}">
                        <a16:rowId xmlns:a16="http://schemas.microsoft.com/office/drawing/2014/main" val="767733856"/>
                      </a:ext>
                    </a:extLst>
                  </a:tr>
                  <a:tr h="394299">
                    <a:tc>
                      <a:txBody>
                        <a:bodyPr/>
                        <a:lstStyle/>
                        <a:p>
                          <a:pPr>
                            <a:buNone/>
                          </a:pPr>
                          <a:r>
                            <a:rPr lang="en-US" sz="1400" b="1" dirty="0">
                              <a:effectLst/>
                            </a:rPr>
                            <a:t>Motor Torque Constant</a:t>
                          </a:r>
                          <a:endParaRPr lang="en-US" sz="1400" dirty="0">
                            <a:effectLst/>
                            <a:latin typeface="+mn-lt"/>
                          </a:endParaRPr>
                        </a:p>
                      </a:txBody>
                      <a:tcPr anchor="ctr"/>
                    </a:tc>
                    <a:tc>
                      <a:txBody>
                        <a:bodyPr/>
                        <a:lstStyle/>
                        <a:p>
                          <a:pPr>
                            <a:buNone/>
                          </a:pPr>
                          <a:r>
                            <a:rPr lang="en-US" sz="1400" dirty="0">
                              <a:effectLst/>
                            </a:rPr>
                            <a:t>Kt</a:t>
                          </a:r>
                          <a:endParaRPr lang="en-US" sz="1400" dirty="0">
                            <a:effectLst/>
                            <a:latin typeface="+mn-lt"/>
                          </a:endParaRPr>
                        </a:p>
                      </a:txBody>
                      <a:tcPr anchor="ctr"/>
                    </a:tc>
                    <a:tc>
                      <a:txBody>
                        <a:bodyPr/>
                        <a:lstStyle/>
                        <a:p>
                          <a:pPr>
                            <a:buNone/>
                          </a:pPr>
                          <a:r>
                            <a:rPr lang="en-US" sz="1400">
                              <a:effectLst/>
                            </a:rPr>
                            <a:t>0.01</a:t>
                          </a:r>
                          <a:endParaRPr lang="en-US" sz="1400">
                            <a:effectLst/>
                            <a:latin typeface="+mn-lt"/>
                          </a:endParaRPr>
                        </a:p>
                      </a:txBody>
                      <a:tcPr anchor="ctr"/>
                    </a:tc>
                    <a:tc>
                      <a:txBody>
                        <a:bodyPr/>
                        <a:lstStyle/>
                        <a:p>
                          <a:pPr>
                            <a:buNone/>
                          </a:pPr>
                          <a:r>
                            <a:rPr lang="en-US" sz="1400">
                              <a:effectLst/>
                            </a:rPr>
                            <a:t>N·m/A</a:t>
                          </a:r>
                          <a:endParaRPr lang="en-US" sz="1400">
                            <a:effectLst/>
                            <a:latin typeface="+mn-lt"/>
                          </a:endParaRPr>
                        </a:p>
                      </a:txBody>
                      <a:tcPr anchor="ctr"/>
                    </a:tc>
                    <a:extLst>
                      <a:ext uri="{0D108BD9-81ED-4DB2-BD59-A6C34878D82A}">
                        <a16:rowId xmlns:a16="http://schemas.microsoft.com/office/drawing/2014/main" val="965297464"/>
                      </a:ext>
                    </a:extLst>
                  </a:tr>
                  <a:tr h="358330">
                    <a:tc>
                      <a:txBody>
                        <a:bodyPr/>
                        <a:lstStyle/>
                        <a:p>
                          <a:pPr>
                            <a:buNone/>
                          </a:pPr>
                          <a:r>
                            <a:rPr lang="en-US" sz="1400" b="1">
                              <a:effectLst/>
                            </a:rPr>
                            <a:t>Back-EMF Constant</a:t>
                          </a:r>
                          <a:endParaRPr lang="en-US" sz="1400">
                            <a:effectLst/>
                            <a:latin typeface="+mn-lt"/>
                          </a:endParaRPr>
                        </a:p>
                      </a:txBody>
                      <a:tcPr anchor="ctr"/>
                    </a:tc>
                    <a:tc>
                      <a:txBody>
                        <a:bodyPr/>
                        <a:lstStyle/>
                        <a:p>
                          <a:pPr>
                            <a:buNone/>
                          </a:pPr>
                          <a:r>
                            <a:rPr lang="en-US" sz="1400" dirty="0" err="1">
                              <a:effectLst/>
                            </a:rPr>
                            <a:t>Kb</a:t>
                          </a:r>
                          <a:endParaRPr lang="en-US" sz="1400" dirty="0">
                            <a:effectLst/>
                            <a:latin typeface="+mn-lt"/>
                          </a:endParaRPr>
                        </a:p>
                      </a:txBody>
                      <a:tcPr anchor="ctr"/>
                    </a:tc>
                    <a:tc>
                      <a:txBody>
                        <a:bodyPr/>
                        <a:lstStyle/>
                        <a:p>
                          <a:pPr>
                            <a:buNone/>
                          </a:pPr>
                          <a:r>
                            <a:rPr lang="en-US" sz="1400">
                              <a:effectLst/>
                            </a:rPr>
                            <a:t>0.01</a:t>
                          </a:r>
                          <a:endParaRPr lang="en-US" sz="1400">
                            <a:effectLst/>
                            <a:latin typeface="+mn-lt"/>
                          </a:endParaRPr>
                        </a:p>
                      </a:txBody>
                      <a:tcPr anchor="ctr"/>
                    </a:tc>
                    <a:tc>
                      <a:txBody>
                        <a:bodyPr/>
                        <a:lstStyle/>
                        <a:p>
                          <a:pPr>
                            <a:buNone/>
                          </a:pPr>
                          <a:r>
                            <a:rPr lang="en-US" sz="1400" dirty="0">
                              <a:effectLst/>
                            </a:rPr>
                            <a:t>V·s/rad</a:t>
                          </a:r>
                          <a:endParaRPr lang="en-US" sz="1400" dirty="0">
                            <a:effectLst/>
                            <a:latin typeface="+mn-lt"/>
                          </a:endParaRPr>
                        </a:p>
                      </a:txBody>
                      <a:tcPr anchor="ctr"/>
                    </a:tc>
                    <a:extLst>
                      <a:ext uri="{0D108BD9-81ED-4DB2-BD59-A6C34878D82A}">
                        <a16:rowId xmlns:a16="http://schemas.microsoft.com/office/drawing/2014/main" val="3347888852"/>
                      </a:ext>
                    </a:extLst>
                  </a:tr>
                </a:tbl>
              </a:graphicData>
            </a:graphic>
          </p:graphicFrame>
        </mc:Fallback>
      </mc:AlternateContent>
    </p:spTree>
    <p:extLst>
      <p:ext uri="{BB962C8B-B14F-4D97-AF65-F5344CB8AC3E}">
        <p14:creationId xmlns:p14="http://schemas.microsoft.com/office/powerpoint/2010/main" val="1071468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D5FCCCE-141F-F2F1-925A-C9BBC96CFBD8}"/>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43C34E48-9505-F7AB-D2D8-9B5BC3B50B5D}"/>
              </a:ext>
            </a:extLst>
          </p:cNvPr>
          <p:cNvSpPr>
            <a:spLocks noGrp="1"/>
          </p:cNvSpPr>
          <p:nvPr>
            <p:ph type="sldNum" sz="quarter" idx="15"/>
          </p:nvPr>
        </p:nvSpPr>
        <p:spPr/>
        <p:txBody>
          <a:bodyPr/>
          <a:lstStyle/>
          <a:p>
            <a:fld id="{05FEBB84-A833-4D9F-8E64-647D4209DE1B}" type="slidenum">
              <a:rPr lang="de-DE" smtClean="0"/>
              <a:t>5</a:t>
            </a:fld>
            <a:endParaRPr lang="de-DE" dirty="0"/>
          </a:p>
        </p:txBody>
      </p:sp>
      <p:sp>
        <p:nvSpPr>
          <p:cNvPr id="8" name="TextBox 7">
            <a:extLst>
              <a:ext uri="{FF2B5EF4-FFF2-40B4-BE49-F238E27FC236}">
                <a16:creationId xmlns:a16="http://schemas.microsoft.com/office/drawing/2014/main" id="{97DCFAD4-5395-DB1B-B8A2-2E4C1CDCBA6C}"/>
              </a:ext>
            </a:extLst>
          </p:cNvPr>
          <p:cNvSpPr txBox="1"/>
          <p:nvPr/>
        </p:nvSpPr>
        <p:spPr>
          <a:xfrm>
            <a:off x="238225" y="311035"/>
            <a:ext cx="6097604" cy="369332"/>
          </a:xfrm>
          <a:prstGeom prst="rect">
            <a:avLst/>
          </a:prstGeom>
          <a:noFill/>
        </p:spPr>
        <p:txBody>
          <a:bodyPr wrap="square">
            <a:spAutoFit/>
          </a:bodyPr>
          <a:lstStyle/>
          <a:p>
            <a:pPr marL="285750" indent="-285750">
              <a:buFont typeface="Wingdings" pitchFamily="2" charset="2"/>
              <a:buChar char="v"/>
            </a:pPr>
            <a:r>
              <a:rPr lang="en-US" b="1" u="sng" dirty="0"/>
              <a:t>The "Electromechanical Bridge" (</a:t>
            </a:r>
            <a:r>
              <a:rPr lang="en-US" b="1" u="sng" dirty="0">
                <a:effectLst/>
                <a:latin typeface="Google Sans Text"/>
              </a:rPr>
              <a:t>K</a:t>
            </a:r>
            <a:r>
              <a:rPr lang="en-US" b="1" u="sng" baseline="-25000" dirty="0">
                <a:effectLst/>
                <a:latin typeface="Google Sans Text"/>
              </a:rPr>
              <a:t>t</a:t>
            </a:r>
            <a:r>
              <a:rPr lang="en-US" b="1" u="sng" dirty="0"/>
              <a:t> and </a:t>
            </a:r>
            <a:r>
              <a:rPr lang="en-US" b="1" u="sng" dirty="0" err="1">
                <a:effectLst/>
                <a:latin typeface="Google Sans Text"/>
              </a:rPr>
              <a:t>K</a:t>
            </a:r>
            <a:r>
              <a:rPr lang="en-US" b="1" u="sng" baseline="-25000" dirty="0" err="1">
                <a:effectLst/>
                <a:latin typeface="Google Sans Text"/>
              </a:rPr>
              <a:t>b</a:t>
            </a:r>
            <a:r>
              <a:rPr lang="en-US" b="1" u="sng" dirty="0"/>
              <a:t>)</a:t>
            </a:r>
          </a:p>
        </p:txBody>
      </p:sp>
      <p:graphicFrame>
        <p:nvGraphicFramePr>
          <p:cNvPr id="11" name="Diagram 10">
            <a:extLst>
              <a:ext uri="{FF2B5EF4-FFF2-40B4-BE49-F238E27FC236}">
                <a16:creationId xmlns:a16="http://schemas.microsoft.com/office/drawing/2014/main" id="{323EFC73-EB50-D75D-5E1E-9669EE6E6C1F}"/>
              </a:ext>
            </a:extLst>
          </p:cNvPr>
          <p:cNvGraphicFramePr/>
          <p:nvPr>
            <p:extLst>
              <p:ext uri="{D42A27DB-BD31-4B8C-83A1-F6EECF244321}">
                <p14:modId xmlns:p14="http://schemas.microsoft.com/office/powerpoint/2010/main" val="1227828484"/>
              </p:ext>
            </p:extLst>
          </p:nvPr>
        </p:nvGraphicFramePr>
        <p:xfrm>
          <a:off x="703446" y="1049154"/>
          <a:ext cx="11000873" cy="23798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9F211E0F-2F4F-FDAB-2E4A-9AEBA0EC67B6}"/>
              </a:ext>
            </a:extLst>
          </p:cNvPr>
          <p:cNvSpPr txBox="1"/>
          <p:nvPr/>
        </p:nvSpPr>
        <p:spPr>
          <a:xfrm>
            <a:off x="238225" y="3504729"/>
            <a:ext cx="6097604" cy="369332"/>
          </a:xfrm>
          <a:prstGeom prst="rect">
            <a:avLst/>
          </a:prstGeom>
          <a:noFill/>
        </p:spPr>
        <p:txBody>
          <a:bodyPr wrap="square">
            <a:spAutoFit/>
          </a:bodyPr>
          <a:lstStyle/>
          <a:p>
            <a:pPr marL="285750" indent="-285750">
              <a:buFont typeface="Wingdings" pitchFamily="2" charset="2"/>
              <a:buChar char="v"/>
            </a:pPr>
            <a:r>
              <a:rPr lang="en-US" b="1" u="sng" dirty="0"/>
              <a:t>Open-Loop Analysis: The Need for Control</a:t>
            </a:r>
          </a:p>
        </p:txBody>
      </p:sp>
      <p:graphicFrame>
        <p:nvGraphicFramePr>
          <p:cNvPr id="16" name="Diagram 15">
            <a:extLst>
              <a:ext uri="{FF2B5EF4-FFF2-40B4-BE49-F238E27FC236}">
                <a16:creationId xmlns:a16="http://schemas.microsoft.com/office/drawing/2014/main" id="{226D6FED-5BE1-62EE-5B04-A9D1CF9C40D9}"/>
              </a:ext>
            </a:extLst>
          </p:cNvPr>
          <p:cNvGraphicFramePr/>
          <p:nvPr>
            <p:extLst>
              <p:ext uri="{D42A27DB-BD31-4B8C-83A1-F6EECF244321}">
                <p14:modId xmlns:p14="http://schemas.microsoft.com/office/powerpoint/2010/main" val="2779993400"/>
              </p:ext>
            </p:extLst>
          </p:nvPr>
        </p:nvGraphicFramePr>
        <p:xfrm>
          <a:off x="703446" y="4056623"/>
          <a:ext cx="11000872" cy="211716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69245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19F8E81-B341-CB28-AB6F-B810B434AF2B}"/>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EB39B7E1-CFB9-5DD5-8B3C-E1FB6145A632}"/>
              </a:ext>
            </a:extLst>
          </p:cNvPr>
          <p:cNvSpPr>
            <a:spLocks noGrp="1"/>
          </p:cNvSpPr>
          <p:nvPr>
            <p:ph type="sldNum" sz="quarter" idx="15"/>
          </p:nvPr>
        </p:nvSpPr>
        <p:spPr/>
        <p:txBody>
          <a:bodyPr/>
          <a:lstStyle/>
          <a:p>
            <a:fld id="{05FEBB84-A833-4D9F-8E64-647D4209DE1B}" type="slidenum">
              <a:rPr lang="de-DE" smtClean="0"/>
              <a:t>6</a:t>
            </a:fld>
            <a:endParaRPr lang="de-DE" dirty="0"/>
          </a:p>
        </p:txBody>
      </p:sp>
      <p:sp>
        <p:nvSpPr>
          <p:cNvPr id="8" name="Rechteck 9">
            <a:extLst>
              <a:ext uri="{FF2B5EF4-FFF2-40B4-BE49-F238E27FC236}">
                <a16:creationId xmlns:a16="http://schemas.microsoft.com/office/drawing/2014/main" id="{A9CF1DC3-048A-DABD-6DC4-C08898A19570}"/>
              </a:ext>
            </a:extLst>
          </p:cNvPr>
          <p:cNvSpPr txBox="1">
            <a:spLocks noChangeArrowheads="1"/>
          </p:cNvSpPr>
          <p:nvPr/>
        </p:nvSpPr>
        <p:spPr>
          <a:xfrm>
            <a:off x="0" y="301533"/>
            <a:ext cx="9205347" cy="461665"/>
          </a:xfrm>
          <a:prstGeom prst="rect">
            <a:avLst/>
          </a:prstGeom>
          <a:solidFill>
            <a:schemeClr val="bg1">
              <a:lumMod val="85000"/>
              <a:alpha val="80000"/>
            </a:schemeClr>
          </a:solidFill>
        </p:spPr>
        <p:txBody>
          <a:bodyPr wrap="square">
            <a:spAutoFit/>
          </a:bodyPr>
          <a:lstStyle>
            <a:defPPr>
              <a:defRPr lang="de-DE"/>
            </a:defPPr>
            <a:lvl1pPr marL="0" algn="l" defTabSz="914400" rtl="0" eaLnBrk="0" fontAlgn="base" latinLnBrk="0" hangingPunct="0">
              <a:spcBef>
                <a:spcPct val="0"/>
              </a:spcBef>
              <a:spcAft>
                <a:spcPct val="0"/>
              </a:spcAft>
              <a:defRPr sz="2400" kern="1200">
                <a:solidFill>
                  <a:schemeClr val="tx1"/>
                </a:solidFill>
                <a:latin typeface="AvantGarde Bk BT" pitchFamily="34" charset="0"/>
                <a:ea typeface="+mj-ea"/>
                <a:cs typeface="+mj-cs"/>
              </a:defRPr>
            </a:lvl1pPr>
            <a:lvl2pPr marL="4572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2pPr>
            <a:lvl3pPr marL="9144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3pPr>
            <a:lvl4pPr marL="13716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4pPr>
            <a:lvl5pPr marL="18288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5pPr>
            <a:lvl6pPr marL="4572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6pPr>
            <a:lvl7pPr marL="9144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7pPr>
            <a:lvl8pPr marL="13716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8pPr>
            <a:lvl9pPr marL="18288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9pPr>
          </a:lstStyle>
          <a:p>
            <a:pPr>
              <a:tabLst>
                <a:tab pos="715963" algn="l"/>
              </a:tabLst>
              <a:defRPr/>
            </a:pPr>
            <a:r>
              <a:rPr lang="de-DE" b="1" dirty="0">
                <a:solidFill>
                  <a:srgbClr val="8064A2">
                    <a:lumMod val="50000"/>
                  </a:srgbClr>
                </a:solidFill>
                <a:latin typeface="AvantGarde Md BT" panose="020B0602020202020204" pitchFamily="34" charset="0"/>
              </a:rPr>
              <a:t>	</a:t>
            </a:r>
            <a:r>
              <a:rPr lang="en-US" b="1" dirty="0">
                <a:solidFill>
                  <a:srgbClr val="8064A2">
                    <a:lumMod val="50000"/>
                  </a:srgbClr>
                </a:solidFill>
                <a:latin typeface="AvantGarde Md BT" panose="020B0602020202020204" pitchFamily="34" charset="0"/>
              </a:rPr>
              <a:t> The Circuit Physics</a:t>
            </a:r>
            <a:r>
              <a:rPr lang="en-GB" b="1" dirty="0">
                <a:solidFill>
                  <a:srgbClr val="8064A2">
                    <a:lumMod val="50000"/>
                  </a:srgbClr>
                </a:solidFill>
                <a:latin typeface="AvantGarde Md BT" panose="020B0602020202020204" pitchFamily="34" charset="0"/>
              </a:rPr>
              <a:t>:</a:t>
            </a:r>
            <a:endParaRPr lang="de-DE" b="1" dirty="0">
              <a:solidFill>
                <a:srgbClr val="8064A2">
                  <a:lumMod val="50000"/>
                </a:srgbClr>
              </a:solidFill>
              <a:latin typeface="AvantGarde Md BT" panose="020B0602020202020204" pitchFamily="34" charset="0"/>
            </a:endParaRPr>
          </a:p>
        </p:txBody>
      </p:sp>
      <p:pic>
        <p:nvPicPr>
          <p:cNvPr id="10" name="Picture 5" descr="I:\arrow.GIF">
            <a:extLst>
              <a:ext uri="{FF2B5EF4-FFF2-40B4-BE49-F238E27FC236}">
                <a16:creationId xmlns:a16="http://schemas.microsoft.com/office/drawing/2014/main" id="{DF070A1F-1061-7A80-3A60-A7ECA43B37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788" y="394254"/>
            <a:ext cx="276225" cy="2762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EAEF2E7-7638-9EF9-4C9D-7664A1F739F9}"/>
                  </a:ext>
                </a:extLst>
              </p:cNvPr>
              <p:cNvSpPr txBox="1"/>
              <p:nvPr/>
            </p:nvSpPr>
            <p:spPr>
              <a:xfrm>
                <a:off x="2040008" y="2468277"/>
                <a:ext cx="7714095" cy="1449243"/>
              </a:xfrm>
              <a:prstGeom prst="rect">
                <a:avLst/>
              </a:prstGeom>
              <a:noFill/>
            </p:spPr>
            <p:txBody>
              <a:bodyPr wrap="square">
                <a:spAutoFit/>
              </a:bodyPr>
              <a:lstStyle/>
              <a:p>
                <a:r>
                  <a:rPr lang="en-US" dirty="0"/>
                  <a:t>Following Kirchhoff's Voltage Law (KVL), the total applied voltage (V</a:t>
                </a:r>
                <a:r>
                  <a:rPr lang="en-US" baseline="-25000" dirty="0"/>
                  <a:t>a</a:t>
                </a:r>
                <a:r>
                  <a:rPr lang="en-US" dirty="0"/>
                  <a:t>) must equal the sum of the voltage drops across the internal components:</a:t>
                </a:r>
              </a:p>
              <a:p>
                <a:endParaRPr lang="en-US" dirty="0"/>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𝐿</m:t>
                      </m:r>
                      <m:f>
                        <m:fPr>
                          <m:ctrlPr>
                            <a:rPr lang="en-US" i="1">
                              <a:latin typeface="Cambria Math" panose="02040503050406030204" pitchFamily="18" charset="0"/>
                            </a:rPr>
                          </m:ctrlPr>
                        </m:fPr>
                        <m:num>
                          <m:r>
                            <a:rPr lang="en-US" i="1">
                              <a:latin typeface="Cambria Math" panose="02040503050406030204" pitchFamily="18" charset="0"/>
                            </a:rPr>
                            <m:t>𝑑𝑖</m:t>
                          </m:r>
                        </m:num>
                        <m:den>
                          <m:r>
                            <a:rPr lang="en-US" i="1">
                              <a:latin typeface="Cambria Math" panose="02040503050406030204" pitchFamily="18" charset="0"/>
                            </a:rPr>
                            <m:t>𝑑𝑡</m:t>
                          </m:r>
                        </m:den>
                      </m:f>
                      <m:r>
                        <a:rPr lang="en-US" i="1">
                          <a:latin typeface="Cambria Math" panose="02040503050406030204" pitchFamily="18" charset="0"/>
                        </a:rPr>
                        <m:t>+</m:t>
                      </m:r>
                      <m:r>
                        <a:rPr lang="en-US" i="1">
                          <a:latin typeface="Cambria Math" panose="02040503050406030204" pitchFamily="18" charset="0"/>
                        </a:rPr>
                        <m:t>𝑅</m:t>
                      </m:r>
                      <m:r>
                        <a:rPr lang="en-US" i="1">
                          <a:latin typeface="Cambria Math" panose="02040503050406030204" pitchFamily="18" charset="0"/>
                        </a:rPr>
                        <m:t>⋅</m:t>
                      </m:r>
                      <m:r>
                        <a:rPr lang="en-US" i="1">
                          <a:latin typeface="Cambria Math" panose="02040503050406030204" pitchFamily="18" charset="0"/>
                        </a:rPr>
                        <m:t>𝑖</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𝑏</m:t>
                          </m:r>
                        </m:sub>
                      </m:sSub>
                      <m:d>
                        <m:dPr>
                          <m:ctrlPr>
                            <a:rPr lang="en-US" i="1">
                              <a:latin typeface="Cambria Math" panose="02040503050406030204" pitchFamily="18" charset="0"/>
                            </a:rPr>
                          </m:ctrlPr>
                        </m:dPr>
                        <m:e>
                          <m:r>
                            <a:rPr lang="en-US" i="1">
                              <a:latin typeface="Cambria Math" panose="02040503050406030204" pitchFamily="18" charset="0"/>
                            </a:rPr>
                            <m:t>𝑡</m:t>
                          </m:r>
                        </m:e>
                      </m:d>
                    </m:oMath>
                  </m:oMathPara>
                </a14:m>
                <a:endParaRPr lang="en-US" dirty="0"/>
              </a:p>
            </p:txBody>
          </p:sp>
        </mc:Choice>
        <mc:Fallback xmlns="">
          <p:sp>
            <p:nvSpPr>
              <p:cNvPr id="3" name="TextBox 2">
                <a:extLst>
                  <a:ext uri="{FF2B5EF4-FFF2-40B4-BE49-F238E27FC236}">
                    <a16:creationId xmlns:a16="http://schemas.microsoft.com/office/drawing/2014/main" id="{AEAEF2E7-7638-9EF9-4C9D-7664A1F739F9}"/>
                  </a:ext>
                </a:extLst>
              </p:cNvPr>
              <p:cNvSpPr txBox="1">
                <a:spLocks noRot="1" noChangeAspect="1" noMove="1" noResize="1" noEditPoints="1" noAdjustHandles="1" noChangeArrowheads="1" noChangeShapeType="1" noTextEdit="1"/>
              </p:cNvSpPr>
              <p:nvPr/>
            </p:nvSpPr>
            <p:spPr>
              <a:xfrm>
                <a:off x="2040008" y="2468277"/>
                <a:ext cx="7714095" cy="1449243"/>
              </a:xfrm>
              <a:prstGeom prst="rect">
                <a:avLst/>
              </a:prstGeom>
              <a:blipFill>
                <a:blip r:embed="rId3"/>
                <a:stretch>
                  <a:fillRect l="-658" t="-1739" r="-822" b="-173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D22F76F-08BF-773E-AF33-0DD0500682F2}"/>
              </a:ext>
            </a:extLst>
          </p:cNvPr>
          <p:cNvSpPr txBox="1"/>
          <p:nvPr/>
        </p:nvSpPr>
        <p:spPr>
          <a:xfrm>
            <a:off x="303788" y="855919"/>
            <a:ext cx="6096000" cy="400110"/>
          </a:xfrm>
          <a:prstGeom prst="rect">
            <a:avLst/>
          </a:prstGeom>
          <a:noFill/>
        </p:spPr>
        <p:txBody>
          <a:bodyPr wrap="square">
            <a:spAutoFit/>
          </a:bodyPr>
          <a:lstStyle/>
          <a:p>
            <a:pPr marL="342900" indent="-342900">
              <a:buFont typeface="Wingdings" pitchFamily="2" charset="2"/>
              <a:buChar char="v"/>
            </a:pPr>
            <a:r>
              <a:rPr lang="en-US" sz="2000" b="1" u="sng" dirty="0">
                <a:latin typeface="+mj-lt"/>
              </a:rPr>
              <a:t>Kirchhoff’s Voltage Law</a:t>
            </a:r>
          </a:p>
        </p:txBody>
      </p:sp>
      <p:graphicFrame>
        <p:nvGraphicFramePr>
          <p:cNvPr id="12" name="Diagram 11">
            <a:extLst>
              <a:ext uri="{FF2B5EF4-FFF2-40B4-BE49-F238E27FC236}">
                <a16:creationId xmlns:a16="http://schemas.microsoft.com/office/drawing/2014/main" id="{115D3E9C-2547-A689-FA0A-40BF7E51CA6F}"/>
              </a:ext>
            </a:extLst>
          </p:cNvPr>
          <p:cNvGraphicFramePr/>
          <p:nvPr>
            <p:extLst>
              <p:ext uri="{D42A27DB-BD31-4B8C-83A1-F6EECF244321}">
                <p14:modId xmlns:p14="http://schemas.microsoft.com/office/powerpoint/2010/main" val="3813064747"/>
              </p:ext>
            </p:extLst>
          </p:nvPr>
        </p:nvGraphicFramePr>
        <p:xfrm>
          <a:off x="580013" y="1542899"/>
          <a:ext cx="10634087"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4" name="TextBox 13">
            <a:extLst>
              <a:ext uri="{FF2B5EF4-FFF2-40B4-BE49-F238E27FC236}">
                <a16:creationId xmlns:a16="http://schemas.microsoft.com/office/drawing/2014/main" id="{584E7C66-9DE9-3183-17BB-5E567881A4E2}"/>
              </a:ext>
            </a:extLst>
          </p:cNvPr>
          <p:cNvSpPr txBox="1"/>
          <p:nvPr/>
        </p:nvSpPr>
        <p:spPr>
          <a:xfrm>
            <a:off x="2030736" y="4293533"/>
            <a:ext cx="8738104" cy="1200329"/>
          </a:xfrm>
          <a:prstGeom prst="rect">
            <a:avLst/>
          </a:prstGeom>
          <a:noFill/>
        </p:spPr>
        <p:txBody>
          <a:bodyPr wrap="square">
            <a:spAutoFit/>
          </a:bodyPr>
          <a:lstStyle/>
          <a:p>
            <a:pPr marL="285750" indent="-285750">
              <a:buFont typeface="Arial" panose="020B0604020202020204" pitchFamily="34" charset="0"/>
              <a:buChar char="•"/>
            </a:pPr>
            <a:r>
              <a:rPr lang="en-US" b="1" dirty="0">
                <a:effectLst/>
                <a:latin typeface="Google Sans Text"/>
              </a:rPr>
              <a:t>Armature Resistance (R</a:t>
            </a:r>
            <a:r>
              <a:rPr lang="en-US" b="1" baseline="-25000" dirty="0">
                <a:effectLst/>
                <a:latin typeface="Google Sans Text"/>
              </a:rPr>
              <a:t>a</a:t>
            </a:r>
            <a:r>
              <a:rPr lang="en-US" b="1" dirty="0">
                <a:effectLst/>
                <a:latin typeface="Google Sans Text"/>
              </a:rPr>
              <a:t>)</a:t>
            </a:r>
            <a:r>
              <a:rPr lang="en-US" dirty="0">
                <a:effectLst/>
                <a:latin typeface="Google Sans Text"/>
              </a:rPr>
              <a:t>: Represents the copper losses and heat dissipation in the motor windings. </a:t>
            </a:r>
          </a:p>
          <a:p>
            <a:pPr marL="285750" indent="-285750">
              <a:buFont typeface="Arial" panose="020B0604020202020204" pitchFamily="34" charset="0"/>
              <a:buChar char="•"/>
            </a:pPr>
            <a:r>
              <a:rPr lang="en-US" b="1" dirty="0">
                <a:effectLst/>
                <a:latin typeface="Google Sans Text"/>
              </a:rPr>
              <a:t>Armature Inductance (L</a:t>
            </a:r>
            <a:r>
              <a:rPr lang="en-US" b="1" baseline="-25000" dirty="0">
                <a:effectLst/>
                <a:latin typeface="Google Sans Text"/>
              </a:rPr>
              <a:t>a</a:t>
            </a:r>
            <a:r>
              <a:rPr lang="en-US" b="1" dirty="0">
                <a:effectLst/>
                <a:latin typeface="Google Sans Text"/>
              </a:rPr>
              <a:t>)</a:t>
            </a:r>
            <a:r>
              <a:rPr lang="en-US" dirty="0">
                <a:effectLst/>
                <a:latin typeface="Google Sans Text"/>
              </a:rPr>
              <a:t>: Accounts for the magnetic field storage and the electrical time constant of the motor.</a:t>
            </a:r>
          </a:p>
        </p:txBody>
      </p:sp>
    </p:spTree>
    <p:extLst>
      <p:ext uri="{BB962C8B-B14F-4D97-AF65-F5344CB8AC3E}">
        <p14:creationId xmlns:p14="http://schemas.microsoft.com/office/powerpoint/2010/main" val="1820574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4D60A1-12AE-2C46-5A30-0018311F4127}"/>
              </a:ext>
            </a:extLst>
          </p:cNvPr>
          <p:cNvPicPr>
            <a:picLocks noChangeAspect="1"/>
          </p:cNvPicPr>
          <p:nvPr/>
        </p:nvPicPr>
        <p:blipFill>
          <a:blip r:embed="rId2"/>
          <a:stretch>
            <a:fillRect/>
          </a:stretch>
        </p:blipFill>
        <p:spPr>
          <a:xfrm>
            <a:off x="643467" y="1355751"/>
            <a:ext cx="10905066" cy="3407833"/>
          </a:xfrm>
          <a:prstGeom prst="rect">
            <a:avLst/>
          </a:prstGeom>
        </p:spPr>
      </p:pic>
      <p:sp>
        <p:nvSpPr>
          <p:cNvPr id="5" name="Date Placeholder 4">
            <a:extLst>
              <a:ext uri="{FF2B5EF4-FFF2-40B4-BE49-F238E27FC236}">
                <a16:creationId xmlns:a16="http://schemas.microsoft.com/office/drawing/2014/main" id="{1AB81769-601B-75AA-3D25-6DAABD6F3AA0}"/>
              </a:ext>
            </a:extLst>
          </p:cNvPr>
          <p:cNvSpPr>
            <a:spLocks noGrp="1"/>
          </p:cNvSpPr>
          <p:nvPr>
            <p:ph type="dt" sz="half" idx="13"/>
          </p:nvPr>
        </p:nvSpPr>
        <p:spPr>
          <a:xfrm>
            <a:off x="838200" y="6356350"/>
            <a:ext cx="2743200" cy="365125"/>
          </a:xfrm>
        </p:spPr>
        <p:txBody>
          <a:bodyPr vert="horz" lIns="91440" tIns="45720" rIns="91440" bIns="45720" rtlCol="0" anchor="ctr">
            <a:normAutofit/>
          </a:bodyPr>
          <a:lstStyle/>
          <a:p>
            <a:pPr>
              <a:spcAft>
                <a:spcPts val="600"/>
              </a:spcAft>
            </a:pPr>
            <a:fld id="{351A0EE1-B564-4BC7-9F42-429FBA12ED94}" type="datetime1">
              <a:rPr lang="en-US" sz="1200" smtClean="0"/>
              <a:pPr>
                <a:spcAft>
                  <a:spcPts val="600"/>
                </a:spcAft>
              </a:pPr>
              <a:t>5/12/2026</a:t>
            </a:fld>
            <a:endParaRPr lang="en-US" sz="1200"/>
          </a:p>
        </p:txBody>
      </p:sp>
      <p:sp>
        <p:nvSpPr>
          <p:cNvPr id="6" name="Slide Number Placeholder 5">
            <a:extLst>
              <a:ext uri="{FF2B5EF4-FFF2-40B4-BE49-F238E27FC236}">
                <a16:creationId xmlns:a16="http://schemas.microsoft.com/office/drawing/2014/main" id="{F31F29D3-CD3B-DC56-B8BC-7B8AA47F6938}"/>
              </a:ext>
            </a:extLst>
          </p:cNvPr>
          <p:cNvSpPr>
            <a:spLocks noGrp="1"/>
          </p:cNvSpPr>
          <p:nvPr>
            <p:ph type="sldNum" sz="quarter" idx="15"/>
          </p:nvPr>
        </p:nvSpPr>
        <p:spPr>
          <a:xfrm>
            <a:off x="8610600" y="6356350"/>
            <a:ext cx="2743200" cy="365125"/>
          </a:xfrm>
        </p:spPr>
        <p:txBody>
          <a:bodyPr vert="horz" lIns="91440" tIns="45720" rIns="91440" bIns="45720" rtlCol="0" anchor="ctr">
            <a:normAutofit/>
          </a:bodyPr>
          <a:lstStyle/>
          <a:p>
            <a:pPr>
              <a:spcAft>
                <a:spcPts val="600"/>
              </a:spcAft>
            </a:pPr>
            <a:fld id="{05FEBB84-A833-4D9F-8E64-647D4209DE1B}" type="slidenum">
              <a:rPr lang="en-US" smtClean="0"/>
              <a:pPr>
                <a:spcAft>
                  <a:spcPts val="600"/>
                </a:spcAft>
              </a:pPr>
              <a:t>7</a:t>
            </a:fld>
            <a:endParaRPr lang="en-US"/>
          </a:p>
        </p:txBody>
      </p:sp>
      <p:sp>
        <p:nvSpPr>
          <p:cNvPr id="4" name="TextBox 3">
            <a:extLst>
              <a:ext uri="{FF2B5EF4-FFF2-40B4-BE49-F238E27FC236}">
                <a16:creationId xmlns:a16="http://schemas.microsoft.com/office/drawing/2014/main" id="{5C353A7A-21CE-459E-A0EB-83C4D1678AD5}"/>
              </a:ext>
            </a:extLst>
          </p:cNvPr>
          <p:cNvSpPr txBox="1"/>
          <p:nvPr/>
        </p:nvSpPr>
        <p:spPr>
          <a:xfrm>
            <a:off x="3893330" y="5317583"/>
            <a:ext cx="4405340" cy="369332"/>
          </a:xfrm>
          <a:prstGeom prst="rect">
            <a:avLst/>
          </a:prstGeom>
          <a:noFill/>
        </p:spPr>
        <p:txBody>
          <a:bodyPr wrap="square">
            <a:spAutoFit/>
          </a:bodyPr>
          <a:lstStyle/>
          <a:p>
            <a:r>
              <a:rPr lang="en-US" sz="1800" b="1" u="sng" dirty="0">
                <a:latin typeface="+mj-lt"/>
              </a:rPr>
              <a:t>Simulink </a:t>
            </a:r>
            <a:r>
              <a:rPr lang="en-US" b="1" u="sng" dirty="0">
                <a:latin typeface="+mj-lt"/>
              </a:rPr>
              <a:t>Model of </a:t>
            </a:r>
            <a:r>
              <a:rPr lang="en-US" sz="1800" b="1" u="sng" dirty="0">
                <a:latin typeface="+mj-lt"/>
              </a:rPr>
              <a:t>Kirchhoff’s Voltage Law</a:t>
            </a:r>
            <a:endParaRPr lang="en-US" dirty="0"/>
          </a:p>
        </p:txBody>
      </p:sp>
    </p:spTree>
    <p:extLst>
      <p:ext uri="{BB962C8B-B14F-4D97-AF65-F5344CB8AC3E}">
        <p14:creationId xmlns:p14="http://schemas.microsoft.com/office/powerpoint/2010/main" val="2316744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5213F436-EEA3-85C6-0CD0-37108957D8D9}"/>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5122701F-7B5E-CA05-AABF-416973EEB7A2}"/>
              </a:ext>
            </a:extLst>
          </p:cNvPr>
          <p:cNvSpPr>
            <a:spLocks noGrp="1"/>
          </p:cNvSpPr>
          <p:nvPr>
            <p:ph type="sldNum" sz="quarter" idx="15"/>
          </p:nvPr>
        </p:nvSpPr>
        <p:spPr/>
        <p:txBody>
          <a:bodyPr/>
          <a:lstStyle/>
          <a:p>
            <a:fld id="{05FEBB84-A833-4D9F-8E64-647D4209DE1B}" type="slidenum">
              <a:rPr lang="de-DE" smtClean="0"/>
              <a:t>8</a:t>
            </a:fld>
            <a:endParaRPr lang="de-DE" dirty="0"/>
          </a:p>
        </p:txBody>
      </p:sp>
      <p:sp>
        <p:nvSpPr>
          <p:cNvPr id="8" name="TextBox 7">
            <a:extLst>
              <a:ext uri="{FF2B5EF4-FFF2-40B4-BE49-F238E27FC236}">
                <a16:creationId xmlns:a16="http://schemas.microsoft.com/office/drawing/2014/main" id="{6015551E-1E2F-F9F4-51E1-F65333C2AE7A}"/>
              </a:ext>
            </a:extLst>
          </p:cNvPr>
          <p:cNvSpPr txBox="1"/>
          <p:nvPr/>
        </p:nvSpPr>
        <p:spPr>
          <a:xfrm>
            <a:off x="228600" y="348734"/>
            <a:ext cx="6096000" cy="400110"/>
          </a:xfrm>
          <a:prstGeom prst="rect">
            <a:avLst/>
          </a:prstGeom>
          <a:noFill/>
        </p:spPr>
        <p:txBody>
          <a:bodyPr wrap="square">
            <a:spAutoFit/>
          </a:bodyPr>
          <a:lstStyle/>
          <a:p>
            <a:pPr marL="285750" indent="-285750">
              <a:buFont typeface="Wingdings" pitchFamily="2" charset="2"/>
              <a:buChar char="v"/>
            </a:pPr>
            <a:r>
              <a:rPr lang="en-US" sz="2000" b="1" u="sng" dirty="0">
                <a:latin typeface="+mj-lt"/>
              </a:rPr>
              <a:t>The Back-EMF Phenomenon (</a:t>
            </a:r>
            <a:r>
              <a:rPr lang="en-US" sz="2000" b="1" u="sng" dirty="0" err="1">
                <a:effectLst/>
                <a:latin typeface="+mj-lt"/>
              </a:rPr>
              <a:t>e</a:t>
            </a:r>
            <a:r>
              <a:rPr lang="en-US" sz="2000" b="1" u="sng" baseline="-25000" dirty="0" err="1">
                <a:effectLst/>
                <a:latin typeface="+mj-lt"/>
              </a:rPr>
              <a:t>b</a:t>
            </a:r>
            <a:r>
              <a:rPr lang="en-US" sz="2000" b="1" u="sng" dirty="0">
                <a:latin typeface="+mj-lt"/>
              </a:rPr>
              <a:t>)</a:t>
            </a:r>
          </a:p>
        </p:txBody>
      </p:sp>
      <p:graphicFrame>
        <p:nvGraphicFramePr>
          <p:cNvPr id="11" name="Diagram 10">
            <a:extLst>
              <a:ext uri="{FF2B5EF4-FFF2-40B4-BE49-F238E27FC236}">
                <a16:creationId xmlns:a16="http://schemas.microsoft.com/office/drawing/2014/main" id="{2450E755-0041-6498-55C4-953FCE355FEF}"/>
              </a:ext>
            </a:extLst>
          </p:cNvPr>
          <p:cNvGraphicFramePr/>
          <p:nvPr>
            <p:extLst>
              <p:ext uri="{D42A27DB-BD31-4B8C-83A1-F6EECF244321}">
                <p14:modId xmlns:p14="http://schemas.microsoft.com/office/powerpoint/2010/main" val="2276150566"/>
              </p:ext>
            </p:extLst>
          </p:nvPr>
        </p:nvGraphicFramePr>
        <p:xfrm>
          <a:off x="958850" y="1321216"/>
          <a:ext cx="10274300" cy="1477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E24F209-B845-1CDE-8E4D-504826E8D3AF}"/>
                  </a:ext>
                </a:extLst>
              </p:cNvPr>
              <p:cNvSpPr txBox="1"/>
              <p:nvPr/>
            </p:nvSpPr>
            <p:spPr>
              <a:xfrm>
                <a:off x="3048000" y="3244334"/>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𝑏</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𝑏</m:t>
                          </m:r>
                        </m:sub>
                      </m:sSub>
                      <m:r>
                        <a:rPr lang="en-US" i="1">
                          <a:latin typeface="Cambria Math" panose="02040503050406030204" pitchFamily="18" charset="0"/>
                        </a:rPr>
                        <m:t>𝜔</m:t>
                      </m:r>
                      <m:d>
                        <m:dPr>
                          <m:ctrlPr>
                            <a:rPr lang="en-US" i="1">
                              <a:latin typeface="Cambria Math" panose="02040503050406030204" pitchFamily="18" charset="0"/>
                            </a:rPr>
                          </m:ctrlPr>
                        </m:dPr>
                        <m:e>
                          <m:r>
                            <a:rPr lang="en-US" i="1">
                              <a:latin typeface="Cambria Math" panose="02040503050406030204" pitchFamily="18" charset="0"/>
                            </a:rPr>
                            <m:t>𝑡</m:t>
                          </m:r>
                        </m:e>
                      </m:d>
                    </m:oMath>
                  </m:oMathPara>
                </a14:m>
                <a:endParaRPr lang="en-US" dirty="0"/>
              </a:p>
            </p:txBody>
          </p:sp>
        </mc:Choice>
        <mc:Fallback xmlns="">
          <p:sp>
            <p:nvSpPr>
              <p:cNvPr id="13" name="TextBox 12">
                <a:extLst>
                  <a:ext uri="{FF2B5EF4-FFF2-40B4-BE49-F238E27FC236}">
                    <a16:creationId xmlns:a16="http://schemas.microsoft.com/office/drawing/2014/main" id="{3E24F209-B845-1CDE-8E4D-504826E8D3AF}"/>
                  </a:ext>
                </a:extLst>
              </p:cNvPr>
              <p:cNvSpPr txBox="1">
                <a:spLocks noRot="1" noChangeAspect="1" noMove="1" noResize="1" noEditPoints="1" noAdjustHandles="1" noChangeArrowheads="1" noChangeShapeType="1" noTextEdit="1"/>
              </p:cNvSpPr>
              <p:nvPr/>
            </p:nvSpPr>
            <p:spPr>
              <a:xfrm>
                <a:off x="3048000" y="3244334"/>
                <a:ext cx="6096000" cy="369332"/>
              </a:xfrm>
              <a:prstGeom prst="rect">
                <a:avLst/>
              </a:prstGeom>
              <a:blipFill>
                <a:blip r:embed="rId8"/>
                <a:stretch>
                  <a:fillRect/>
                </a:stretch>
              </a:blipFill>
            </p:spPr>
            <p:txBody>
              <a:bodyPr/>
              <a:lstStyle/>
              <a:p>
                <a:r>
                  <a:rPr lang="en-US">
                    <a:noFill/>
                  </a:rPr>
                  <a:t> </a:t>
                </a:r>
              </a:p>
            </p:txBody>
          </p:sp>
        </mc:Fallback>
      </mc:AlternateContent>
      <p:graphicFrame>
        <p:nvGraphicFramePr>
          <p:cNvPr id="16" name="Diagram 15">
            <a:extLst>
              <a:ext uri="{FF2B5EF4-FFF2-40B4-BE49-F238E27FC236}">
                <a16:creationId xmlns:a16="http://schemas.microsoft.com/office/drawing/2014/main" id="{37CAB088-B924-2584-BBDD-787B72BA8C42}"/>
              </a:ext>
            </a:extLst>
          </p:cNvPr>
          <p:cNvGraphicFramePr/>
          <p:nvPr>
            <p:extLst>
              <p:ext uri="{D42A27DB-BD31-4B8C-83A1-F6EECF244321}">
                <p14:modId xmlns:p14="http://schemas.microsoft.com/office/powerpoint/2010/main" val="1994887364"/>
              </p:ext>
            </p:extLst>
          </p:nvPr>
        </p:nvGraphicFramePr>
        <p:xfrm>
          <a:off x="958850" y="4115782"/>
          <a:ext cx="10274300" cy="92333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67174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15C2F21-15AD-B32E-A8EA-12DFE5CE2350}"/>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258867C0-CFC4-942A-FB27-60672284BC6B}"/>
              </a:ext>
            </a:extLst>
          </p:cNvPr>
          <p:cNvSpPr>
            <a:spLocks noGrp="1"/>
          </p:cNvSpPr>
          <p:nvPr>
            <p:ph type="sldNum" sz="quarter" idx="15"/>
          </p:nvPr>
        </p:nvSpPr>
        <p:spPr/>
        <p:txBody>
          <a:bodyPr/>
          <a:lstStyle/>
          <a:p>
            <a:fld id="{05FEBB84-A833-4D9F-8E64-647D4209DE1B}" type="slidenum">
              <a:rPr lang="de-DE" smtClean="0"/>
              <a:t>9</a:t>
            </a:fld>
            <a:endParaRPr lang="de-DE" dirty="0"/>
          </a:p>
        </p:txBody>
      </p:sp>
      <p:sp>
        <p:nvSpPr>
          <p:cNvPr id="8" name="Rechteck 9">
            <a:extLst>
              <a:ext uri="{FF2B5EF4-FFF2-40B4-BE49-F238E27FC236}">
                <a16:creationId xmlns:a16="http://schemas.microsoft.com/office/drawing/2014/main" id="{ECCEE57F-9FEC-0462-F45E-A5F18967F4BB}"/>
              </a:ext>
            </a:extLst>
          </p:cNvPr>
          <p:cNvSpPr txBox="1">
            <a:spLocks noChangeArrowheads="1"/>
          </p:cNvSpPr>
          <p:nvPr/>
        </p:nvSpPr>
        <p:spPr>
          <a:xfrm>
            <a:off x="0" y="301533"/>
            <a:ext cx="9205347" cy="461665"/>
          </a:xfrm>
          <a:prstGeom prst="rect">
            <a:avLst/>
          </a:prstGeom>
          <a:solidFill>
            <a:schemeClr val="bg1">
              <a:lumMod val="85000"/>
              <a:alpha val="80000"/>
            </a:schemeClr>
          </a:solidFill>
        </p:spPr>
        <p:txBody>
          <a:bodyPr wrap="square">
            <a:spAutoFit/>
          </a:bodyPr>
          <a:lstStyle>
            <a:defPPr>
              <a:defRPr lang="de-DE"/>
            </a:defPPr>
            <a:lvl1pPr marL="0" algn="l" defTabSz="914400" rtl="0" eaLnBrk="0" fontAlgn="base" latinLnBrk="0" hangingPunct="0">
              <a:spcBef>
                <a:spcPct val="0"/>
              </a:spcBef>
              <a:spcAft>
                <a:spcPct val="0"/>
              </a:spcAft>
              <a:defRPr sz="2400" kern="1200">
                <a:solidFill>
                  <a:schemeClr val="tx1"/>
                </a:solidFill>
                <a:latin typeface="AvantGarde Bk BT" pitchFamily="34" charset="0"/>
                <a:ea typeface="+mj-ea"/>
                <a:cs typeface="+mj-cs"/>
              </a:defRPr>
            </a:lvl1pPr>
            <a:lvl2pPr marL="4572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2pPr>
            <a:lvl3pPr marL="9144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3pPr>
            <a:lvl4pPr marL="13716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4pPr>
            <a:lvl5pPr marL="18288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5pPr>
            <a:lvl6pPr marL="4572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6pPr>
            <a:lvl7pPr marL="9144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7pPr>
            <a:lvl8pPr marL="13716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8pPr>
            <a:lvl9pPr marL="18288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9pPr>
          </a:lstStyle>
          <a:p>
            <a:pPr>
              <a:tabLst>
                <a:tab pos="715963" algn="l"/>
              </a:tabLst>
              <a:defRPr/>
            </a:pPr>
            <a:r>
              <a:rPr lang="de-DE" b="1" dirty="0">
                <a:solidFill>
                  <a:srgbClr val="8064A2">
                    <a:lumMod val="50000"/>
                  </a:srgbClr>
                </a:solidFill>
                <a:latin typeface="AvantGarde Md BT" panose="020B0602020202020204" pitchFamily="34" charset="0"/>
              </a:rPr>
              <a:t>	</a:t>
            </a:r>
            <a:r>
              <a:rPr lang="en-US" b="1" dirty="0">
                <a:solidFill>
                  <a:srgbClr val="8064A2">
                    <a:lumMod val="50000"/>
                  </a:srgbClr>
                </a:solidFill>
                <a:latin typeface="AvantGarde Md BT" panose="020B0602020202020204" pitchFamily="34" charset="0"/>
              </a:rPr>
              <a:t> Mechanical</a:t>
            </a:r>
            <a:r>
              <a:rPr lang="en-US" dirty="0"/>
              <a:t> </a:t>
            </a:r>
            <a:r>
              <a:rPr lang="en-US" b="1" dirty="0">
                <a:solidFill>
                  <a:srgbClr val="8064A2">
                    <a:lumMod val="50000"/>
                  </a:srgbClr>
                </a:solidFill>
                <a:latin typeface="AvantGarde Md BT" panose="020B0602020202020204" pitchFamily="34" charset="0"/>
              </a:rPr>
              <a:t>Domain</a:t>
            </a:r>
            <a:r>
              <a:rPr lang="en-US" dirty="0"/>
              <a:t> &amp; </a:t>
            </a:r>
            <a:r>
              <a:rPr lang="en-US" b="1" dirty="0">
                <a:solidFill>
                  <a:srgbClr val="8064A2">
                    <a:lumMod val="50000"/>
                  </a:srgbClr>
                </a:solidFill>
                <a:latin typeface="AvantGarde Md BT" panose="020B0602020202020204" pitchFamily="34" charset="0"/>
              </a:rPr>
              <a:t>The</a:t>
            </a:r>
            <a:r>
              <a:rPr lang="en-US" dirty="0"/>
              <a:t> </a:t>
            </a:r>
            <a:r>
              <a:rPr lang="en-US" b="1" dirty="0">
                <a:solidFill>
                  <a:srgbClr val="8064A2">
                    <a:lumMod val="50000"/>
                  </a:srgbClr>
                </a:solidFill>
                <a:latin typeface="AvantGarde Md BT" panose="020B0602020202020204" pitchFamily="34" charset="0"/>
              </a:rPr>
              <a:t>Electromechanical</a:t>
            </a:r>
            <a:r>
              <a:rPr lang="en-US" dirty="0"/>
              <a:t> </a:t>
            </a:r>
            <a:r>
              <a:rPr lang="en-US" b="1" dirty="0">
                <a:solidFill>
                  <a:srgbClr val="8064A2">
                    <a:lumMod val="50000"/>
                  </a:srgbClr>
                </a:solidFill>
                <a:latin typeface="AvantGarde Md BT" panose="020B0602020202020204" pitchFamily="34" charset="0"/>
              </a:rPr>
              <a:t>Bridge</a:t>
            </a:r>
            <a:endParaRPr lang="de-DE" b="1" dirty="0">
              <a:solidFill>
                <a:srgbClr val="8064A2">
                  <a:lumMod val="50000"/>
                </a:srgbClr>
              </a:solidFill>
              <a:latin typeface="AvantGarde Md BT" panose="020B0602020202020204" pitchFamily="34" charset="0"/>
            </a:endParaRPr>
          </a:p>
        </p:txBody>
      </p:sp>
      <p:pic>
        <p:nvPicPr>
          <p:cNvPr id="10" name="Picture 5" descr="I:\arrow.GIF">
            <a:extLst>
              <a:ext uri="{FF2B5EF4-FFF2-40B4-BE49-F238E27FC236}">
                <a16:creationId xmlns:a16="http://schemas.microsoft.com/office/drawing/2014/main" id="{BAA5D396-DBE1-DA91-C542-2F71F6038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788" y="394254"/>
            <a:ext cx="276225" cy="276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92BE72-1A5B-1268-ADDD-6A1CCF60B28E}"/>
              </a:ext>
            </a:extLst>
          </p:cNvPr>
          <p:cNvSpPr txBox="1"/>
          <p:nvPr/>
        </p:nvSpPr>
        <p:spPr>
          <a:xfrm>
            <a:off x="441900" y="946835"/>
            <a:ext cx="6096000" cy="400110"/>
          </a:xfrm>
          <a:prstGeom prst="rect">
            <a:avLst/>
          </a:prstGeom>
          <a:noFill/>
        </p:spPr>
        <p:txBody>
          <a:bodyPr wrap="square">
            <a:spAutoFit/>
          </a:bodyPr>
          <a:lstStyle/>
          <a:p>
            <a:pPr marL="285750" indent="-285750">
              <a:buFont typeface="Wingdings" pitchFamily="2" charset="2"/>
              <a:buChar char="v"/>
            </a:pPr>
            <a:r>
              <a:rPr lang="en-US" sz="2000" b="1" u="sng" dirty="0">
                <a:latin typeface="+mj-lt"/>
              </a:rPr>
              <a:t>The Mechanical Plant (Newton’s Second Law)</a:t>
            </a:r>
          </a:p>
        </p:txBody>
      </p:sp>
      <p:sp>
        <p:nvSpPr>
          <p:cNvPr id="9" name="TextBox 8">
            <a:extLst>
              <a:ext uri="{FF2B5EF4-FFF2-40B4-BE49-F238E27FC236}">
                <a16:creationId xmlns:a16="http://schemas.microsoft.com/office/drawing/2014/main" id="{691A9DEA-130D-4A39-18D3-8D40430200D6}"/>
              </a:ext>
            </a:extLst>
          </p:cNvPr>
          <p:cNvSpPr txBox="1"/>
          <p:nvPr/>
        </p:nvSpPr>
        <p:spPr>
          <a:xfrm>
            <a:off x="1107536" y="1530582"/>
            <a:ext cx="9976927" cy="646331"/>
          </a:xfrm>
          <a:prstGeom prst="rect">
            <a:avLst/>
          </a:prstGeom>
          <a:noFill/>
        </p:spPr>
        <p:txBody>
          <a:bodyPr wrap="square">
            <a:spAutoFit/>
          </a:bodyPr>
          <a:lstStyle/>
          <a:p>
            <a:r>
              <a:rPr lang="en-US" b="1" dirty="0">
                <a:effectLst/>
                <a:latin typeface="Google Sans Text"/>
              </a:rPr>
              <a:t>The Governing Equation:</a:t>
            </a:r>
            <a:r>
              <a:rPr lang="en-US" dirty="0">
                <a:effectLst/>
                <a:latin typeface="Google Sans Text"/>
              </a:rPr>
              <a:t> The motor torque (T</a:t>
            </a:r>
            <a:r>
              <a:rPr lang="en-US" baseline="-25000" dirty="0">
                <a:effectLst/>
                <a:latin typeface="Google Sans Text"/>
              </a:rPr>
              <a:t>m</a:t>
            </a:r>
            <a:r>
              <a:rPr lang="en-US" dirty="0">
                <a:effectLst/>
                <a:latin typeface="Google Sans Text"/>
              </a:rPr>
              <a:t>) must overcome the rotor's rotational inertia and viscous damping:</a:t>
            </a:r>
            <a:endParaRPr lang="en-US"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27924E-06F3-066C-8F62-9381159BD0C2}"/>
                  </a:ext>
                </a:extLst>
              </p:cNvPr>
              <p:cNvSpPr txBox="1"/>
              <p:nvPr/>
            </p:nvSpPr>
            <p:spPr>
              <a:xfrm>
                <a:off x="3047999" y="2360550"/>
                <a:ext cx="6096000"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𝐽</m:t>
                      </m:r>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rPr>
                            <m:t>𝜔</m:t>
                          </m:r>
                        </m:num>
                        <m:den>
                          <m:r>
                            <a:rPr lang="en-US" i="1">
                              <a:latin typeface="Cambria Math" panose="02040503050406030204" pitchFamily="18" charset="0"/>
                            </a:rPr>
                            <m:t>𝑑𝑡</m:t>
                          </m:r>
                        </m:den>
                      </m:f>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𝜔</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𝑚</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𝐿</m:t>
                          </m:r>
                        </m:sub>
                      </m:sSub>
                      <m:d>
                        <m:dPr>
                          <m:ctrlPr>
                            <a:rPr lang="en-US" i="1">
                              <a:latin typeface="Cambria Math" panose="02040503050406030204" pitchFamily="18" charset="0"/>
                            </a:rPr>
                          </m:ctrlPr>
                        </m:dPr>
                        <m:e>
                          <m:r>
                            <a:rPr lang="en-US" i="1">
                              <a:latin typeface="Cambria Math" panose="02040503050406030204" pitchFamily="18" charset="0"/>
                            </a:rPr>
                            <m:t>𝑡</m:t>
                          </m:r>
                        </m:e>
                      </m:d>
                    </m:oMath>
                  </m:oMathPara>
                </a14:m>
                <a:endParaRPr lang="en-US" dirty="0"/>
              </a:p>
            </p:txBody>
          </p:sp>
        </mc:Choice>
        <mc:Fallback xmlns="">
          <p:sp>
            <p:nvSpPr>
              <p:cNvPr id="12" name="TextBox 11">
                <a:extLst>
                  <a:ext uri="{FF2B5EF4-FFF2-40B4-BE49-F238E27FC236}">
                    <a16:creationId xmlns:a16="http://schemas.microsoft.com/office/drawing/2014/main" id="{0327924E-06F3-066C-8F62-9381159BD0C2}"/>
                  </a:ext>
                </a:extLst>
              </p:cNvPr>
              <p:cNvSpPr txBox="1">
                <a:spLocks noRot="1" noChangeAspect="1" noMove="1" noResize="1" noEditPoints="1" noAdjustHandles="1" noChangeArrowheads="1" noChangeShapeType="1" noTextEdit="1"/>
              </p:cNvSpPr>
              <p:nvPr/>
            </p:nvSpPr>
            <p:spPr>
              <a:xfrm>
                <a:off x="3047999" y="2360550"/>
                <a:ext cx="6096000" cy="618246"/>
              </a:xfrm>
              <a:prstGeom prst="rect">
                <a:avLst/>
              </a:prstGeom>
              <a:blipFill>
                <a:blip r:embed="rId3"/>
                <a:stretch>
                  <a:fillRect b="-6000"/>
                </a:stretch>
              </a:blipFill>
            </p:spPr>
            <p:txBody>
              <a:bodyPr/>
              <a:lstStyle/>
              <a:p>
                <a:r>
                  <a:rPr lang="en-US">
                    <a:noFill/>
                  </a:rPr>
                  <a:t> </a:t>
                </a:r>
              </a:p>
            </p:txBody>
          </p:sp>
        </mc:Fallback>
      </mc:AlternateContent>
      <p:graphicFrame>
        <p:nvGraphicFramePr>
          <p:cNvPr id="15" name="Diagram 14">
            <a:extLst>
              <a:ext uri="{FF2B5EF4-FFF2-40B4-BE49-F238E27FC236}">
                <a16:creationId xmlns:a16="http://schemas.microsoft.com/office/drawing/2014/main" id="{EF58E0A3-29DE-2604-D1C2-A53B0EA602D4}"/>
              </a:ext>
            </a:extLst>
          </p:cNvPr>
          <p:cNvGraphicFramePr/>
          <p:nvPr>
            <p:extLst>
              <p:ext uri="{D42A27DB-BD31-4B8C-83A1-F6EECF244321}">
                <p14:modId xmlns:p14="http://schemas.microsoft.com/office/powerpoint/2010/main" val="3869724918"/>
              </p:ext>
            </p:extLst>
          </p:nvPr>
        </p:nvGraphicFramePr>
        <p:xfrm>
          <a:off x="972867" y="3527967"/>
          <a:ext cx="10246264" cy="14773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42311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D775A8-111D-979D-480B-2BDEA3ECFD88}"/>
              </a:ext>
            </a:extLst>
          </p:cNvPr>
          <p:cNvPicPr>
            <a:picLocks noChangeAspect="1"/>
          </p:cNvPicPr>
          <p:nvPr/>
        </p:nvPicPr>
        <p:blipFill>
          <a:blip r:embed="rId2"/>
          <a:stretch>
            <a:fillRect/>
          </a:stretch>
        </p:blipFill>
        <p:spPr>
          <a:xfrm>
            <a:off x="643467" y="1084411"/>
            <a:ext cx="10905066" cy="4689176"/>
          </a:xfrm>
          <a:prstGeom prst="rect">
            <a:avLst/>
          </a:prstGeom>
        </p:spPr>
      </p:pic>
      <p:sp>
        <p:nvSpPr>
          <p:cNvPr id="5" name="Date Placeholder 4">
            <a:extLst>
              <a:ext uri="{FF2B5EF4-FFF2-40B4-BE49-F238E27FC236}">
                <a16:creationId xmlns:a16="http://schemas.microsoft.com/office/drawing/2014/main" id="{3708D509-8BB8-1B80-36EA-F3A0E2BA8F0F}"/>
              </a:ext>
            </a:extLst>
          </p:cNvPr>
          <p:cNvSpPr>
            <a:spLocks noGrp="1"/>
          </p:cNvSpPr>
          <p:nvPr>
            <p:ph type="dt" sz="half" idx="13"/>
          </p:nvPr>
        </p:nvSpPr>
        <p:spPr>
          <a:xfrm>
            <a:off x="838200" y="6356350"/>
            <a:ext cx="2743200" cy="365125"/>
          </a:xfrm>
        </p:spPr>
        <p:txBody>
          <a:bodyPr vert="horz" lIns="91440" tIns="45720" rIns="91440" bIns="45720" rtlCol="0" anchor="ctr">
            <a:normAutofit/>
          </a:bodyPr>
          <a:lstStyle/>
          <a:p>
            <a:pPr>
              <a:spcAft>
                <a:spcPts val="600"/>
              </a:spcAft>
            </a:pPr>
            <a:fld id="{351A0EE1-B564-4BC7-9F42-429FBA12ED94}" type="datetime1">
              <a:rPr lang="en-US" sz="1200" smtClean="0"/>
              <a:pPr>
                <a:spcAft>
                  <a:spcPts val="600"/>
                </a:spcAft>
              </a:pPr>
              <a:t>5/12/2026</a:t>
            </a:fld>
            <a:endParaRPr lang="en-US" sz="1200"/>
          </a:p>
        </p:txBody>
      </p:sp>
      <p:sp>
        <p:nvSpPr>
          <p:cNvPr id="6" name="Slide Number Placeholder 5">
            <a:extLst>
              <a:ext uri="{FF2B5EF4-FFF2-40B4-BE49-F238E27FC236}">
                <a16:creationId xmlns:a16="http://schemas.microsoft.com/office/drawing/2014/main" id="{B4F4F5A5-1EED-D2B8-CEAA-3F13E6DB4D7E}"/>
              </a:ext>
            </a:extLst>
          </p:cNvPr>
          <p:cNvSpPr>
            <a:spLocks noGrp="1"/>
          </p:cNvSpPr>
          <p:nvPr>
            <p:ph type="sldNum" sz="quarter" idx="15"/>
          </p:nvPr>
        </p:nvSpPr>
        <p:spPr>
          <a:xfrm>
            <a:off x="8610600" y="6356350"/>
            <a:ext cx="2743200" cy="365125"/>
          </a:xfrm>
        </p:spPr>
        <p:txBody>
          <a:bodyPr vert="horz" lIns="91440" tIns="45720" rIns="91440" bIns="45720" rtlCol="0" anchor="ctr">
            <a:normAutofit/>
          </a:bodyPr>
          <a:lstStyle/>
          <a:p>
            <a:pPr>
              <a:spcAft>
                <a:spcPts val="600"/>
              </a:spcAft>
            </a:pPr>
            <a:fld id="{05FEBB84-A833-4D9F-8E64-647D4209DE1B}" type="slidenum">
              <a:rPr lang="en-US" smtClean="0"/>
              <a:pPr>
                <a:spcAft>
                  <a:spcPts val="600"/>
                </a:spcAft>
              </a:pPr>
              <a:t>10</a:t>
            </a:fld>
            <a:endParaRPr lang="en-US"/>
          </a:p>
        </p:txBody>
      </p:sp>
      <p:sp>
        <p:nvSpPr>
          <p:cNvPr id="9" name="TextBox 8">
            <a:extLst>
              <a:ext uri="{FF2B5EF4-FFF2-40B4-BE49-F238E27FC236}">
                <a16:creationId xmlns:a16="http://schemas.microsoft.com/office/drawing/2014/main" id="{0013EDEF-1AE0-2F59-7DEB-24FFA153BB2C}"/>
              </a:ext>
            </a:extLst>
          </p:cNvPr>
          <p:cNvSpPr txBox="1"/>
          <p:nvPr/>
        </p:nvSpPr>
        <p:spPr>
          <a:xfrm>
            <a:off x="3068856" y="5588921"/>
            <a:ext cx="5911515" cy="369332"/>
          </a:xfrm>
          <a:prstGeom prst="rect">
            <a:avLst/>
          </a:prstGeom>
          <a:noFill/>
        </p:spPr>
        <p:txBody>
          <a:bodyPr wrap="square">
            <a:spAutoFit/>
          </a:bodyPr>
          <a:lstStyle/>
          <a:p>
            <a:r>
              <a:rPr lang="en-US" sz="1800" b="1" u="sng" dirty="0">
                <a:latin typeface="+mj-lt"/>
              </a:rPr>
              <a:t>Simulink </a:t>
            </a:r>
            <a:r>
              <a:rPr lang="en-US" b="1" u="sng" dirty="0">
                <a:latin typeface="+mj-lt"/>
              </a:rPr>
              <a:t>Model of Newton’s Second Law for Rotational Systems</a:t>
            </a:r>
          </a:p>
        </p:txBody>
      </p:sp>
    </p:spTree>
    <p:extLst>
      <p:ext uri="{BB962C8B-B14F-4D97-AF65-F5344CB8AC3E}">
        <p14:creationId xmlns:p14="http://schemas.microsoft.com/office/powerpoint/2010/main" val="112074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A686638-D698-0034-8B5C-C7B0969F58B4}"/>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E3D3D9E3-9699-FA3C-A06E-83AB6494C30C}"/>
              </a:ext>
            </a:extLst>
          </p:cNvPr>
          <p:cNvSpPr>
            <a:spLocks noGrp="1"/>
          </p:cNvSpPr>
          <p:nvPr>
            <p:ph type="sldNum" sz="quarter" idx="15"/>
          </p:nvPr>
        </p:nvSpPr>
        <p:spPr/>
        <p:txBody>
          <a:bodyPr/>
          <a:lstStyle/>
          <a:p>
            <a:fld id="{05FEBB84-A833-4D9F-8E64-647D4209DE1B}" type="slidenum">
              <a:rPr lang="de-DE" smtClean="0"/>
              <a:t>11</a:t>
            </a:fld>
            <a:endParaRPr lang="de-DE" dirty="0"/>
          </a:p>
        </p:txBody>
      </p:sp>
      <p:sp>
        <p:nvSpPr>
          <p:cNvPr id="3" name="TextBox 2">
            <a:extLst>
              <a:ext uri="{FF2B5EF4-FFF2-40B4-BE49-F238E27FC236}">
                <a16:creationId xmlns:a16="http://schemas.microsoft.com/office/drawing/2014/main" id="{0A4B5B99-9328-9516-A560-7F5254774908}"/>
              </a:ext>
            </a:extLst>
          </p:cNvPr>
          <p:cNvSpPr txBox="1"/>
          <p:nvPr/>
        </p:nvSpPr>
        <p:spPr>
          <a:xfrm>
            <a:off x="441900" y="996434"/>
            <a:ext cx="6096000" cy="400110"/>
          </a:xfrm>
          <a:prstGeom prst="rect">
            <a:avLst/>
          </a:prstGeom>
          <a:noFill/>
        </p:spPr>
        <p:txBody>
          <a:bodyPr wrap="square">
            <a:spAutoFit/>
          </a:bodyPr>
          <a:lstStyle/>
          <a:p>
            <a:pPr marL="342900" indent="-342900">
              <a:buFont typeface="Wingdings" pitchFamily="2" charset="2"/>
              <a:buChar char="v"/>
            </a:pPr>
            <a:r>
              <a:rPr lang="en-US" sz="2000" b="1" u="sng" dirty="0">
                <a:latin typeface="+mj-lt"/>
              </a:rPr>
              <a:t>The System Transfer Function</a:t>
            </a:r>
          </a:p>
        </p:txBody>
      </p:sp>
      <p:graphicFrame>
        <p:nvGraphicFramePr>
          <p:cNvPr id="9" name="Diagram 8">
            <a:extLst>
              <a:ext uri="{FF2B5EF4-FFF2-40B4-BE49-F238E27FC236}">
                <a16:creationId xmlns:a16="http://schemas.microsoft.com/office/drawing/2014/main" id="{8EA78AD8-7DC4-C59F-996D-16CA9381439F}"/>
              </a:ext>
            </a:extLst>
          </p:cNvPr>
          <p:cNvGraphicFramePr/>
          <p:nvPr>
            <p:extLst>
              <p:ext uri="{D42A27DB-BD31-4B8C-83A1-F6EECF244321}">
                <p14:modId xmlns:p14="http://schemas.microsoft.com/office/powerpoint/2010/main" val="3253326880"/>
              </p:ext>
            </p:extLst>
          </p:nvPr>
        </p:nvGraphicFramePr>
        <p:xfrm>
          <a:off x="1274475" y="1629780"/>
          <a:ext cx="9643050" cy="955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466DF84-C382-24CB-FBA5-40BBBF0B1903}"/>
                  </a:ext>
                </a:extLst>
              </p:cNvPr>
              <p:cNvSpPr txBox="1"/>
              <p:nvPr/>
            </p:nvSpPr>
            <p:spPr>
              <a:xfrm>
                <a:off x="3048000" y="2943617"/>
                <a:ext cx="6096000" cy="6766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m:rPr>
                              <m:sty m:val="p"/>
                            </m:rPr>
                            <a:rPr lang="en-US" i="0">
                              <a:latin typeface="Cambria Math" panose="02040503050406030204" pitchFamily="18" charset="0"/>
                            </a:rPr>
                            <m:t>Ω</m:t>
                          </m:r>
                          <m:d>
                            <m:dPr>
                              <m:ctrlPr>
                                <a:rPr lang="en-US" i="1">
                                  <a:latin typeface="Cambria Math" panose="02040503050406030204" pitchFamily="18" charset="0"/>
                                </a:rPr>
                              </m:ctrlPr>
                            </m:dPr>
                            <m:e>
                              <m:r>
                                <a:rPr lang="en-US" i="1">
                                  <a:latin typeface="Cambria Math" panose="02040503050406030204" pitchFamily="18" charset="0"/>
                                </a:rPr>
                                <m:t>𝑠</m:t>
                              </m:r>
                            </m:e>
                          </m:d>
                        </m:num>
                        <m:den>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𝑠</m:t>
                              </m:r>
                            </m:e>
                          </m:d>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num>
                        <m:den>
                          <m:d>
                            <m:dPr>
                              <m:ctrlPr>
                                <a:rPr lang="en-US" i="1">
                                  <a:latin typeface="Cambria Math" panose="02040503050406030204" pitchFamily="18" charset="0"/>
                                </a:rPr>
                              </m:ctrlPr>
                            </m:dPr>
                            <m:e>
                              <m:r>
                                <a:rPr lang="en-US" i="1">
                                  <a:latin typeface="Cambria Math" panose="02040503050406030204" pitchFamily="18" charset="0"/>
                                </a:rPr>
                                <m:t>𝐿𝑠</m:t>
                              </m:r>
                              <m:r>
                                <a:rPr lang="en-US" i="1">
                                  <a:latin typeface="Cambria Math" panose="02040503050406030204" pitchFamily="18" charset="0"/>
                                </a:rPr>
                                <m:t>+</m:t>
                              </m:r>
                              <m:r>
                                <a:rPr lang="en-US" i="1">
                                  <a:latin typeface="Cambria Math" panose="02040503050406030204" pitchFamily="18" charset="0"/>
                                </a:rPr>
                                <m:t>𝑅</m:t>
                              </m:r>
                            </m:e>
                          </m:d>
                          <m:d>
                            <m:dPr>
                              <m:ctrlPr>
                                <a:rPr lang="en-US" i="1">
                                  <a:latin typeface="Cambria Math" panose="02040503050406030204" pitchFamily="18" charset="0"/>
                                </a:rPr>
                              </m:ctrlPr>
                            </m:dPr>
                            <m:e>
                              <m:r>
                                <a:rPr lang="en-US" i="1">
                                  <a:latin typeface="Cambria Math" panose="02040503050406030204" pitchFamily="18" charset="0"/>
                                </a:rPr>
                                <m:t>𝐽𝑠</m:t>
                              </m:r>
                              <m:r>
                                <a:rPr lang="en-US" i="1">
                                  <a:latin typeface="Cambria Math" panose="02040503050406030204" pitchFamily="18" charset="0"/>
                                </a:rPr>
                                <m:t>+</m:t>
                              </m:r>
                              <m:r>
                                <a:rPr lang="en-US" i="1">
                                  <a:latin typeface="Cambria Math" panose="02040503050406030204" pitchFamily="18" charset="0"/>
                                </a:rPr>
                                <m:t>𝐵</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𝑏</m:t>
                              </m:r>
                            </m:sub>
                          </m:sSub>
                        </m:den>
                      </m:f>
                    </m:oMath>
                  </m:oMathPara>
                </a14:m>
                <a:endParaRPr lang="en-US" dirty="0"/>
              </a:p>
            </p:txBody>
          </p:sp>
        </mc:Choice>
        <mc:Fallback xmlns="">
          <p:sp>
            <p:nvSpPr>
              <p:cNvPr id="13" name="TextBox 12">
                <a:extLst>
                  <a:ext uri="{FF2B5EF4-FFF2-40B4-BE49-F238E27FC236}">
                    <a16:creationId xmlns:a16="http://schemas.microsoft.com/office/drawing/2014/main" id="{2466DF84-C382-24CB-FBA5-40BBBF0B1903}"/>
                  </a:ext>
                </a:extLst>
              </p:cNvPr>
              <p:cNvSpPr txBox="1">
                <a:spLocks noRot="1" noChangeAspect="1" noMove="1" noResize="1" noEditPoints="1" noAdjustHandles="1" noChangeArrowheads="1" noChangeShapeType="1" noTextEdit="1"/>
              </p:cNvSpPr>
              <p:nvPr/>
            </p:nvSpPr>
            <p:spPr>
              <a:xfrm>
                <a:off x="3048000" y="2943617"/>
                <a:ext cx="6096000" cy="676660"/>
              </a:xfrm>
              <a:prstGeom prst="rect">
                <a:avLst/>
              </a:prstGeom>
              <a:blipFill>
                <a:blip r:embed="rId8"/>
                <a:stretch>
                  <a:fillRect b="-3636"/>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34F7CDA4-6336-8B38-825A-E49AB9CE5A44}"/>
              </a:ext>
            </a:extLst>
          </p:cNvPr>
          <p:cNvPicPr>
            <a:picLocks noChangeAspect="1"/>
          </p:cNvPicPr>
          <p:nvPr/>
        </p:nvPicPr>
        <p:blipFill>
          <a:blip r:embed="rId9"/>
          <a:srcRect l="3764" t="3737" r="7707" b="12075"/>
          <a:stretch>
            <a:fillRect/>
          </a:stretch>
        </p:blipFill>
        <p:spPr>
          <a:xfrm>
            <a:off x="2959100" y="3916400"/>
            <a:ext cx="6273800" cy="2501900"/>
          </a:xfrm>
          <a:prstGeom prst="rect">
            <a:avLst/>
          </a:prstGeom>
        </p:spPr>
      </p:pic>
      <p:sp>
        <p:nvSpPr>
          <p:cNvPr id="17" name="TextBox 16">
            <a:extLst>
              <a:ext uri="{FF2B5EF4-FFF2-40B4-BE49-F238E27FC236}">
                <a16:creationId xmlns:a16="http://schemas.microsoft.com/office/drawing/2014/main" id="{B38459E8-8630-1186-834E-A8E23AF1223F}"/>
              </a:ext>
            </a:extLst>
          </p:cNvPr>
          <p:cNvSpPr txBox="1"/>
          <p:nvPr/>
        </p:nvSpPr>
        <p:spPr>
          <a:xfrm>
            <a:off x="4352624" y="6369648"/>
            <a:ext cx="3486752" cy="369332"/>
          </a:xfrm>
          <a:prstGeom prst="rect">
            <a:avLst/>
          </a:prstGeom>
          <a:noFill/>
        </p:spPr>
        <p:txBody>
          <a:bodyPr wrap="square">
            <a:spAutoFit/>
          </a:bodyPr>
          <a:lstStyle/>
          <a:p>
            <a:r>
              <a:rPr lang="en-US" sz="1800" b="1" u="sng" dirty="0">
                <a:latin typeface="+mj-lt"/>
              </a:rPr>
              <a:t>Simulink Model of Transfer Function</a:t>
            </a:r>
            <a:endParaRPr lang="en-US" dirty="0"/>
          </a:p>
        </p:txBody>
      </p:sp>
    </p:spTree>
    <p:extLst>
      <p:ext uri="{BB962C8B-B14F-4D97-AF65-F5344CB8AC3E}">
        <p14:creationId xmlns:p14="http://schemas.microsoft.com/office/powerpoint/2010/main" val="2756488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EFE9C102-F612-E8DA-47E0-E12677AA2874}"/>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A29D3F66-B441-31AD-2F4C-67228D97BD99}"/>
              </a:ext>
            </a:extLst>
          </p:cNvPr>
          <p:cNvSpPr>
            <a:spLocks noGrp="1"/>
          </p:cNvSpPr>
          <p:nvPr>
            <p:ph type="sldNum" sz="quarter" idx="15"/>
          </p:nvPr>
        </p:nvSpPr>
        <p:spPr/>
        <p:txBody>
          <a:bodyPr/>
          <a:lstStyle/>
          <a:p>
            <a:fld id="{05FEBB84-A833-4D9F-8E64-647D4209DE1B}" type="slidenum">
              <a:rPr lang="de-DE" smtClean="0"/>
              <a:t>12</a:t>
            </a:fld>
            <a:endParaRPr lang="de-DE" dirty="0"/>
          </a:p>
        </p:txBody>
      </p:sp>
      <p:pic>
        <p:nvPicPr>
          <p:cNvPr id="7" name="Picture 6">
            <a:extLst>
              <a:ext uri="{FF2B5EF4-FFF2-40B4-BE49-F238E27FC236}">
                <a16:creationId xmlns:a16="http://schemas.microsoft.com/office/drawing/2014/main" id="{379CC244-94C1-1C2E-9AAA-BAF263BEC334}"/>
              </a:ext>
            </a:extLst>
          </p:cNvPr>
          <p:cNvPicPr>
            <a:picLocks noChangeAspect="1"/>
          </p:cNvPicPr>
          <p:nvPr/>
        </p:nvPicPr>
        <p:blipFill>
          <a:blip r:embed="rId2"/>
          <a:stretch>
            <a:fillRect/>
          </a:stretch>
        </p:blipFill>
        <p:spPr>
          <a:xfrm>
            <a:off x="2209800" y="1908552"/>
            <a:ext cx="7772400" cy="3040896"/>
          </a:xfrm>
          <a:prstGeom prst="rect">
            <a:avLst/>
          </a:prstGeom>
        </p:spPr>
      </p:pic>
      <p:sp>
        <p:nvSpPr>
          <p:cNvPr id="9" name="TextBox 8">
            <a:extLst>
              <a:ext uri="{FF2B5EF4-FFF2-40B4-BE49-F238E27FC236}">
                <a16:creationId xmlns:a16="http://schemas.microsoft.com/office/drawing/2014/main" id="{6A52CF09-BBB6-69EB-5335-5FC4F9CE45CE}"/>
              </a:ext>
            </a:extLst>
          </p:cNvPr>
          <p:cNvSpPr txBox="1"/>
          <p:nvPr/>
        </p:nvSpPr>
        <p:spPr>
          <a:xfrm>
            <a:off x="3936131" y="5120214"/>
            <a:ext cx="4319738" cy="369332"/>
          </a:xfrm>
          <a:prstGeom prst="rect">
            <a:avLst/>
          </a:prstGeom>
          <a:noFill/>
        </p:spPr>
        <p:txBody>
          <a:bodyPr wrap="square">
            <a:spAutoFit/>
          </a:bodyPr>
          <a:lstStyle/>
          <a:p>
            <a:r>
              <a:rPr lang="en-US" dirty="0"/>
              <a:t>Detailed Simulink Architecture of DC motor</a:t>
            </a:r>
          </a:p>
        </p:txBody>
      </p:sp>
    </p:spTree>
    <p:extLst>
      <p:ext uri="{BB962C8B-B14F-4D97-AF65-F5344CB8AC3E}">
        <p14:creationId xmlns:p14="http://schemas.microsoft.com/office/powerpoint/2010/main" val="1158705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61759AD-CB5B-2849-E992-D09720BB6FCE}"/>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0AAA12CD-2CC9-CAA4-0FC4-1B69F304D352}"/>
              </a:ext>
            </a:extLst>
          </p:cNvPr>
          <p:cNvSpPr>
            <a:spLocks noGrp="1"/>
          </p:cNvSpPr>
          <p:nvPr>
            <p:ph type="sldNum" sz="quarter" idx="15"/>
          </p:nvPr>
        </p:nvSpPr>
        <p:spPr/>
        <p:txBody>
          <a:bodyPr/>
          <a:lstStyle/>
          <a:p>
            <a:fld id="{05FEBB84-A833-4D9F-8E64-647D4209DE1B}" type="slidenum">
              <a:rPr lang="de-DE" smtClean="0"/>
              <a:t>13</a:t>
            </a:fld>
            <a:endParaRPr lang="de-DE" dirty="0"/>
          </a:p>
        </p:txBody>
      </p:sp>
      <p:sp>
        <p:nvSpPr>
          <p:cNvPr id="8" name="Rechteck 9">
            <a:extLst>
              <a:ext uri="{FF2B5EF4-FFF2-40B4-BE49-F238E27FC236}">
                <a16:creationId xmlns:a16="http://schemas.microsoft.com/office/drawing/2014/main" id="{89ED90B1-297E-83F3-A4D1-445B56DA3F06}"/>
              </a:ext>
            </a:extLst>
          </p:cNvPr>
          <p:cNvSpPr txBox="1">
            <a:spLocks noChangeArrowheads="1"/>
          </p:cNvSpPr>
          <p:nvPr/>
        </p:nvSpPr>
        <p:spPr>
          <a:xfrm>
            <a:off x="0" y="301533"/>
            <a:ext cx="9205347" cy="461665"/>
          </a:xfrm>
          <a:prstGeom prst="rect">
            <a:avLst/>
          </a:prstGeom>
          <a:solidFill>
            <a:schemeClr val="bg1">
              <a:lumMod val="85000"/>
              <a:alpha val="80000"/>
            </a:schemeClr>
          </a:solidFill>
        </p:spPr>
        <p:txBody>
          <a:bodyPr wrap="square">
            <a:spAutoFit/>
          </a:bodyPr>
          <a:lstStyle>
            <a:defPPr>
              <a:defRPr lang="de-DE"/>
            </a:defPPr>
            <a:lvl1pPr marL="0" algn="l" defTabSz="914400" rtl="0" eaLnBrk="0" fontAlgn="base" latinLnBrk="0" hangingPunct="0">
              <a:spcBef>
                <a:spcPct val="0"/>
              </a:spcBef>
              <a:spcAft>
                <a:spcPct val="0"/>
              </a:spcAft>
              <a:defRPr sz="2400" kern="1200">
                <a:solidFill>
                  <a:schemeClr val="tx1"/>
                </a:solidFill>
                <a:latin typeface="AvantGarde Bk BT" pitchFamily="34" charset="0"/>
                <a:ea typeface="+mj-ea"/>
                <a:cs typeface="+mj-cs"/>
              </a:defRPr>
            </a:lvl1pPr>
            <a:lvl2pPr marL="4572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2pPr>
            <a:lvl3pPr marL="9144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3pPr>
            <a:lvl4pPr marL="13716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4pPr>
            <a:lvl5pPr marL="1828800" algn="l" defTabSz="914400" rtl="0" eaLnBrk="0" fontAlgn="base" latinLnBrk="0" hangingPunct="0">
              <a:spcBef>
                <a:spcPct val="0"/>
              </a:spcBef>
              <a:spcAft>
                <a:spcPct val="0"/>
              </a:spcAft>
              <a:defRPr sz="2400" kern="1200">
                <a:solidFill>
                  <a:schemeClr val="tx1"/>
                </a:solidFill>
                <a:latin typeface="AvantGarde Bk BT" pitchFamily="34" charset="0"/>
                <a:ea typeface="+mn-ea"/>
                <a:cs typeface="+mn-cs"/>
              </a:defRPr>
            </a:lvl5pPr>
            <a:lvl6pPr marL="4572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6pPr>
            <a:lvl7pPr marL="9144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7pPr>
            <a:lvl8pPr marL="13716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8pPr>
            <a:lvl9pPr marL="1828800" algn="l" defTabSz="914400" rtl="0" eaLnBrk="1" fontAlgn="base" latinLnBrk="0" hangingPunct="1">
              <a:spcBef>
                <a:spcPct val="0"/>
              </a:spcBef>
              <a:spcAft>
                <a:spcPct val="0"/>
              </a:spcAft>
              <a:defRPr sz="2800" kern="1200">
                <a:solidFill>
                  <a:schemeClr val="tx1"/>
                </a:solidFill>
                <a:latin typeface="AvantGarde Bk BT" pitchFamily="34" charset="0"/>
                <a:ea typeface="+mn-ea"/>
                <a:cs typeface="+mn-cs"/>
              </a:defRPr>
            </a:lvl9pPr>
          </a:lstStyle>
          <a:p>
            <a:pPr>
              <a:tabLst>
                <a:tab pos="715963" algn="l"/>
              </a:tabLst>
              <a:defRPr/>
            </a:pPr>
            <a:r>
              <a:rPr lang="en-US" dirty="0"/>
              <a:t>	</a:t>
            </a:r>
            <a:r>
              <a:rPr lang="en-US" b="1" dirty="0">
                <a:solidFill>
                  <a:srgbClr val="8064A2">
                    <a:lumMod val="50000"/>
                  </a:srgbClr>
                </a:solidFill>
                <a:latin typeface="AvantGarde Md BT" panose="020B0602020202020204" pitchFamily="34" charset="0"/>
              </a:rPr>
              <a:t>Closed-Loop</a:t>
            </a:r>
            <a:r>
              <a:rPr lang="en-US" dirty="0"/>
              <a:t> </a:t>
            </a:r>
            <a:r>
              <a:rPr lang="en-US" b="1" dirty="0">
                <a:solidFill>
                  <a:srgbClr val="8064A2">
                    <a:lumMod val="50000"/>
                  </a:srgbClr>
                </a:solidFill>
                <a:latin typeface="AvantGarde Md BT" panose="020B0602020202020204" pitchFamily="34" charset="0"/>
              </a:rPr>
              <a:t>PID</a:t>
            </a:r>
            <a:r>
              <a:rPr lang="en-US" dirty="0"/>
              <a:t> </a:t>
            </a:r>
            <a:r>
              <a:rPr lang="en-US" b="1" dirty="0">
                <a:solidFill>
                  <a:srgbClr val="8064A2">
                    <a:lumMod val="50000"/>
                  </a:srgbClr>
                </a:solidFill>
                <a:latin typeface="AvantGarde Md BT" panose="020B0602020202020204" pitchFamily="34" charset="0"/>
              </a:rPr>
              <a:t>Analysis</a:t>
            </a:r>
            <a:r>
              <a:rPr lang="en-US" dirty="0"/>
              <a:t> &amp; </a:t>
            </a:r>
            <a:r>
              <a:rPr lang="en-US" b="1" dirty="0">
                <a:solidFill>
                  <a:srgbClr val="8064A2">
                    <a:lumMod val="50000"/>
                  </a:srgbClr>
                </a:solidFill>
                <a:latin typeface="AvantGarde Md BT" panose="020B0602020202020204" pitchFamily="34" charset="0"/>
              </a:rPr>
              <a:t>Architecture</a:t>
            </a:r>
            <a:endParaRPr lang="de-DE" b="1" dirty="0">
              <a:solidFill>
                <a:srgbClr val="8064A2">
                  <a:lumMod val="50000"/>
                </a:srgbClr>
              </a:solidFill>
              <a:latin typeface="AvantGarde Md BT" panose="020B0602020202020204" pitchFamily="34" charset="0"/>
            </a:endParaRPr>
          </a:p>
        </p:txBody>
      </p:sp>
      <p:pic>
        <p:nvPicPr>
          <p:cNvPr id="10" name="Picture 5" descr="I:\arrow.GIF">
            <a:extLst>
              <a:ext uri="{FF2B5EF4-FFF2-40B4-BE49-F238E27FC236}">
                <a16:creationId xmlns:a16="http://schemas.microsoft.com/office/drawing/2014/main" id="{D2D121F5-1C50-4E62-4E28-70501FE86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788" y="394254"/>
            <a:ext cx="276225" cy="2762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F84D02E-4D3B-916C-7010-531C9AB546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011" y="1455779"/>
            <a:ext cx="9819977" cy="3946441"/>
          </a:xfrm>
          <a:prstGeom prst="rect">
            <a:avLst/>
          </a:prstGeom>
        </p:spPr>
      </p:pic>
    </p:spTree>
    <p:extLst>
      <p:ext uri="{BB962C8B-B14F-4D97-AF65-F5344CB8AC3E}">
        <p14:creationId xmlns:p14="http://schemas.microsoft.com/office/powerpoint/2010/main" val="1961295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472B654-59AE-9749-1BCA-4CB19E530939}"/>
              </a:ext>
            </a:extLst>
          </p:cNvPr>
          <p:cNvSpPr>
            <a:spLocks noGrp="1"/>
          </p:cNvSpPr>
          <p:nvPr>
            <p:ph type="body" sz="quarter" idx="12"/>
          </p:nvPr>
        </p:nvSpPr>
        <p:spPr>
          <a:xfrm>
            <a:off x="468352" y="1092820"/>
            <a:ext cx="11207712" cy="4973443"/>
          </a:xfrm>
        </p:spPr>
        <p:txBody>
          <a:bodyPr/>
          <a:lstStyle/>
          <a:p>
            <a:pPr marL="285750" indent="-285750">
              <a:buFont typeface="Arial" panose="020B0604020202020204" pitchFamily="34" charset="0"/>
              <a:buChar char="•"/>
            </a:pPr>
            <a:r>
              <a:rPr lang="en-US" dirty="0">
                <a:hlinkClick r:id="rId2"/>
              </a:rPr>
              <a:t>https://www.researchgate.net/figure/Schematic-diagram-of-an-armature-controlled-DC-motor_fig1_365605456</a:t>
            </a:r>
            <a:endParaRPr lang="en-US" dirty="0"/>
          </a:p>
          <a:p>
            <a:pPr marL="285750" indent="-285750">
              <a:buFont typeface="Arial" panose="020B0604020202020204" pitchFamily="34" charset="0"/>
              <a:buChar char="•"/>
            </a:pPr>
            <a:r>
              <a:rPr lang="en-US" dirty="0">
                <a:hlinkClick r:id="rId3"/>
              </a:rPr>
              <a:t>https://www.researchgate.net/figure/a-Schematic-diagram-of-DC-motor-and-accessories-13-b-Simplified-schematic-diagram_fig6_311102892</a:t>
            </a:r>
            <a:endParaRPr lang="en-US" dirty="0"/>
          </a:p>
          <a:p>
            <a:pPr marL="285750" indent="-285750">
              <a:buFont typeface="Arial" panose="020B0604020202020204" pitchFamily="34" charset="0"/>
              <a:buChar char="•"/>
            </a:pPr>
            <a:r>
              <a:rPr lang="en-US" dirty="0">
                <a:hlinkClick r:id="rId4"/>
              </a:rPr>
              <a:t>https://scispace.com/pdf/dc-motor-speed-control-using-pid-controller-1fjix712dv.pdf</a:t>
            </a:r>
            <a:endParaRPr lang="en-US" dirty="0"/>
          </a:p>
          <a:p>
            <a:pPr marL="285750" indent="-285750">
              <a:buFont typeface="Arial" panose="020B0604020202020204" pitchFamily="34" charset="0"/>
              <a:buChar char="•"/>
            </a:pPr>
            <a:r>
              <a:rPr lang="en-US" dirty="0"/>
              <a:t>International Journal of Applied Engineering Research ISSN 0973-4562 Volume 14, Number 1 (2019) pp. 202-206 © Research India Publications. </a:t>
            </a:r>
            <a:r>
              <a:rPr lang="en-US" dirty="0">
                <a:hlinkClick r:id="rId5"/>
              </a:rPr>
              <a:t>http://www.ripublication.com</a:t>
            </a:r>
            <a:endParaRPr lang="en-US" dirty="0"/>
          </a:p>
          <a:p>
            <a:pPr marL="285750" indent="-285750">
              <a:buFont typeface="Arial" panose="020B0604020202020204" pitchFamily="34" charset="0"/>
              <a:buChar char="•"/>
            </a:pPr>
            <a:r>
              <a:rPr lang="en-US" dirty="0"/>
              <a:t>Ang, K.H. and Chong, G.C.Y. and Li, Y. (2005) PID control system </a:t>
            </a:r>
            <a:r>
              <a:rPr lang="en-US" i="1" dirty="0"/>
              <a:t>analysis, design, and technology. IEEE Transactions on Control Systems Technology 13(4):pp. 559-576.</a:t>
            </a:r>
          </a:p>
          <a:p>
            <a:pPr marL="285750" indent="-285750">
              <a:buFont typeface="Arial" panose="020B0604020202020204" pitchFamily="34" charset="0"/>
              <a:buChar char="•"/>
            </a:pPr>
            <a:r>
              <a:rPr lang="en-US" dirty="0"/>
              <a:t>The Application of PID Control in DC Motor Control Systems </a:t>
            </a:r>
            <a:r>
              <a:rPr lang="en-US" dirty="0" err="1"/>
              <a:t>Jifan</a:t>
            </a:r>
            <a:r>
              <a:rPr lang="en-US" dirty="0"/>
              <a:t> Chen College of Information Science and Technology, </a:t>
            </a:r>
            <a:r>
              <a:rPr lang="en-US" dirty="0" err="1"/>
              <a:t>Donghua</a:t>
            </a:r>
            <a:r>
              <a:rPr lang="en-US" dirty="0"/>
              <a:t> University, Shanghai,201600, China</a:t>
            </a:r>
          </a:p>
          <a:p>
            <a:pPr marL="285750" indent="-285750">
              <a:buFont typeface="Arial" panose="020B0604020202020204" pitchFamily="34" charset="0"/>
              <a:buChar char="•"/>
            </a:pPr>
            <a:endParaRPr lang="en-US" dirty="0"/>
          </a:p>
        </p:txBody>
      </p:sp>
      <p:sp>
        <p:nvSpPr>
          <p:cNvPr id="5" name="Date Placeholder 4">
            <a:extLst>
              <a:ext uri="{FF2B5EF4-FFF2-40B4-BE49-F238E27FC236}">
                <a16:creationId xmlns:a16="http://schemas.microsoft.com/office/drawing/2014/main" id="{F9EFE954-8253-B14B-EC84-4E8D85FA0239}"/>
              </a:ext>
            </a:extLst>
          </p:cNvPr>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a:extLst>
              <a:ext uri="{FF2B5EF4-FFF2-40B4-BE49-F238E27FC236}">
                <a16:creationId xmlns:a16="http://schemas.microsoft.com/office/drawing/2014/main" id="{13A20894-C14D-0751-F56F-73E347044BBB}"/>
              </a:ext>
            </a:extLst>
          </p:cNvPr>
          <p:cNvSpPr>
            <a:spLocks noGrp="1"/>
          </p:cNvSpPr>
          <p:nvPr>
            <p:ph type="sldNum" sz="quarter" idx="15"/>
          </p:nvPr>
        </p:nvSpPr>
        <p:spPr/>
        <p:txBody>
          <a:bodyPr/>
          <a:lstStyle/>
          <a:p>
            <a:fld id="{05FEBB84-A833-4D9F-8E64-647D4209DE1B}" type="slidenum">
              <a:rPr lang="de-DE" smtClean="0"/>
              <a:t>14</a:t>
            </a:fld>
            <a:endParaRPr lang="de-DE" dirty="0"/>
          </a:p>
        </p:txBody>
      </p:sp>
      <p:sp>
        <p:nvSpPr>
          <p:cNvPr id="7" name="Rechteck 9">
            <a:extLst>
              <a:ext uri="{FF2B5EF4-FFF2-40B4-BE49-F238E27FC236}">
                <a16:creationId xmlns:a16="http://schemas.microsoft.com/office/drawing/2014/main" id="{44821FEE-3599-7398-6E17-FC6B1B72B528}"/>
              </a:ext>
            </a:extLst>
          </p:cNvPr>
          <p:cNvSpPr txBox="1">
            <a:spLocks noChangeArrowheads="1"/>
          </p:cNvSpPr>
          <p:nvPr/>
        </p:nvSpPr>
        <p:spPr>
          <a:xfrm>
            <a:off x="2027" y="293595"/>
            <a:ext cx="9205347" cy="461665"/>
          </a:xfrm>
          <a:prstGeom prst="rect">
            <a:avLst/>
          </a:prstGeom>
          <a:solidFill>
            <a:schemeClr val="bg1">
              <a:lumMod val="85000"/>
              <a:alpha val="80000"/>
            </a:schemeClr>
          </a:solidFill>
        </p:spPr>
        <p:txBody>
          <a:bodyPr wrap="square">
            <a:spAutoFit/>
          </a:bodyPr>
          <a:lstStyle>
            <a:lvl1pPr algn="l" rtl="0" eaLnBrk="0" fontAlgn="base" hangingPunct="0">
              <a:spcBef>
                <a:spcPct val="0"/>
              </a:spcBef>
              <a:spcAft>
                <a:spcPct val="0"/>
              </a:spcAft>
              <a:defRPr sz="2400" kern="1200">
                <a:solidFill>
                  <a:schemeClr val="tx1"/>
                </a:solidFill>
                <a:latin typeface="AvantGarde Bk BT" pitchFamily="34" charset="0"/>
                <a:ea typeface="+mj-ea"/>
                <a:cs typeface="+mj-cs"/>
              </a:defRPr>
            </a:lvl1pPr>
            <a:lvl2pPr algn="l" rtl="0" eaLnBrk="0" fontAlgn="base" hangingPunct="0">
              <a:spcBef>
                <a:spcPct val="0"/>
              </a:spcBef>
              <a:spcAft>
                <a:spcPct val="0"/>
              </a:spcAft>
              <a:defRPr sz="2400">
                <a:solidFill>
                  <a:schemeClr val="tx1"/>
                </a:solidFill>
                <a:latin typeface="AvantGarde Bk BT" pitchFamily="34" charset="0"/>
              </a:defRPr>
            </a:lvl2pPr>
            <a:lvl3pPr algn="l" rtl="0" eaLnBrk="0" fontAlgn="base" hangingPunct="0">
              <a:spcBef>
                <a:spcPct val="0"/>
              </a:spcBef>
              <a:spcAft>
                <a:spcPct val="0"/>
              </a:spcAft>
              <a:defRPr sz="2400">
                <a:solidFill>
                  <a:schemeClr val="tx1"/>
                </a:solidFill>
                <a:latin typeface="AvantGarde Bk BT" pitchFamily="34" charset="0"/>
              </a:defRPr>
            </a:lvl3pPr>
            <a:lvl4pPr algn="l" rtl="0" eaLnBrk="0" fontAlgn="base" hangingPunct="0">
              <a:spcBef>
                <a:spcPct val="0"/>
              </a:spcBef>
              <a:spcAft>
                <a:spcPct val="0"/>
              </a:spcAft>
              <a:defRPr sz="2400">
                <a:solidFill>
                  <a:schemeClr val="tx1"/>
                </a:solidFill>
                <a:latin typeface="AvantGarde Bk BT" pitchFamily="34" charset="0"/>
              </a:defRPr>
            </a:lvl4pPr>
            <a:lvl5pPr algn="l" rtl="0" eaLnBrk="0" fontAlgn="base" hangingPunct="0">
              <a:spcBef>
                <a:spcPct val="0"/>
              </a:spcBef>
              <a:spcAft>
                <a:spcPct val="0"/>
              </a:spcAft>
              <a:defRPr sz="2400">
                <a:solidFill>
                  <a:schemeClr val="tx1"/>
                </a:solidFill>
                <a:latin typeface="AvantGarde Bk BT" pitchFamily="34" charset="0"/>
              </a:defRPr>
            </a:lvl5pPr>
            <a:lvl6pPr marL="457200" algn="l" rtl="0" eaLnBrk="1" fontAlgn="base" hangingPunct="1">
              <a:spcBef>
                <a:spcPct val="0"/>
              </a:spcBef>
              <a:spcAft>
                <a:spcPct val="0"/>
              </a:spcAft>
              <a:defRPr sz="2800">
                <a:solidFill>
                  <a:schemeClr val="tx1"/>
                </a:solidFill>
                <a:latin typeface="AvantGarde Bk BT" pitchFamily="34" charset="0"/>
              </a:defRPr>
            </a:lvl6pPr>
            <a:lvl7pPr marL="914400" algn="l" rtl="0" eaLnBrk="1" fontAlgn="base" hangingPunct="1">
              <a:spcBef>
                <a:spcPct val="0"/>
              </a:spcBef>
              <a:spcAft>
                <a:spcPct val="0"/>
              </a:spcAft>
              <a:defRPr sz="2800">
                <a:solidFill>
                  <a:schemeClr val="tx1"/>
                </a:solidFill>
                <a:latin typeface="AvantGarde Bk BT" pitchFamily="34" charset="0"/>
              </a:defRPr>
            </a:lvl7pPr>
            <a:lvl8pPr marL="1371600" algn="l" rtl="0" eaLnBrk="1" fontAlgn="base" hangingPunct="1">
              <a:spcBef>
                <a:spcPct val="0"/>
              </a:spcBef>
              <a:spcAft>
                <a:spcPct val="0"/>
              </a:spcAft>
              <a:defRPr sz="2800">
                <a:solidFill>
                  <a:schemeClr val="tx1"/>
                </a:solidFill>
                <a:latin typeface="AvantGarde Bk BT" pitchFamily="34" charset="0"/>
              </a:defRPr>
            </a:lvl8pPr>
            <a:lvl9pPr marL="1828800" algn="l" rtl="0" eaLnBrk="1" fontAlgn="base" hangingPunct="1">
              <a:spcBef>
                <a:spcPct val="0"/>
              </a:spcBef>
              <a:spcAft>
                <a:spcPct val="0"/>
              </a:spcAft>
              <a:defRPr sz="2800">
                <a:solidFill>
                  <a:schemeClr val="tx1"/>
                </a:solidFill>
                <a:latin typeface="AvantGarde Bk BT" pitchFamily="34" charset="0"/>
              </a:defRPr>
            </a:lvl9pPr>
          </a:lstStyle>
          <a:p>
            <a:pPr>
              <a:tabLst>
                <a:tab pos="715963" algn="l"/>
              </a:tabLst>
              <a:defRPr/>
            </a:pPr>
            <a:r>
              <a:rPr lang="de-DE" b="1" dirty="0">
                <a:solidFill>
                  <a:srgbClr val="8064A2">
                    <a:lumMod val="50000"/>
                  </a:srgbClr>
                </a:solidFill>
                <a:latin typeface="AvantGarde Md BT" panose="020B0602020202020204" pitchFamily="34" charset="0"/>
              </a:rPr>
              <a:t>	</a:t>
            </a:r>
            <a:r>
              <a:rPr lang="en-US" b="1" dirty="0">
                <a:solidFill>
                  <a:srgbClr val="8064A2">
                    <a:lumMod val="50000"/>
                  </a:srgbClr>
                </a:solidFill>
                <a:latin typeface="AvantGarde Md BT" panose="020B0602020202020204" pitchFamily="34" charset="0"/>
              </a:rPr>
              <a:t> Reference</a:t>
            </a:r>
          </a:p>
        </p:txBody>
      </p:sp>
      <p:pic>
        <p:nvPicPr>
          <p:cNvPr id="8" name="Picture 5" descr="I:\arrow.GIF">
            <a:extLst>
              <a:ext uri="{FF2B5EF4-FFF2-40B4-BE49-F238E27FC236}">
                <a16:creationId xmlns:a16="http://schemas.microsoft.com/office/drawing/2014/main" id="{47A6CBD1-CC81-A02F-FA35-68747EF8A7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788" y="394254"/>
            <a:ext cx="276225" cy="27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916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3"/>
          </p:nvPr>
        </p:nvSpPr>
        <p:spPr/>
        <p:txBody>
          <a:bodyPr/>
          <a:lstStyle/>
          <a:p>
            <a:fld id="{351A0EE1-B564-4BC7-9F42-429FBA12ED94}" type="datetime1">
              <a:rPr lang="de-DE" smtClean="0"/>
              <a:t>12.05.2026</a:t>
            </a:fld>
            <a:endParaRPr lang="de-DE" dirty="0"/>
          </a:p>
        </p:txBody>
      </p:sp>
      <p:sp>
        <p:nvSpPr>
          <p:cNvPr id="6" name="Slide Number Placeholder 5"/>
          <p:cNvSpPr>
            <a:spLocks noGrp="1"/>
          </p:cNvSpPr>
          <p:nvPr>
            <p:ph type="sldNum" sz="quarter" idx="15"/>
          </p:nvPr>
        </p:nvSpPr>
        <p:spPr/>
        <p:txBody>
          <a:bodyPr/>
          <a:lstStyle/>
          <a:p>
            <a:fld id="{05FEBB84-A833-4D9F-8E64-647D4209DE1B}" type="slidenum">
              <a:rPr lang="de-DE" smtClean="0"/>
              <a:t>15</a:t>
            </a:fld>
            <a:endParaRPr lang="de-DE" dirty="0"/>
          </a:p>
        </p:txBody>
      </p:sp>
      <p:cxnSp>
        <p:nvCxnSpPr>
          <p:cNvPr id="45" name="Gerader Verbinder 20"/>
          <p:cNvCxnSpPr/>
          <p:nvPr/>
        </p:nvCxnSpPr>
        <p:spPr>
          <a:xfrm>
            <a:off x="335487" y="1132514"/>
            <a:ext cx="11590511" cy="0"/>
          </a:xfrm>
          <a:prstGeom prst="line">
            <a:avLst/>
          </a:prstGeom>
          <a:ln w="19050"/>
        </p:spPr>
        <p:style>
          <a:lnRef idx="1">
            <a:srgbClr val="4472C4"/>
          </a:lnRef>
          <a:fillRef idx="0">
            <a:srgbClr val="4472C4"/>
          </a:fillRef>
          <a:effectRef idx="0">
            <a:srgbClr val="4472C4"/>
          </a:effectRef>
          <a:fontRef idx="minor">
            <a:sysClr val="windowText" lastClr="000000"/>
          </a:fontRef>
        </p:style>
      </p:cxnSp>
      <p:sp>
        <p:nvSpPr>
          <p:cNvPr id="46" name="Textfeld 1"/>
          <p:cNvSpPr txBox="1"/>
          <p:nvPr/>
        </p:nvSpPr>
        <p:spPr>
          <a:xfrm>
            <a:off x="266002" y="1798627"/>
            <a:ext cx="6055995" cy="2143125"/>
          </a:xfrm>
          <a:prstGeom prst="rect">
            <a:avLst/>
          </a:prstGeom>
          <a:noFill/>
        </p:spPr>
        <p:txBody>
          <a:bodyPr wrap="square" rtlCol="0">
            <a:noAutofit/>
          </a:bodyPr>
          <a:lstStyle/>
          <a:p>
            <a:r>
              <a:rPr lang="de-DE" u="sng" dirty="0">
                <a:solidFill>
                  <a:srgbClr val="2518CC"/>
                </a:solidFill>
                <a:latin typeface="Arial" panose="020B0604020202020204" pitchFamily="34" charset="0"/>
                <a:cs typeface="Arial" panose="020B0604020202020204" pitchFamily="34" charset="0"/>
              </a:rPr>
              <a:t>Work </a:t>
            </a:r>
            <a:r>
              <a:rPr lang="de-DE" u="sng" dirty="0" err="1">
                <a:solidFill>
                  <a:srgbClr val="2518CC"/>
                </a:solidFill>
                <a:latin typeface="Arial" panose="020B0604020202020204" pitchFamily="34" charset="0"/>
                <a:cs typeface="Arial" panose="020B0604020202020204" pitchFamily="34" charset="0"/>
              </a:rPr>
              <a:t>completed</a:t>
            </a:r>
            <a:r>
              <a:rPr lang="de-DE" u="sng" dirty="0">
                <a:solidFill>
                  <a:srgbClr val="2518CC"/>
                </a:solidFill>
                <a:latin typeface="Arial" panose="020B0604020202020204" pitchFamily="34" charset="0"/>
                <a:cs typeface="Arial" panose="020B0604020202020204" pitchFamily="34" charset="0"/>
              </a:rPr>
              <a:t> /Status:</a:t>
            </a:r>
          </a:p>
          <a:p>
            <a:pPr marL="285750" indent="-285750">
              <a:buFont typeface="Courier New" panose="02070309020205020404" pitchFamily="34" charset="0"/>
              <a:buChar char="o"/>
            </a:pPr>
            <a:r>
              <a:rPr lang="en-US" altLang="en-US" sz="1400" dirty="0">
                <a:solidFill>
                  <a:schemeClr val="tx1"/>
                </a:solidFill>
              </a:rPr>
              <a:t> Topic selected: PID Controller Simulation for DC Motor (MATLAB/Simulink)</a:t>
            </a:r>
          </a:p>
          <a:p>
            <a:pPr marL="285750" indent="-285750">
              <a:buFont typeface="Courier New" panose="02070309020205020404" pitchFamily="34" charset="0"/>
              <a:buChar char="o"/>
            </a:pPr>
            <a:r>
              <a:rPr lang="en-US" altLang="en-US" sz="1400" dirty="0">
                <a:solidFill>
                  <a:schemeClr val="tx1"/>
                </a:solidFill>
              </a:rPr>
              <a:t> Problem statement defined</a:t>
            </a:r>
          </a:p>
          <a:p>
            <a:pPr marL="285750" indent="-285750">
              <a:buFont typeface="Courier New" panose="02070309020205020404" pitchFamily="34" charset="0"/>
              <a:buChar char="o"/>
            </a:pPr>
            <a:r>
              <a:rPr lang="en-US" altLang="en-US" sz="1400" dirty="0">
                <a:solidFill>
                  <a:schemeClr val="tx1"/>
                </a:solidFill>
              </a:rPr>
              <a:t> DC Motor mathematical model studied (electrical + mechanical equations)</a:t>
            </a:r>
          </a:p>
          <a:p>
            <a:pPr marL="285750" indent="-285750">
              <a:buFont typeface="Courier New" panose="02070309020205020404" pitchFamily="34" charset="0"/>
              <a:buChar char="o"/>
            </a:pPr>
            <a:r>
              <a:rPr lang="en-US" altLang="en-US" sz="1400" dirty="0">
                <a:solidFill>
                  <a:schemeClr val="tx1"/>
                </a:solidFill>
              </a:rPr>
              <a:t>PID theory reviewed (P, I, D terms and control law)</a:t>
            </a:r>
          </a:p>
          <a:p>
            <a:pPr marL="285750" indent="-285750">
              <a:buFont typeface="Courier New" panose="02070309020205020404" pitchFamily="34" charset="0"/>
              <a:buChar char="o"/>
            </a:pPr>
            <a:r>
              <a:rPr lang="en-US" altLang="en-US" sz="1400" dirty="0">
                <a:solidFill>
                  <a:schemeClr val="tx1"/>
                </a:solidFill>
              </a:rPr>
              <a:t> Simulink model structure planned</a:t>
            </a:r>
          </a:p>
          <a:p>
            <a:pPr marL="285750" indent="-285750">
              <a:buFont typeface="Courier New" panose="02070309020205020404" pitchFamily="34" charset="0"/>
              <a:buChar char="o"/>
            </a:pPr>
            <a:r>
              <a:rPr lang="en-US" altLang="en-US" sz="1400" dirty="0">
                <a:solidFill>
                  <a:schemeClr val="tx1"/>
                </a:solidFill>
              </a:rPr>
              <a:t>Tuning methods identified (Manual, Ziegler-Nichols, Auto-tune)</a:t>
            </a:r>
          </a:p>
          <a:p>
            <a:pPr marL="285750" indent="-285750">
              <a:buFont typeface="Courier New" panose="02070309020205020404" pitchFamily="34" charset="0"/>
              <a:buChar char="o"/>
            </a:pPr>
            <a:r>
              <a:rPr lang="en-US" altLang="en-US" sz="1400" dirty="0">
                <a:solidFill>
                  <a:schemeClr val="tx1"/>
                </a:solidFill>
              </a:rPr>
              <a:t>Concept presentation slides prepared</a:t>
            </a:r>
          </a:p>
          <a:p>
            <a:pPr marL="285750" indent="-285750">
              <a:buFont typeface="Courier New" panose="02070309020205020404" pitchFamily="34" charset="0"/>
              <a:buChar char="o"/>
            </a:pPr>
            <a:r>
              <a:rPr lang="en-US" altLang="en-US" sz="1400" dirty="0"/>
              <a:t>Build the DC Motor transfer function in Simulink</a:t>
            </a:r>
          </a:p>
          <a:p>
            <a:pPr marL="285750" indent="-285750">
              <a:buFont typeface="Courier New" panose="02070309020205020404" pitchFamily="34" charset="0"/>
              <a:buChar char="o"/>
            </a:pPr>
            <a:r>
              <a:rPr lang="en-US" altLang="en-US" sz="1400" dirty="0"/>
              <a:t>Implement the PID Controller block in closed-loop</a:t>
            </a:r>
          </a:p>
          <a:p>
            <a:pPr marL="285750" indent="-285750">
              <a:buFont typeface="Courier New" panose="02070309020205020404" pitchFamily="34" charset="0"/>
              <a:buChar char="o"/>
            </a:pPr>
            <a:endParaRPr lang="en-GB" sz="1400" dirty="0">
              <a:solidFill>
                <a:schemeClr val="tx1"/>
              </a:solidFill>
            </a:endParaRPr>
          </a:p>
        </p:txBody>
      </p:sp>
      <p:sp>
        <p:nvSpPr>
          <p:cNvPr id="47" name="Textfeld 6"/>
          <p:cNvSpPr txBox="1"/>
          <p:nvPr/>
        </p:nvSpPr>
        <p:spPr>
          <a:xfrm>
            <a:off x="266002" y="687403"/>
            <a:ext cx="966931" cy="369332"/>
          </a:xfrm>
          <a:prstGeom prst="rect">
            <a:avLst/>
          </a:prstGeom>
          <a:noFill/>
        </p:spPr>
        <p:txBody>
          <a:bodyPr wrap="none" rtlCol="0">
            <a:spAutoFit/>
          </a:bodyPr>
          <a:lstStyle/>
          <a:p>
            <a:r>
              <a:rPr lang="de-DE" dirty="0">
                <a:solidFill>
                  <a:srgbClr val="2518CC"/>
                </a:solidFill>
                <a:latin typeface="Arial" panose="020B0604020202020204" pitchFamily="34" charset="0"/>
                <a:cs typeface="Arial" panose="020B0604020202020204" pitchFamily="34" charset="0"/>
              </a:rPr>
              <a:t>Project</a:t>
            </a:r>
            <a:r>
              <a:rPr lang="de-DE" dirty="0">
                <a:latin typeface="Arial" panose="020B0604020202020204" pitchFamily="34" charset="0"/>
                <a:cs typeface="Arial" panose="020B0604020202020204" pitchFamily="34" charset="0"/>
              </a:rPr>
              <a:t>:</a:t>
            </a:r>
            <a:endParaRPr lang="en-GB" dirty="0">
              <a:solidFill>
                <a:sysClr val="window" lastClr="FFFFFF">
                  <a:lumMod val="85000"/>
                </a:sysClr>
              </a:solidFill>
              <a:latin typeface="Arial" panose="020B0604020202020204" pitchFamily="34" charset="0"/>
              <a:cs typeface="Arial" panose="020B0604020202020204" pitchFamily="34" charset="0"/>
            </a:endParaRPr>
          </a:p>
        </p:txBody>
      </p:sp>
      <p:sp>
        <p:nvSpPr>
          <p:cNvPr id="48" name="Textfeld 32"/>
          <p:cNvSpPr txBox="1"/>
          <p:nvPr/>
        </p:nvSpPr>
        <p:spPr>
          <a:xfrm>
            <a:off x="275779" y="1178179"/>
            <a:ext cx="1960880" cy="645160"/>
          </a:xfrm>
          <a:prstGeom prst="rect">
            <a:avLst/>
          </a:prstGeom>
          <a:noFill/>
        </p:spPr>
        <p:txBody>
          <a:bodyPr wrap="none" rtlCol="0">
            <a:spAutoFit/>
          </a:bodyPr>
          <a:lstStyle/>
          <a:p>
            <a:r>
              <a:rPr lang="de-DE" dirty="0">
                <a:solidFill>
                  <a:srgbClr val="2518CC"/>
                </a:solidFill>
                <a:latin typeface="Arial" panose="020B0604020202020204" pitchFamily="34" charset="0"/>
                <a:cs typeface="Arial" panose="020B0604020202020204" pitchFamily="34" charset="0"/>
              </a:rPr>
              <a:t>Group </a:t>
            </a:r>
            <a:r>
              <a:rPr lang="de-DE" dirty="0" err="1">
                <a:solidFill>
                  <a:srgbClr val="2518CC"/>
                </a:solidFill>
                <a:latin typeface="Arial" panose="020B0604020202020204" pitchFamily="34" charset="0"/>
                <a:cs typeface="Arial" panose="020B0604020202020204" pitchFamily="34" charset="0"/>
              </a:rPr>
              <a:t>members</a:t>
            </a:r>
            <a:r>
              <a:rPr lang="de-DE" dirty="0"/>
              <a:t>:</a:t>
            </a:r>
            <a:endParaRPr lang="de-DE" dirty="0">
              <a:latin typeface="Arial" panose="020B0604020202020204" pitchFamily="34" charset="0"/>
              <a:cs typeface="Arial" panose="020B0604020202020204" pitchFamily="34" charset="0"/>
            </a:endParaRPr>
          </a:p>
          <a:p>
            <a:r>
              <a:rPr lang="de-DE" dirty="0">
                <a:solidFill>
                  <a:srgbClr val="2518CC"/>
                </a:solidFill>
                <a:latin typeface="Arial" panose="020B0604020202020204" pitchFamily="34" charset="0"/>
                <a:cs typeface="Arial" panose="020B0604020202020204" pitchFamily="34" charset="0"/>
              </a:rPr>
              <a:t>Date:</a:t>
            </a:r>
            <a:r>
              <a:rPr lang="en-IN" altLang="de-DE" dirty="0">
                <a:solidFill>
                  <a:srgbClr val="2518CC"/>
                </a:solidFill>
                <a:latin typeface="Arial" panose="020B0604020202020204" pitchFamily="34" charset="0"/>
                <a:cs typeface="Arial" panose="020B0604020202020204" pitchFamily="34" charset="0"/>
              </a:rPr>
              <a:t> 05</a:t>
            </a:r>
            <a:r>
              <a:rPr lang="en-IN" altLang="de-DE" dirty="0">
                <a:solidFill>
                  <a:schemeClr val="tx1"/>
                </a:solidFill>
                <a:latin typeface="Arial" panose="020B0604020202020204" pitchFamily="34" charset="0"/>
                <a:cs typeface="Arial" panose="020B0604020202020204" pitchFamily="34" charset="0"/>
              </a:rPr>
              <a:t>-05-2026</a:t>
            </a:r>
          </a:p>
        </p:txBody>
      </p:sp>
      <p:sp>
        <p:nvSpPr>
          <p:cNvPr id="49" name="Textfeld 33"/>
          <p:cNvSpPr txBox="1"/>
          <p:nvPr/>
        </p:nvSpPr>
        <p:spPr>
          <a:xfrm>
            <a:off x="275779" y="4255452"/>
            <a:ext cx="5210810" cy="1837340"/>
          </a:xfrm>
          <a:prstGeom prst="rect">
            <a:avLst/>
          </a:prstGeom>
          <a:noFill/>
        </p:spPr>
        <p:txBody>
          <a:bodyPr wrap="square" rtlCol="0">
            <a:noAutofit/>
          </a:bodyPr>
          <a:lstStyle/>
          <a:p>
            <a:r>
              <a:rPr lang="de-DE" u="sng" dirty="0">
                <a:solidFill>
                  <a:srgbClr val="2518CC"/>
                </a:solidFill>
                <a:latin typeface="Arial" panose="020B0604020202020204" pitchFamily="34" charset="0"/>
                <a:cs typeface="Arial" panose="020B0604020202020204" pitchFamily="34" charset="0"/>
              </a:rPr>
              <a:t>Next </a:t>
            </a:r>
            <a:r>
              <a:rPr lang="de-DE" u="sng" dirty="0" err="1">
                <a:solidFill>
                  <a:srgbClr val="2518CC"/>
                </a:solidFill>
                <a:latin typeface="Arial" panose="020B0604020202020204" pitchFamily="34" charset="0"/>
                <a:cs typeface="Arial" panose="020B0604020202020204" pitchFamily="34" charset="0"/>
              </a:rPr>
              <a:t>Steps</a:t>
            </a:r>
            <a:r>
              <a:rPr lang="de-DE" u="sng" dirty="0">
                <a:solidFill>
                  <a:srgbClr val="2518CC"/>
                </a:solidFill>
                <a:latin typeface="Arial" panose="020B0604020202020204" pitchFamily="34" charset="0"/>
                <a:cs typeface="Arial" panose="020B0604020202020204" pitchFamily="34" charset="0"/>
              </a:rPr>
              <a:t>:</a:t>
            </a:r>
          </a:p>
          <a:p>
            <a:pPr indent="0">
              <a:buFont typeface="Courier New" panose="02070309020205020404" pitchFamily="34" charset="0"/>
              <a:buNone/>
            </a:pPr>
            <a:endParaRPr lang="en-US" altLang="en-US" sz="1400" dirty="0">
              <a:solidFill>
                <a:schemeClr val="tx1"/>
              </a:solidFill>
            </a:endParaRPr>
          </a:p>
          <a:p>
            <a:pPr indent="0">
              <a:buFont typeface="Courier New" panose="02070309020205020404" pitchFamily="34" charset="0"/>
              <a:buNone/>
            </a:pPr>
            <a:r>
              <a:rPr lang="zh-CN" altLang="en-US" sz="1400" dirty="0">
                <a:solidFill>
                  <a:schemeClr val="tx1"/>
                </a:solidFill>
              </a:rPr>
              <a:t>🔲</a:t>
            </a:r>
            <a:r>
              <a:rPr lang="en-US" altLang="en-US" sz="1400" dirty="0">
                <a:solidFill>
                  <a:schemeClr val="tx1"/>
                </a:solidFill>
              </a:rPr>
              <a:t> </a:t>
            </a:r>
            <a:r>
              <a:rPr lang="en-IN" altLang="en-US" sz="1400" dirty="0">
                <a:solidFill>
                  <a:schemeClr val="tx1"/>
                </a:solidFill>
              </a:rPr>
              <a:t> </a:t>
            </a:r>
            <a:r>
              <a:rPr lang="en-US" altLang="en-US" sz="1400" dirty="0">
                <a:solidFill>
                  <a:schemeClr val="tx1"/>
                </a:solidFill>
              </a:rPr>
              <a:t>Apply all 3 tuning methods and run simulations</a:t>
            </a:r>
          </a:p>
          <a:p>
            <a:pPr indent="0">
              <a:buFont typeface="Courier New" panose="02070309020205020404" pitchFamily="34" charset="0"/>
              <a:buNone/>
            </a:pPr>
            <a:r>
              <a:rPr lang="zh-CN" altLang="en-US" sz="1400" dirty="0">
                <a:solidFill>
                  <a:schemeClr val="tx1"/>
                </a:solidFill>
              </a:rPr>
              <a:t>🔲</a:t>
            </a:r>
            <a:r>
              <a:rPr lang="en-US" altLang="en-US" sz="1400" dirty="0">
                <a:solidFill>
                  <a:schemeClr val="tx1"/>
                </a:solidFill>
              </a:rPr>
              <a:t> </a:t>
            </a:r>
            <a:r>
              <a:rPr lang="en-IN" altLang="en-US" sz="1400" dirty="0">
                <a:solidFill>
                  <a:schemeClr val="tx1"/>
                </a:solidFill>
              </a:rPr>
              <a:t> </a:t>
            </a:r>
            <a:r>
              <a:rPr lang="en-US" altLang="en-US" sz="1400" dirty="0">
                <a:solidFill>
                  <a:schemeClr val="tx1"/>
                </a:solidFill>
              </a:rPr>
              <a:t>Record step response, settling time, overshoot, steady-state error</a:t>
            </a:r>
          </a:p>
          <a:p>
            <a:pPr indent="0">
              <a:buFont typeface="Courier New" panose="02070309020205020404" pitchFamily="34" charset="0"/>
              <a:buNone/>
            </a:pPr>
            <a:r>
              <a:rPr lang="zh-CN" altLang="en-US" sz="1400" dirty="0">
                <a:solidFill>
                  <a:schemeClr val="tx1"/>
                </a:solidFill>
              </a:rPr>
              <a:t>🔲</a:t>
            </a:r>
            <a:r>
              <a:rPr lang="en-US" altLang="en-US" sz="1400" dirty="0">
                <a:solidFill>
                  <a:schemeClr val="tx1"/>
                </a:solidFill>
              </a:rPr>
              <a:t> </a:t>
            </a:r>
            <a:r>
              <a:rPr lang="en-IN" altLang="en-US" sz="1400" dirty="0">
                <a:solidFill>
                  <a:schemeClr val="tx1"/>
                </a:solidFill>
              </a:rPr>
              <a:t> </a:t>
            </a:r>
            <a:r>
              <a:rPr lang="en-US" altLang="en-US" sz="1400" dirty="0">
                <a:solidFill>
                  <a:schemeClr val="tx1"/>
                </a:solidFill>
              </a:rPr>
              <a:t>Compare results across tuning methods</a:t>
            </a:r>
          </a:p>
          <a:p>
            <a:pPr indent="0">
              <a:buFont typeface="Courier New" panose="02070309020205020404" pitchFamily="34" charset="0"/>
              <a:buNone/>
            </a:pPr>
            <a:endParaRPr lang="en-US" altLang="en-US" sz="1400" dirty="0">
              <a:solidFill>
                <a:schemeClr val="tx1"/>
              </a:solidFill>
            </a:endParaRPr>
          </a:p>
        </p:txBody>
      </p:sp>
      <p:cxnSp>
        <p:nvCxnSpPr>
          <p:cNvPr id="50" name="Gerader Verbinder 8"/>
          <p:cNvCxnSpPr/>
          <p:nvPr/>
        </p:nvCxnSpPr>
        <p:spPr>
          <a:xfrm>
            <a:off x="6771856" y="1220533"/>
            <a:ext cx="0" cy="5070920"/>
          </a:xfrm>
          <a:prstGeom prst="line">
            <a:avLst/>
          </a:prstGeom>
          <a:ln w="12700"/>
        </p:spPr>
        <p:style>
          <a:lnRef idx="1">
            <a:srgbClr val="4472C4"/>
          </a:lnRef>
          <a:fillRef idx="0">
            <a:srgbClr val="4472C4"/>
          </a:fillRef>
          <a:effectRef idx="0">
            <a:srgbClr val="4472C4"/>
          </a:effectRef>
          <a:fontRef idx="minor">
            <a:sysClr val="windowText" lastClr="000000"/>
          </a:fontRef>
        </p:style>
      </p:cxnSp>
      <p:sp>
        <p:nvSpPr>
          <p:cNvPr id="51" name="Textfeld 33"/>
          <p:cNvSpPr txBox="1"/>
          <p:nvPr/>
        </p:nvSpPr>
        <p:spPr>
          <a:xfrm>
            <a:off x="7114540" y="1376680"/>
            <a:ext cx="4881880" cy="2508250"/>
          </a:xfrm>
          <a:prstGeom prst="rect">
            <a:avLst/>
          </a:prstGeom>
          <a:noFill/>
        </p:spPr>
        <p:txBody>
          <a:bodyPr wrap="square" rtlCol="0">
            <a:noAutofit/>
          </a:bodyPr>
          <a:lstStyle/>
          <a:p>
            <a:r>
              <a:rPr lang="de-DE" u="sng" dirty="0" err="1">
                <a:solidFill>
                  <a:srgbClr val="2518CC"/>
                </a:solidFill>
                <a:latin typeface="Arial" panose="020B0604020202020204" pitchFamily="34" charset="0"/>
                <a:cs typeface="Arial" panose="020B0604020202020204" pitchFamily="34" charset="0"/>
              </a:rPr>
              <a:t>Discussion</a:t>
            </a:r>
            <a:r>
              <a:rPr lang="de-DE" u="sng" dirty="0">
                <a:solidFill>
                  <a:srgbClr val="2518CC"/>
                </a:solidFill>
                <a:latin typeface="Arial" panose="020B0604020202020204" pitchFamily="34" charset="0"/>
                <a:cs typeface="Arial" panose="020B0604020202020204" pitchFamily="34" charset="0"/>
              </a:rPr>
              <a:t> </a:t>
            </a:r>
            <a:r>
              <a:rPr lang="de-DE" u="sng" dirty="0" err="1">
                <a:solidFill>
                  <a:srgbClr val="2518CC"/>
                </a:solidFill>
                <a:latin typeface="Arial" panose="020B0604020202020204" pitchFamily="34" charset="0"/>
                <a:cs typeface="Arial" panose="020B0604020202020204" pitchFamily="34" charset="0"/>
              </a:rPr>
              <a:t>Required</a:t>
            </a:r>
            <a:r>
              <a:rPr lang="de-DE" u="sng" dirty="0">
                <a:solidFill>
                  <a:srgbClr val="2518CC"/>
                </a:solidFill>
                <a:latin typeface="Arial" panose="020B0604020202020204" pitchFamily="34" charset="0"/>
                <a:cs typeface="Arial" panose="020B0604020202020204" pitchFamily="34" charset="0"/>
              </a:rPr>
              <a:t>:</a:t>
            </a:r>
          </a:p>
          <a:p>
            <a:pPr indent="0">
              <a:buFont typeface="Courier New" panose="02070309020205020404" pitchFamily="34" charset="0"/>
              <a:buNone/>
            </a:pPr>
            <a:endParaRPr lang="en-US" altLang="en-US" sz="1400" dirty="0">
              <a:solidFill>
                <a:schemeClr val="tx1"/>
              </a:solidFill>
            </a:endParaRPr>
          </a:p>
        </p:txBody>
      </p:sp>
      <p:sp>
        <p:nvSpPr>
          <p:cNvPr id="52" name="Textfeld 33"/>
          <p:cNvSpPr txBox="1"/>
          <p:nvPr/>
        </p:nvSpPr>
        <p:spPr>
          <a:xfrm>
            <a:off x="7008495" y="3783330"/>
            <a:ext cx="4997450" cy="2454275"/>
          </a:xfrm>
          <a:prstGeom prst="rect">
            <a:avLst/>
          </a:prstGeom>
          <a:noFill/>
        </p:spPr>
        <p:txBody>
          <a:bodyPr wrap="square" rtlCol="0">
            <a:noAutofit/>
          </a:bodyPr>
          <a:lstStyle/>
          <a:p>
            <a:r>
              <a:rPr lang="de-DE" u="sng" dirty="0">
                <a:solidFill>
                  <a:srgbClr val="2518CC"/>
                </a:solidFill>
                <a:latin typeface="Arial" panose="020B0604020202020204" pitchFamily="34" charset="0"/>
                <a:cs typeface="Arial" panose="020B0604020202020204" pitchFamily="34" charset="0"/>
              </a:rPr>
              <a:t>Project </a:t>
            </a:r>
            <a:r>
              <a:rPr lang="de-DE" u="sng" dirty="0" err="1">
                <a:solidFill>
                  <a:srgbClr val="2518CC"/>
                </a:solidFill>
                <a:latin typeface="Arial" panose="020B0604020202020204" pitchFamily="34" charset="0"/>
                <a:cs typeface="Arial" panose="020B0604020202020204" pitchFamily="34" charset="0"/>
              </a:rPr>
              <a:t>Requirements</a:t>
            </a:r>
            <a:r>
              <a:rPr lang="de-DE" u="sng" dirty="0">
                <a:solidFill>
                  <a:srgbClr val="2518CC"/>
                </a:solidFill>
                <a:latin typeface="Arial" panose="020B0604020202020204" pitchFamily="34" charset="0"/>
                <a:cs typeface="Arial" panose="020B0604020202020204" pitchFamily="34" charset="0"/>
              </a:rPr>
              <a:t>:</a:t>
            </a:r>
          </a:p>
          <a:p>
            <a:endParaRPr lang="de-DE" altLang="en-US" sz="1200" u="sng" dirty="0">
              <a:solidFill>
                <a:srgbClr val="2518CC"/>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400" dirty="0">
                <a:solidFill>
                  <a:schemeClr val="tx1"/>
                </a:solidFill>
              </a:rPr>
              <a:t>MATLAB R2023a or later (with Simulink)</a:t>
            </a:r>
          </a:p>
          <a:p>
            <a:pPr marL="285750" indent="-285750">
              <a:buFont typeface="Arial" panose="020B0604020202020204" pitchFamily="34" charset="0"/>
              <a:buChar char="•"/>
            </a:pPr>
            <a:r>
              <a:rPr lang="en-US" altLang="en-US" sz="1400" dirty="0">
                <a:solidFill>
                  <a:schemeClr val="tx1"/>
                </a:solidFill>
              </a:rPr>
              <a:t>Control System Toolbox</a:t>
            </a:r>
          </a:p>
          <a:p>
            <a:pPr marL="285750" indent="-285750">
              <a:buFont typeface="Arial" panose="020B0604020202020204" pitchFamily="34" charset="0"/>
              <a:buChar char="•"/>
            </a:pPr>
            <a:r>
              <a:rPr lang="en-US" altLang="en-US" sz="1400" dirty="0">
                <a:solidFill>
                  <a:schemeClr val="tx1"/>
                </a:solidFill>
              </a:rPr>
              <a:t>Standard PC/Laptop ( simulation only)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Lst>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TotalTime>
  <Words>1726</Words>
  <Application>Microsoft Office PowerPoint</Application>
  <PresentationFormat>Widescreen</PresentationFormat>
  <Paragraphs>147</Paragraphs>
  <Slides>15</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Slide Titles</vt:lpstr>
      </vt:variant>
      <vt:variant>
        <vt:i4>15</vt:i4>
      </vt:variant>
      <vt:variant>
        <vt:lpstr>Custom Shows</vt:lpstr>
      </vt:variant>
      <vt:variant>
        <vt:i4>1</vt:i4>
      </vt:variant>
    </vt:vector>
  </HeadingPairs>
  <TitlesOfParts>
    <vt:vector size="27" baseType="lpstr">
      <vt:lpstr>Arial</vt:lpstr>
      <vt:lpstr>AvantGarde Bk BT</vt:lpstr>
      <vt:lpstr>AvantGarde Md BT</vt:lpstr>
      <vt:lpstr>Calibri</vt:lpstr>
      <vt:lpstr>Calibri Light</vt:lpstr>
      <vt:lpstr>Cambria Math</vt:lpstr>
      <vt:lpstr>Courier New</vt:lpstr>
      <vt:lpstr>Google Sans Text</vt:lpstr>
      <vt:lpstr>Verdana</vt:lpstr>
      <vt:lpstr>Wingdings</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Zielgruppenpräsentation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Sandra Maier</dc:creator>
  <cp:lastModifiedBy>praveen cheerla</cp:lastModifiedBy>
  <cp:revision>273</cp:revision>
  <cp:lastPrinted>2020-09-08T09:40:15Z</cp:lastPrinted>
  <dcterms:created xsi:type="dcterms:W3CDTF">2019-09-09T12:43:43Z</dcterms:created>
  <dcterms:modified xsi:type="dcterms:W3CDTF">2026-05-12T17:04:05Z</dcterms:modified>
</cp:coreProperties>
</file>