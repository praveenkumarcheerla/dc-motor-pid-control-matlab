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er Khan" userId="72d3a44a8a1be7dc" providerId="LiveId" clId="{EF65B857-DCA5-406F-B909-2012DF24608F}"/>
    <pc:docChg chg="modSld sldOrd">
      <pc:chgData name="Ameer Khan" userId="72d3a44a8a1be7dc" providerId="LiveId" clId="{EF65B857-DCA5-406F-B909-2012DF24608F}" dt="2026-06-07T14:32:09.136" v="22" actId="20577"/>
      <pc:docMkLst>
        <pc:docMk/>
      </pc:docMkLst>
      <pc:sldChg chg="modSp mod">
        <pc:chgData name="Ameer Khan" userId="72d3a44a8a1be7dc" providerId="LiveId" clId="{EF65B857-DCA5-406F-B909-2012DF24608F}" dt="2026-06-07T14:32:09.136" v="22" actId="20577"/>
        <pc:sldMkLst>
          <pc:docMk/>
          <pc:sldMk cId="0" sldId="257"/>
        </pc:sldMkLst>
        <pc:spChg chg="mod">
          <ac:chgData name="Ameer Khan" userId="72d3a44a8a1be7dc" providerId="LiveId" clId="{EF65B857-DCA5-406F-B909-2012DF24608F}" dt="2026-06-07T14:32:09.136" v="22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Ameer Khan" userId="72d3a44a8a1be7dc" providerId="LiveId" clId="{EF65B857-DCA5-406F-B909-2012DF24608F}" dt="2026-06-07T13:03:59.152" v="18" actId="1076"/>
        <pc:sldMkLst>
          <pc:docMk/>
          <pc:sldMk cId="0" sldId="258"/>
        </pc:sldMkLst>
        <pc:spChg chg="mod">
          <ac:chgData name="Ameer Khan" userId="72d3a44a8a1be7dc" providerId="LiveId" clId="{EF65B857-DCA5-406F-B909-2012DF24608F}" dt="2026-06-07T13:03:52.164" v="1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meer Khan" userId="72d3a44a8a1be7dc" providerId="LiveId" clId="{EF65B857-DCA5-406F-B909-2012DF24608F}" dt="2026-06-07T13:03:59.152" v="18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Ameer Khan" userId="72d3a44a8a1be7dc" providerId="LiveId" clId="{EF65B857-DCA5-406F-B909-2012DF24608F}" dt="2026-06-07T13:03:25.958" v="8" actId="20577"/>
          <ac:spMkLst>
            <pc:docMk/>
            <pc:sldMk cId="0" sldId="258"/>
            <ac:spMk id="11" creationId="{00000000-0000-0000-0000-000000000000}"/>
          </ac:spMkLst>
        </pc:spChg>
        <pc:picChg chg="mod">
          <ac:chgData name="Ameer Khan" userId="72d3a44a8a1be7dc" providerId="LiveId" clId="{EF65B857-DCA5-406F-B909-2012DF24608F}" dt="2026-06-07T13:03:57.004" v="17" actId="1076"/>
          <ac:picMkLst>
            <pc:docMk/>
            <pc:sldMk cId="0" sldId="258"/>
            <ac:picMk id="8" creationId="{00000000-0000-0000-0000-000000000000}"/>
          </ac:picMkLst>
        </pc:picChg>
      </pc:sldChg>
      <pc:sldChg chg="ord">
        <pc:chgData name="Ameer Khan" userId="72d3a44a8a1be7dc" providerId="LiveId" clId="{EF65B857-DCA5-406F-B909-2012DF24608F}" dt="2026-06-07T13:25:03.098" v="20"/>
        <pc:sldMkLst>
          <pc:docMk/>
          <pc:sldMk cId="2689362584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403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403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403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6237770"/>
            <a:ext cx="1536192" cy="14634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6076" y="420687"/>
            <a:ext cx="1330811" cy="25609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64040" y="301828"/>
            <a:ext cx="2432304" cy="72255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0"/>
            <a:ext cx="12188951" cy="577119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50"/>
            <a:ext cx="12189460" cy="5771515"/>
          </a:xfrm>
          <a:custGeom>
            <a:avLst/>
            <a:gdLst/>
            <a:ahLst/>
            <a:cxnLst/>
            <a:rect l="l" t="t" r="r" b="b"/>
            <a:pathLst>
              <a:path w="12189460" h="5771515">
                <a:moveTo>
                  <a:pt x="12188952" y="0"/>
                </a:moveTo>
                <a:lnTo>
                  <a:pt x="0" y="0"/>
                </a:lnTo>
                <a:lnTo>
                  <a:pt x="0" y="5771260"/>
                </a:lnTo>
                <a:lnTo>
                  <a:pt x="12188952" y="5771260"/>
                </a:lnTo>
                <a:lnTo>
                  <a:pt x="12188952" y="0"/>
                </a:lnTo>
                <a:close/>
              </a:path>
            </a:pathLst>
          </a:custGeom>
          <a:solidFill>
            <a:srgbClr val="1A4273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12063" y="1646301"/>
            <a:ext cx="5623560" cy="869315"/>
          </a:xfrm>
          <a:custGeom>
            <a:avLst/>
            <a:gdLst/>
            <a:ahLst/>
            <a:cxnLst/>
            <a:rect l="l" t="t" r="r" b="b"/>
            <a:pathLst>
              <a:path w="5623560" h="869314">
                <a:moveTo>
                  <a:pt x="5504180" y="0"/>
                </a:moveTo>
                <a:lnTo>
                  <a:pt x="0" y="51815"/>
                </a:lnTo>
                <a:lnTo>
                  <a:pt x="907" y="82810"/>
                </a:lnTo>
                <a:lnTo>
                  <a:pt x="2934" y="121831"/>
                </a:lnTo>
                <a:lnTo>
                  <a:pt x="5919" y="167734"/>
                </a:lnTo>
                <a:lnTo>
                  <a:pt x="9704" y="219370"/>
                </a:lnTo>
                <a:lnTo>
                  <a:pt x="14127" y="275594"/>
                </a:lnTo>
                <a:lnTo>
                  <a:pt x="40243" y="585400"/>
                </a:lnTo>
                <a:lnTo>
                  <a:pt x="49572" y="701307"/>
                </a:lnTo>
                <a:lnTo>
                  <a:pt x="53358" y="752957"/>
                </a:lnTo>
                <a:lnTo>
                  <a:pt x="56345" y="798876"/>
                </a:lnTo>
                <a:lnTo>
                  <a:pt x="58373" y="837917"/>
                </a:lnTo>
                <a:lnTo>
                  <a:pt x="59283" y="868934"/>
                </a:lnTo>
                <a:lnTo>
                  <a:pt x="5623560" y="853948"/>
                </a:lnTo>
                <a:lnTo>
                  <a:pt x="5619052" y="786883"/>
                </a:lnTo>
                <a:lnTo>
                  <a:pt x="5613790" y="742817"/>
                </a:lnTo>
                <a:lnTo>
                  <a:pt x="5606915" y="693098"/>
                </a:lnTo>
                <a:lnTo>
                  <a:pt x="5598718" y="638755"/>
                </a:lnTo>
                <a:lnTo>
                  <a:pt x="5589495" y="580815"/>
                </a:lnTo>
                <a:lnTo>
                  <a:pt x="5538244" y="273132"/>
                </a:lnTo>
                <a:lnTo>
                  <a:pt x="5529021" y="215192"/>
                </a:lnTo>
                <a:lnTo>
                  <a:pt x="5520824" y="160849"/>
                </a:lnTo>
                <a:lnTo>
                  <a:pt x="5513949" y="111130"/>
                </a:lnTo>
                <a:lnTo>
                  <a:pt x="5508687" y="67064"/>
                </a:lnTo>
                <a:lnTo>
                  <a:pt x="5505333" y="29678"/>
                </a:lnTo>
                <a:lnTo>
                  <a:pt x="55041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403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0351" y="6237770"/>
            <a:ext cx="1536192" cy="14634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46076" y="420687"/>
            <a:ext cx="1330811" cy="25609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64040" y="301828"/>
            <a:ext cx="2432304" cy="722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292620"/>
            <a:ext cx="9208135" cy="466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403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375" y="1122425"/>
            <a:ext cx="11306810" cy="2106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4906" y="1559064"/>
            <a:ext cx="8224520" cy="2586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815"/>
              </a:lnSpc>
              <a:spcBef>
                <a:spcPts val="135"/>
              </a:spcBef>
            </a:pPr>
            <a:r>
              <a:rPr sz="5950" b="0" spc="-10" dirty="0">
                <a:solidFill>
                  <a:srgbClr val="1A4273"/>
                </a:solidFill>
                <a:latin typeface="Calibri"/>
                <a:cs typeface="Calibri"/>
              </a:rPr>
              <a:t>WELCOME!</a:t>
            </a:r>
            <a:endParaRPr sz="5950">
              <a:latin typeface="Calibri"/>
              <a:cs typeface="Calibri"/>
            </a:endParaRPr>
          </a:p>
          <a:p>
            <a:pPr marL="12700" marR="5080">
              <a:lnSpc>
                <a:spcPts val="6490"/>
              </a:lnSpc>
              <a:spcBef>
                <a:spcPts val="430"/>
              </a:spcBef>
            </a:pPr>
            <a:r>
              <a:rPr sz="5950" b="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5950" b="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950" b="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5950" b="0" spc="-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950" b="0" spc="-10" dirty="0">
                <a:solidFill>
                  <a:srgbClr val="FFFFFF"/>
                </a:solidFill>
                <a:latin typeface="Calibri"/>
                <a:cs typeface="Calibri"/>
              </a:rPr>
              <a:t>CAMPUS </a:t>
            </a:r>
            <a:r>
              <a:rPr sz="5950" b="0" spc="-20" dirty="0">
                <a:solidFill>
                  <a:srgbClr val="FFFFFF"/>
                </a:solidFill>
                <a:latin typeface="Calibri"/>
                <a:cs typeface="Calibri"/>
              </a:rPr>
              <a:t>CHAM</a:t>
            </a:r>
            <a:endParaRPr sz="59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795690"/>
            <a:ext cx="12189460" cy="62865"/>
          </a:xfrm>
          <a:custGeom>
            <a:avLst/>
            <a:gdLst/>
            <a:ahLst/>
            <a:cxnLst/>
            <a:rect l="l" t="t" r="r" b="b"/>
            <a:pathLst>
              <a:path w="12189460" h="62865">
                <a:moveTo>
                  <a:pt x="12188952" y="0"/>
                </a:moveTo>
                <a:lnTo>
                  <a:pt x="0" y="0"/>
                </a:lnTo>
                <a:lnTo>
                  <a:pt x="0" y="62309"/>
                </a:lnTo>
                <a:lnTo>
                  <a:pt x="12188952" y="62309"/>
                </a:lnTo>
                <a:lnTo>
                  <a:pt x="12188952" y="0"/>
                </a:lnTo>
                <a:close/>
              </a:path>
            </a:pathLst>
          </a:custGeom>
          <a:solidFill>
            <a:srgbClr val="1A4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7735" y="429894"/>
            <a:ext cx="2414016" cy="1033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2063" y="530479"/>
            <a:ext cx="4334510" cy="457834"/>
          </a:xfrm>
          <a:custGeom>
            <a:avLst/>
            <a:gdLst/>
            <a:ahLst/>
            <a:cxnLst/>
            <a:rect l="l" t="t" r="r" b="b"/>
            <a:pathLst>
              <a:path w="4334510" h="457834">
                <a:moveTo>
                  <a:pt x="4334256" y="0"/>
                </a:moveTo>
                <a:lnTo>
                  <a:pt x="0" y="60071"/>
                </a:lnTo>
                <a:lnTo>
                  <a:pt x="46710" y="457326"/>
                </a:lnTo>
                <a:lnTo>
                  <a:pt x="4287520" y="414400"/>
                </a:lnTo>
                <a:lnTo>
                  <a:pt x="4334256" y="0"/>
                </a:lnTo>
                <a:close/>
              </a:path>
            </a:pathLst>
          </a:custGeom>
          <a:solidFill>
            <a:srgbClr val="1A4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4906" y="518921"/>
            <a:ext cx="3374390" cy="4546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0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2800" b="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906" y="903605"/>
            <a:ext cx="953135" cy="4546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0" dirty="0">
                <a:solidFill>
                  <a:srgbClr val="1A4273"/>
                </a:solidFill>
                <a:latin typeface="Calibri"/>
                <a:cs typeface="Calibri"/>
              </a:rPr>
              <a:t>CHAM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795690"/>
            <a:ext cx="12189460" cy="62865"/>
          </a:xfrm>
          <a:custGeom>
            <a:avLst/>
            <a:gdLst/>
            <a:ahLst/>
            <a:cxnLst/>
            <a:rect l="l" t="t" r="r" b="b"/>
            <a:pathLst>
              <a:path w="12189460" h="62865">
                <a:moveTo>
                  <a:pt x="12188952" y="0"/>
                </a:moveTo>
                <a:lnTo>
                  <a:pt x="0" y="0"/>
                </a:lnTo>
                <a:lnTo>
                  <a:pt x="0" y="62309"/>
                </a:lnTo>
                <a:lnTo>
                  <a:pt x="12188952" y="62309"/>
                </a:lnTo>
                <a:lnTo>
                  <a:pt x="12188952" y="0"/>
                </a:lnTo>
                <a:close/>
              </a:path>
            </a:pathLst>
          </a:custGeom>
          <a:solidFill>
            <a:srgbClr val="1A4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17267" y="1135062"/>
            <a:ext cx="7941945" cy="14084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ctr">
              <a:lnSpc>
                <a:spcPct val="102299"/>
              </a:lnSpc>
              <a:spcBef>
                <a:spcPts val="60"/>
              </a:spcBef>
            </a:pP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Design</a:t>
            </a:r>
            <a:r>
              <a:rPr sz="2350" b="1" spc="50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and</a:t>
            </a:r>
            <a:r>
              <a:rPr sz="2350" b="1" spc="5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Simulation</a:t>
            </a:r>
            <a:r>
              <a:rPr sz="2350" b="1" spc="5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of</a:t>
            </a:r>
            <a:r>
              <a:rPr sz="2350" b="1" spc="7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a</a:t>
            </a:r>
            <a:r>
              <a:rPr sz="2350" b="1" spc="9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PID</a:t>
            </a:r>
            <a:r>
              <a:rPr sz="2350" b="1" spc="4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Controller</a:t>
            </a:r>
            <a:r>
              <a:rPr sz="2350" b="1" spc="50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for</a:t>
            </a:r>
            <a:r>
              <a:rPr sz="2350" b="1" spc="5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Precise</a:t>
            </a:r>
            <a:r>
              <a:rPr sz="2350" b="1" spc="140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DC</a:t>
            </a:r>
            <a:r>
              <a:rPr sz="2350" b="1" spc="75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spc="-10" dirty="0">
                <a:solidFill>
                  <a:srgbClr val="1A4273"/>
                </a:solidFill>
                <a:latin typeface="Calibri"/>
                <a:cs typeface="Calibri"/>
              </a:rPr>
              <a:t>Motor </a:t>
            </a:r>
            <a:r>
              <a:rPr sz="2350" b="1" dirty="0">
                <a:solidFill>
                  <a:srgbClr val="1A4273"/>
                </a:solidFill>
                <a:latin typeface="Calibri"/>
                <a:cs typeface="Calibri"/>
              </a:rPr>
              <a:t>Speed</a:t>
            </a:r>
            <a:r>
              <a:rPr sz="2350" b="1" spc="100" dirty="0">
                <a:solidFill>
                  <a:srgbClr val="1A4273"/>
                </a:solidFill>
                <a:latin typeface="Calibri"/>
                <a:cs typeface="Calibri"/>
              </a:rPr>
              <a:t> </a:t>
            </a:r>
            <a:r>
              <a:rPr sz="2350" b="1" spc="-10" dirty="0">
                <a:solidFill>
                  <a:srgbClr val="1A4273"/>
                </a:solidFill>
                <a:latin typeface="Calibri"/>
                <a:cs typeface="Calibri"/>
              </a:rPr>
              <a:t>Control</a:t>
            </a:r>
            <a:endParaRPr sz="2350" dirty="0">
              <a:latin typeface="Calibri"/>
              <a:cs typeface="Calibri"/>
            </a:endParaRPr>
          </a:p>
          <a:p>
            <a:pPr marR="45085" algn="ctr">
              <a:lnSpc>
                <a:spcPct val="100000"/>
              </a:lnSpc>
              <a:spcBef>
                <a:spcPts val="60"/>
              </a:spcBef>
            </a:pPr>
            <a:r>
              <a:rPr sz="2000" b="1" dirty="0">
                <a:solidFill>
                  <a:srgbClr val="5B9BD4"/>
                </a:solidFill>
                <a:latin typeface="Calibri"/>
                <a:cs typeface="Calibri"/>
              </a:rPr>
              <a:t>Prof:</a:t>
            </a:r>
            <a:r>
              <a:rPr sz="2000" b="1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B9BD4"/>
                </a:solidFill>
                <a:latin typeface="Calibri"/>
                <a:cs typeface="Calibri"/>
              </a:rPr>
              <a:t>Sunil</a:t>
            </a:r>
            <a:r>
              <a:rPr sz="2000" spc="-2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000" spc="-130" dirty="0">
                <a:solidFill>
                  <a:srgbClr val="5B9BD4"/>
                </a:solidFill>
                <a:latin typeface="Calibri"/>
                <a:cs typeface="Calibri"/>
              </a:rPr>
              <a:t>P.</a:t>
            </a:r>
            <a:r>
              <a:rPr sz="2000" spc="-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B9BD4"/>
                </a:solidFill>
                <a:latin typeface="Calibri"/>
                <a:cs typeface="Calibri"/>
              </a:rPr>
              <a:t>Survaiya</a:t>
            </a:r>
            <a:endParaRPr sz="2000" dirty="0">
              <a:latin typeface="Calibri"/>
              <a:cs typeface="Calibri"/>
            </a:endParaRPr>
          </a:p>
          <a:p>
            <a:pPr marL="4812030">
              <a:lnSpc>
                <a:spcPct val="100000"/>
              </a:lnSpc>
              <a:spcBef>
                <a:spcPts val="290"/>
              </a:spcBef>
            </a:pPr>
            <a:r>
              <a:rPr sz="3000" b="1" spc="-15" baseline="2777" dirty="0">
                <a:solidFill>
                  <a:srgbClr val="5B9BD4"/>
                </a:solidFill>
                <a:latin typeface="Verdana"/>
                <a:cs typeface="Verdana"/>
              </a:rPr>
              <a:t>Cham,</a:t>
            </a:r>
            <a:r>
              <a:rPr sz="3000" b="1" spc="-600" baseline="2777" dirty="0">
                <a:solidFill>
                  <a:srgbClr val="5B9BD4"/>
                </a:solidFill>
                <a:latin typeface="Verdana"/>
                <a:cs typeface="Verdana"/>
              </a:rPr>
              <a:t> </a:t>
            </a:r>
            <a:r>
              <a:rPr lang="en-IN" sz="2000" b="1" spc="-10" dirty="0">
                <a:solidFill>
                  <a:srgbClr val="5B9BD4"/>
                </a:solidFill>
                <a:latin typeface="Verdana"/>
                <a:cs typeface="Verdana"/>
              </a:rPr>
              <a:t>09</a:t>
            </a:r>
            <a:r>
              <a:rPr sz="2000" b="1" spc="-10" dirty="0">
                <a:solidFill>
                  <a:srgbClr val="5B9BD4"/>
                </a:solidFill>
                <a:latin typeface="Verdana"/>
                <a:cs typeface="Verdana"/>
              </a:rPr>
              <a:t>.0</a:t>
            </a:r>
            <a:r>
              <a:rPr lang="en-IN" sz="2000" b="1" spc="-10" dirty="0">
                <a:solidFill>
                  <a:srgbClr val="5B9BD4"/>
                </a:solidFill>
                <a:latin typeface="Verdana"/>
                <a:cs typeface="Verdana"/>
              </a:rPr>
              <a:t>6</a:t>
            </a:r>
            <a:r>
              <a:rPr sz="2000" b="1" spc="-10" dirty="0">
                <a:solidFill>
                  <a:srgbClr val="5B9BD4"/>
                </a:solidFill>
                <a:latin typeface="Verdana"/>
                <a:cs typeface="Verdana"/>
              </a:rPr>
              <a:t>.202</a:t>
            </a:r>
            <a:r>
              <a:rPr lang="en-IN" sz="2000" b="1" spc="-10">
                <a:solidFill>
                  <a:srgbClr val="5B9BD4"/>
                </a:solidFill>
                <a:latin typeface="Verdana"/>
                <a:cs typeface="Verdana"/>
              </a:rPr>
              <a:t>6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12264" y="4198188"/>
            <a:ext cx="7699375" cy="1710689"/>
            <a:chOff x="2112264" y="4198188"/>
            <a:chExt cx="7699375" cy="1710689"/>
          </a:xfrm>
        </p:grpSpPr>
        <p:pic>
          <p:nvPicPr>
            <p:cNvPr id="8" name="object 8" descr="http://tc-cham.hdu-deggendorf.de/images/stories/bildarchiv/bild_07_g.jp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5511" y="4198188"/>
              <a:ext cx="2286000" cy="17103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2264" y="4198188"/>
              <a:ext cx="5504688" cy="1710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6381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483" y="2281935"/>
            <a:ext cx="1836927" cy="14999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6286" y="3845750"/>
            <a:ext cx="1949450" cy="496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135"/>
              </a:spcBef>
            </a:pP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Praveen</a:t>
            </a:r>
            <a:r>
              <a:rPr sz="1550" spc="95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Kumar</a:t>
            </a:r>
            <a:r>
              <a:rPr sz="1550" spc="9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83B66"/>
                </a:solidFill>
                <a:latin typeface="Calibri"/>
                <a:cs typeface="Calibri"/>
              </a:rPr>
              <a:t>Cheerla</a:t>
            </a:r>
            <a:endParaRPr sz="1550" dirty="0">
              <a:latin typeface="Calibri"/>
              <a:cs typeface="Calibri"/>
            </a:endParaRPr>
          </a:p>
          <a:p>
            <a:pPr marL="4445" algn="ctr">
              <a:lnSpc>
                <a:spcPts val="1835"/>
              </a:lnSpc>
            </a:pP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-</a:t>
            </a:r>
            <a:r>
              <a:rPr sz="1550" spc="2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12501601</a:t>
            </a:r>
            <a:endParaRPr sz="155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8476" y="2281935"/>
            <a:ext cx="2088642" cy="14999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03627" y="3845750"/>
            <a:ext cx="2591944" cy="491801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328295" algn="ctr">
              <a:lnSpc>
                <a:spcPts val="1810"/>
              </a:lnSpc>
              <a:spcBef>
                <a:spcPts val="235"/>
              </a:spcBef>
            </a:pP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Gamini</a:t>
            </a:r>
            <a:r>
              <a:rPr sz="1550" spc="12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83B66"/>
                </a:solidFill>
                <a:latin typeface="Calibri"/>
                <a:cs typeface="Calibri"/>
              </a:rPr>
              <a:t>Lokesh </a:t>
            </a: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Chowdary</a:t>
            </a:r>
            <a:r>
              <a:rPr sz="1550" spc="48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lang="en-IN" sz="1550" spc="48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-</a:t>
            </a:r>
            <a:r>
              <a:rPr sz="1550" spc="-10" dirty="0">
                <a:solidFill>
                  <a:srgbClr val="183B66"/>
                </a:solidFill>
                <a:latin typeface="Calibri"/>
                <a:cs typeface="Calibri"/>
              </a:rPr>
              <a:t>12652811</a:t>
            </a:r>
            <a:endParaRPr sz="155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3200" y="2281935"/>
            <a:ext cx="1484691" cy="14999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18420" y="3845750"/>
            <a:ext cx="2134998" cy="4826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635" algn="ctr">
              <a:lnSpc>
                <a:spcPct val="95000"/>
              </a:lnSpc>
              <a:spcBef>
                <a:spcPts val="229"/>
              </a:spcBef>
            </a:pP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Ameer</a:t>
            </a:r>
            <a:r>
              <a:rPr sz="1550" spc="65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183B66"/>
                </a:solidFill>
                <a:latin typeface="Calibri"/>
                <a:cs typeface="Calibri"/>
              </a:rPr>
              <a:t>khan </a:t>
            </a: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Mohammed</a:t>
            </a:r>
            <a:r>
              <a:rPr sz="1550" spc="22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spc="-50" dirty="0">
                <a:solidFill>
                  <a:srgbClr val="183B66"/>
                </a:solidFill>
                <a:latin typeface="Calibri"/>
                <a:cs typeface="Calibri"/>
              </a:rPr>
              <a:t>- </a:t>
            </a:r>
            <a:r>
              <a:rPr sz="1550" spc="-10" dirty="0">
                <a:solidFill>
                  <a:srgbClr val="183B66"/>
                </a:solidFill>
                <a:latin typeface="Calibri"/>
                <a:cs typeface="Calibri"/>
              </a:rPr>
              <a:t>1265</a:t>
            </a:r>
            <a:r>
              <a:rPr lang="en-IN" sz="1550" spc="-10" dirty="0">
                <a:solidFill>
                  <a:srgbClr val="183B66"/>
                </a:solidFill>
                <a:latin typeface="Calibri"/>
                <a:cs typeface="Calibri"/>
              </a:rPr>
              <a:t>9875</a:t>
            </a:r>
            <a:endParaRPr sz="155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83301" y="2269457"/>
            <a:ext cx="1033805" cy="14667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540178" y="3856919"/>
            <a:ext cx="2214373" cy="4965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321945" algn="ctr">
              <a:lnSpc>
                <a:spcPts val="1810"/>
              </a:lnSpc>
              <a:spcBef>
                <a:spcPts val="235"/>
              </a:spcBef>
            </a:pP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Ajith</a:t>
            </a:r>
            <a:r>
              <a:rPr sz="1550" spc="40" dirty="0">
                <a:solidFill>
                  <a:srgbClr val="183B66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83B66"/>
                </a:solidFill>
                <a:latin typeface="Calibri"/>
                <a:cs typeface="Calibri"/>
              </a:rPr>
              <a:t>Kannan </a:t>
            </a:r>
            <a:r>
              <a:rPr sz="1550" dirty="0" err="1">
                <a:solidFill>
                  <a:srgbClr val="183B66"/>
                </a:solidFill>
                <a:latin typeface="Calibri"/>
                <a:cs typeface="Calibri"/>
              </a:rPr>
              <a:t>karipody</a:t>
            </a:r>
            <a:r>
              <a:rPr sz="1550" spc="85" dirty="0">
                <a:solidFill>
                  <a:srgbClr val="183B66"/>
                </a:solidFill>
                <a:latin typeface="Calibri"/>
                <a:cs typeface="Calibri"/>
              </a:rPr>
              <a:t>  </a:t>
            </a:r>
            <a:r>
              <a:rPr lang="en-IN" sz="1550" spc="85" dirty="0">
                <a:solidFill>
                  <a:srgbClr val="183B66"/>
                </a:solidFill>
                <a:latin typeface="Calibri"/>
                <a:cs typeface="Calibri"/>
              </a:rPr>
              <a:t>  </a:t>
            </a:r>
            <a:r>
              <a:rPr sz="1550" dirty="0">
                <a:solidFill>
                  <a:srgbClr val="183B66"/>
                </a:solidFill>
                <a:latin typeface="Calibri"/>
                <a:cs typeface="Calibri"/>
              </a:rPr>
              <a:t>-</a:t>
            </a:r>
            <a:r>
              <a:rPr sz="1550" spc="-10" dirty="0">
                <a:solidFill>
                  <a:srgbClr val="183B66"/>
                </a:solidFill>
                <a:latin typeface="Calibri"/>
                <a:cs typeface="Calibri"/>
              </a:rPr>
              <a:t>126</a:t>
            </a:r>
            <a:r>
              <a:rPr lang="en-IN" sz="1550" spc="-10" dirty="0">
                <a:solidFill>
                  <a:srgbClr val="183B66"/>
                </a:solidFill>
                <a:latin typeface="Calibri"/>
                <a:cs typeface="Calibri"/>
              </a:rPr>
              <a:t>00349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129657" y="926655"/>
            <a:ext cx="1550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Group</a:t>
            </a:r>
            <a:r>
              <a:rPr sz="18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Members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6381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1764"/>
            <a:ext cx="9199245" cy="457834"/>
          </a:xfrm>
          <a:custGeom>
            <a:avLst/>
            <a:gdLst/>
            <a:ahLst/>
            <a:cxnLst/>
            <a:rect l="l" t="t" r="r" b="b"/>
            <a:pathLst>
              <a:path w="9199245" h="457834">
                <a:moveTo>
                  <a:pt x="9198864" y="0"/>
                </a:moveTo>
                <a:lnTo>
                  <a:pt x="0" y="0"/>
                </a:lnTo>
                <a:lnTo>
                  <a:pt x="0" y="457314"/>
                </a:lnTo>
                <a:lnTo>
                  <a:pt x="9198864" y="457314"/>
                </a:lnTo>
                <a:lnTo>
                  <a:pt x="9198864" y="0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876300">
              <a:lnSpc>
                <a:spcPct val="100000"/>
              </a:lnSpc>
              <a:spcBef>
                <a:spcPts val="245"/>
              </a:spcBef>
            </a:pPr>
            <a:r>
              <a:rPr dirty="0"/>
              <a:t>Transition:</a:t>
            </a:r>
            <a:r>
              <a:rPr spc="90" dirty="0"/>
              <a:t> </a:t>
            </a:r>
            <a:r>
              <a:rPr dirty="0"/>
              <a:t>"Why</a:t>
            </a:r>
            <a:r>
              <a:rPr spc="60" dirty="0"/>
              <a:t> </a:t>
            </a:r>
            <a:r>
              <a:rPr dirty="0"/>
              <a:t>we</a:t>
            </a:r>
            <a:r>
              <a:rPr spc="55" dirty="0"/>
              <a:t> </a:t>
            </a:r>
            <a:r>
              <a:rPr dirty="0"/>
              <a:t>need</a:t>
            </a:r>
            <a:r>
              <a:rPr spc="50" dirty="0"/>
              <a:t> </a:t>
            </a:r>
            <a:r>
              <a:rPr dirty="0"/>
              <a:t>Closed-Loop</a:t>
            </a:r>
            <a:r>
              <a:rPr spc="50" dirty="0"/>
              <a:t> </a:t>
            </a:r>
            <a:r>
              <a:rPr dirty="0"/>
              <a:t>PID</a:t>
            </a:r>
            <a:r>
              <a:rPr spc="40" dirty="0"/>
              <a:t> </a:t>
            </a:r>
            <a:r>
              <a:rPr spc="-10" dirty="0"/>
              <a:t>Control:</a:t>
            </a:r>
          </a:p>
        </p:txBody>
      </p:sp>
      <p:pic>
        <p:nvPicPr>
          <p:cNvPr id="6" name="object 6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007" y="1764792"/>
            <a:ext cx="6661404" cy="36073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650998" y="2080704"/>
            <a:ext cx="2503805" cy="716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just">
              <a:lnSpc>
                <a:spcPct val="95000"/>
              </a:lnSpc>
              <a:spcBef>
                <a:spcPts val="229"/>
              </a:spcBef>
            </a:pPr>
            <a:r>
              <a:rPr sz="1550" b="1" dirty="0">
                <a:latin typeface="Calibri"/>
                <a:cs typeface="Calibri"/>
              </a:rPr>
              <a:t>Error-Driven</a:t>
            </a:r>
            <a:r>
              <a:rPr sz="1550" b="1" spc="9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Logic: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feeding </a:t>
            </a:r>
            <a:r>
              <a:rPr sz="1550" dirty="0">
                <a:latin typeface="Calibri"/>
                <a:cs typeface="Calibri"/>
              </a:rPr>
              <a:t>back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Angular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Velocity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(</a:t>
            </a:r>
            <a:r>
              <a:rPr sz="1550" spc="-20" dirty="0">
                <a:latin typeface="Cambria Math"/>
                <a:cs typeface="Cambria Math"/>
              </a:rPr>
              <a:t>𝜔</a:t>
            </a:r>
            <a:r>
              <a:rPr sz="1550" spc="-20" dirty="0">
                <a:latin typeface="Calibri"/>
                <a:cs typeface="Calibri"/>
              </a:rPr>
              <a:t>), </a:t>
            </a:r>
            <a:r>
              <a:rPr sz="1550" dirty="0">
                <a:latin typeface="Calibri"/>
                <a:cs typeface="Calibri"/>
              </a:rPr>
              <a:t>we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create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Error</a:t>
            </a:r>
            <a:r>
              <a:rPr sz="1550" b="1" spc="6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Signal</a:t>
            </a:r>
            <a:r>
              <a:rPr sz="1550" b="1" spc="2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(</a:t>
            </a:r>
            <a:r>
              <a:rPr sz="1550" dirty="0">
                <a:latin typeface="Calibri"/>
                <a:cs typeface="Calibri"/>
              </a:rPr>
              <a:t>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=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3017" y="2868231"/>
            <a:ext cx="6502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71805" algn="l"/>
              </a:tabLst>
            </a:pPr>
            <a:r>
              <a:rPr sz="1050" spc="-25" dirty="0">
                <a:latin typeface="Calibri"/>
                <a:cs typeface="Calibri"/>
              </a:rPr>
              <a:t>ref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act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0998" y="2758503"/>
            <a:ext cx="251968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3220" algn="l"/>
                <a:tab pos="791210" algn="l"/>
              </a:tabLst>
            </a:pPr>
            <a:r>
              <a:rPr sz="1550" spc="-50" dirty="0">
                <a:latin typeface="Cambria Math"/>
                <a:cs typeface="Cambria Math"/>
              </a:rPr>
              <a:t>𝜔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Calibri"/>
                <a:cs typeface="Calibri"/>
              </a:rPr>
              <a:t>-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50" dirty="0">
                <a:latin typeface="Cambria Math"/>
                <a:cs typeface="Cambria Math"/>
              </a:rPr>
              <a:t>𝜔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b="1" dirty="0">
                <a:latin typeface="Calibri"/>
                <a:cs typeface="Calibri"/>
              </a:rPr>
              <a:t>)</a:t>
            </a:r>
            <a:r>
              <a:rPr sz="1550" dirty="0">
                <a:latin typeface="Calibri"/>
                <a:cs typeface="Calibri"/>
              </a:rPr>
              <a:t>.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controller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now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5598" y="2908973"/>
            <a:ext cx="2731770" cy="154559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1550" dirty="0">
                <a:latin typeface="Calibri"/>
                <a:cs typeface="Calibri"/>
              </a:rPr>
              <a:t>works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drive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this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error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zero.</a:t>
            </a:r>
            <a:endParaRPr sz="1550">
              <a:latin typeface="Calibri"/>
              <a:cs typeface="Calibri"/>
            </a:endParaRPr>
          </a:p>
          <a:p>
            <a:pPr marL="38100" marR="64769">
              <a:lnSpc>
                <a:spcPct val="95000"/>
              </a:lnSpc>
              <a:spcBef>
                <a:spcPts val="685"/>
              </a:spcBef>
            </a:pPr>
            <a:r>
              <a:rPr sz="1550" b="1" dirty="0">
                <a:latin typeface="Calibri"/>
                <a:cs typeface="Calibri"/>
              </a:rPr>
              <a:t>Active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Compensation:</a:t>
            </a:r>
            <a:r>
              <a:rPr sz="1550" b="1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21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PID </a:t>
            </a:r>
            <a:r>
              <a:rPr sz="1550" dirty="0">
                <a:latin typeface="Calibri"/>
                <a:cs typeface="Calibri"/>
              </a:rPr>
              <a:t>controller "senses" the </a:t>
            </a:r>
            <a:r>
              <a:rPr sz="1550" spc="-20" dirty="0">
                <a:latin typeface="Calibri"/>
                <a:cs typeface="Calibri"/>
              </a:rPr>
              <a:t>load-</a:t>
            </a:r>
            <a:r>
              <a:rPr sz="1550" dirty="0">
                <a:latin typeface="Calibri"/>
                <a:cs typeface="Calibri"/>
              </a:rPr>
              <a:t>induced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drop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automatically </a:t>
            </a:r>
            <a:r>
              <a:rPr sz="1550" dirty="0">
                <a:latin typeface="Calibri"/>
                <a:cs typeface="Calibri"/>
              </a:rPr>
              <a:t>increases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Armature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Voltage </a:t>
            </a:r>
            <a:r>
              <a:rPr sz="1550" dirty="0">
                <a:latin typeface="Calibri"/>
                <a:cs typeface="Calibri"/>
              </a:rPr>
              <a:t>(V</a:t>
            </a:r>
            <a:r>
              <a:rPr sz="1575" baseline="-18518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) to </a:t>
            </a:r>
            <a:r>
              <a:rPr sz="1550" spc="-10" dirty="0">
                <a:latin typeface="Calibri"/>
                <a:cs typeface="Calibri"/>
              </a:rPr>
              <a:t>compensate.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7917" y="2082228"/>
            <a:ext cx="2729230" cy="292671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118745">
              <a:lnSpc>
                <a:spcPct val="95700"/>
              </a:lnSpc>
              <a:spcBef>
                <a:spcPts val="190"/>
              </a:spcBef>
            </a:pPr>
            <a:r>
              <a:rPr sz="1350" b="1" dirty="0">
                <a:latin typeface="Calibri"/>
                <a:cs typeface="Calibri"/>
              </a:rPr>
              <a:t>Lack</a:t>
            </a:r>
            <a:r>
              <a:rPr sz="1350" b="1" spc="125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of</a:t>
            </a:r>
            <a:r>
              <a:rPr sz="1350" b="1" spc="135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Awareness:</a:t>
            </a:r>
            <a:r>
              <a:rPr sz="1350" b="1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1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open-</a:t>
            </a:r>
            <a:r>
              <a:rPr sz="1350" spc="-20" dirty="0">
                <a:latin typeface="Calibri"/>
                <a:cs typeface="Calibri"/>
              </a:rPr>
              <a:t>loop </a:t>
            </a:r>
            <a:r>
              <a:rPr sz="1350" dirty="0">
                <a:latin typeface="Calibri"/>
                <a:cs typeface="Calibri"/>
              </a:rPr>
              <a:t>configuration,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system</a:t>
            </a:r>
            <a:r>
              <a:rPr sz="1350" spc="10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has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no </a:t>
            </a:r>
            <a:r>
              <a:rPr sz="1350" dirty="0">
                <a:latin typeface="Calibri"/>
                <a:cs typeface="Calibri"/>
              </a:rPr>
              <a:t>knowledge</a:t>
            </a:r>
            <a:r>
              <a:rPr sz="1350" spc="1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its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actual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output </a:t>
            </a:r>
            <a:r>
              <a:rPr sz="1350" dirty="0">
                <a:latin typeface="Calibri"/>
                <a:cs typeface="Calibri"/>
              </a:rPr>
              <a:t>(Angular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Velocity).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It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blindly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follows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input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voltage.</a:t>
            </a:r>
            <a:endParaRPr sz="1350">
              <a:latin typeface="Calibri"/>
              <a:cs typeface="Calibri"/>
            </a:endParaRPr>
          </a:p>
          <a:p>
            <a:pPr marL="12700" marR="29209">
              <a:lnSpc>
                <a:spcPct val="95700"/>
              </a:lnSpc>
              <a:spcBef>
                <a:spcPts val="540"/>
              </a:spcBef>
            </a:pPr>
            <a:r>
              <a:rPr sz="1350" b="1" dirty="0">
                <a:latin typeface="Calibri"/>
                <a:cs typeface="Calibri"/>
              </a:rPr>
              <a:t>Disturbance</a:t>
            </a:r>
            <a:r>
              <a:rPr sz="1350" b="1" spc="135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Sensitivity:</a:t>
            </a:r>
            <a:r>
              <a:rPr sz="1350" b="1" spc="1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Any</a:t>
            </a:r>
            <a:r>
              <a:rPr sz="1350" spc="1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external </a:t>
            </a:r>
            <a:r>
              <a:rPr sz="1350" dirty="0">
                <a:latin typeface="Calibri"/>
                <a:cs typeface="Calibri"/>
              </a:rPr>
              <a:t>factor—such</a:t>
            </a:r>
            <a:r>
              <a:rPr sz="1350" spc="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as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0.01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Nm</a:t>
            </a:r>
            <a:r>
              <a:rPr sz="1350" b="1" spc="60" dirty="0">
                <a:latin typeface="Calibri"/>
                <a:cs typeface="Calibri"/>
              </a:rPr>
              <a:t> </a:t>
            </a:r>
            <a:r>
              <a:rPr sz="1350" b="1" spc="-20" dirty="0">
                <a:latin typeface="Calibri"/>
                <a:cs typeface="Calibri"/>
              </a:rPr>
              <a:t>Load </a:t>
            </a:r>
            <a:r>
              <a:rPr sz="1350" b="1" dirty="0">
                <a:latin typeface="Calibri"/>
                <a:cs typeface="Calibri"/>
              </a:rPr>
              <a:t>Torque</a:t>
            </a:r>
            <a:r>
              <a:rPr sz="1350" b="1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we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applied—results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100" dirty="0">
                <a:latin typeface="Calibri"/>
                <a:cs typeface="Calibri"/>
              </a:rPr>
              <a:t> </a:t>
            </a:r>
            <a:r>
              <a:rPr sz="1350" spc="-50" dirty="0">
                <a:latin typeface="Calibri"/>
                <a:cs typeface="Calibri"/>
              </a:rPr>
              <a:t>a </a:t>
            </a:r>
            <a:r>
              <a:rPr sz="1350" dirty="0">
                <a:latin typeface="Calibri"/>
                <a:cs typeface="Calibri"/>
              </a:rPr>
              <a:t>permanent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steady-state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error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or </a:t>
            </a:r>
            <a:r>
              <a:rPr sz="1350" dirty="0">
                <a:latin typeface="Calibri"/>
                <a:cs typeface="Calibri"/>
              </a:rPr>
              <a:t>system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stall.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ts val="1605"/>
              </a:lnSpc>
              <a:spcBef>
                <a:spcPts val="470"/>
              </a:spcBef>
            </a:pPr>
            <a:r>
              <a:rPr sz="1350" b="1" dirty="0">
                <a:latin typeface="Calibri"/>
                <a:cs typeface="Calibri"/>
              </a:rPr>
              <a:t>Parameter</a:t>
            </a:r>
            <a:r>
              <a:rPr sz="1350" b="1" spc="135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Drift:</a:t>
            </a:r>
            <a:r>
              <a:rPr sz="1350" b="1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If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internal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resistance</a:t>
            </a:r>
            <a:endParaRPr sz="1350">
              <a:latin typeface="Calibri"/>
              <a:cs typeface="Calibri"/>
            </a:endParaRPr>
          </a:p>
          <a:p>
            <a:pPr marL="12700" marR="48895">
              <a:lnSpc>
                <a:spcPts val="1510"/>
              </a:lnSpc>
              <a:spcBef>
                <a:spcPts val="125"/>
              </a:spcBef>
            </a:pPr>
            <a:r>
              <a:rPr sz="1350" dirty="0">
                <a:latin typeface="Calibri"/>
                <a:cs typeface="Calibri"/>
              </a:rPr>
              <a:t>(R) increases due to heat, an </a:t>
            </a:r>
            <a:r>
              <a:rPr sz="1350" spc="-20" dirty="0">
                <a:latin typeface="Calibri"/>
                <a:cs typeface="Calibri"/>
              </a:rPr>
              <a:t>open-</a:t>
            </a:r>
            <a:r>
              <a:rPr sz="1350" dirty="0">
                <a:latin typeface="Calibri"/>
                <a:cs typeface="Calibri"/>
              </a:rPr>
              <a:t>loop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system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cannot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adapt,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leading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to </a:t>
            </a:r>
            <a:r>
              <a:rPr sz="1350" dirty="0">
                <a:latin typeface="Calibri"/>
                <a:cs typeface="Calibri"/>
              </a:rPr>
              <a:t>speed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degradation.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2727" y="850391"/>
            <a:ext cx="1156716" cy="392734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70049" y="1294229"/>
            <a:ext cx="345440" cy="2980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490"/>
              </a:lnSpc>
            </a:pPr>
            <a:r>
              <a:rPr sz="2500" b="1" dirty="0">
                <a:latin typeface="Calibri"/>
                <a:cs typeface="Calibri"/>
              </a:rPr>
              <a:t>Feedback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Architecture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1976" y="2359151"/>
            <a:ext cx="1156716" cy="39273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358296" y="2612263"/>
            <a:ext cx="346075" cy="3241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490"/>
              </a:lnSpc>
            </a:pPr>
            <a:r>
              <a:rPr sz="2500" b="1" spc="-10" dirty="0">
                <a:latin typeface="Calibri"/>
                <a:cs typeface="Calibri"/>
              </a:rPr>
              <a:t>Open-</a:t>
            </a:r>
            <a:r>
              <a:rPr sz="2500" b="1" dirty="0">
                <a:latin typeface="Calibri"/>
                <a:cs typeface="Calibri"/>
              </a:rPr>
              <a:t>Loop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Vulnerability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1737741"/>
            <a:ext cx="5294376" cy="3375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5808" y="2709269"/>
            <a:ext cx="5057314" cy="15369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7460" y="6435712"/>
            <a:ext cx="60706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5/7/2026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6381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6381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1764"/>
            <a:ext cx="9199245" cy="457834"/>
          </a:xfrm>
          <a:custGeom>
            <a:avLst/>
            <a:gdLst/>
            <a:ahLst/>
            <a:cxnLst/>
            <a:rect l="l" t="t" r="r" b="b"/>
            <a:pathLst>
              <a:path w="9199245" h="457834">
                <a:moveTo>
                  <a:pt x="9198864" y="0"/>
                </a:moveTo>
                <a:lnTo>
                  <a:pt x="0" y="0"/>
                </a:lnTo>
                <a:lnTo>
                  <a:pt x="0" y="457314"/>
                </a:lnTo>
                <a:lnTo>
                  <a:pt x="9198864" y="457314"/>
                </a:lnTo>
                <a:lnTo>
                  <a:pt x="9198864" y="0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876300">
              <a:lnSpc>
                <a:spcPct val="100000"/>
              </a:lnSpc>
              <a:spcBef>
                <a:spcPts val="245"/>
              </a:spcBef>
            </a:pPr>
            <a:r>
              <a:rPr dirty="0"/>
              <a:t>Implementing</a:t>
            </a:r>
            <a:r>
              <a:rPr spc="145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spc="-20" dirty="0"/>
              <a:t>PID:</a:t>
            </a:r>
          </a:p>
        </p:txBody>
      </p:sp>
      <p:pic>
        <p:nvPicPr>
          <p:cNvPr id="6" name="object 6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79475" y="1122425"/>
          <a:ext cx="11216004" cy="2106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Component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"Temporal"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Physical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Proportional</a:t>
                      </a:r>
                      <a:r>
                        <a:rPr sz="155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(K</a:t>
                      </a:r>
                      <a:r>
                        <a:rPr sz="1575" spc="-30" baseline="-18518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Present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80645">
                        <a:lnSpc>
                          <a:spcPct val="100800"/>
                        </a:lnSpc>
                        <a:spcBef>
                          <a:spcPts val="33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Reacts</a:t>
                      </a:r>
                      <a:r>
                        <a:rPr sz="15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5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5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error.</a:t>
                      </a:r>
                      <a:r>
                        <a:rPr sz="15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575" baseline="-18518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575" spc="217" baseline="-1851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makes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reach</a:t>
                      </a:r>
                      <a:r>
                        <a:rPr sz="15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faster</a:t>
                      </a:r>
                      <a:r>
                        <a:rPr sz="15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5" dirty="0">
                          <a:latin typeface="Calibri"/>
                          <a:cs typeface="Calibri"/>
                        </a:rPr>
                        <a:t>can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cause</a:t>
                      </a:r>
                      <a:r>
                        <a:rPr sz="15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instability.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Integral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(K</a:t>
                      </a:r>
                      <a:r>
                        <a:rPr sz="1575" spc="-30" baseline="-18518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Past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625475">
                        <a:lnSpc>
                          <a:spcPct val="100899"/>
                        </a:lnSpc>
                        <a:spcBef>
                          <a:spcPts val="33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Accumulates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past</a:t>
                      </a:r>
                      <a:r>
                        <a:rPr sz="15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errors.</a:t>
                      </a:r>
                      <a:r>
                        <a:rPr sz="15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550" b="1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5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5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eliminate</a:t>
                      </a:r>
                      <a:r>
                        <a:rPr sz="155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"droop"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caused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55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5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(B)</a:t>
                      </a:r>
                      <a:r>
                        <a:rPr sz="15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5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Torque</a:t>
                      </a:r>
                      <a:r>
                        <a:rPr sz="155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(T</a:t>
                      </a:r>
                      <a:r>
                        <a:rPr sz="1575" spc="-30" baseline="-18518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Derivative</a:t>
                      </a:r>
                      <a:r>
                        <a:rPr sz="155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(K</a:t>
                      </a:r>
                      <a:r>
                        <a:rPr sz="1575" spc="-30" baseline="-18518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Future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493395">
                        <a:lnSpc>
                          <a:spcPct val="100800"/>
                        </a:lnSpc>
                        <a:spcBef>
                          <a:spcPts val="34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Predicts future</a:t>
                      </a:r>
                      <a:r>
                        <a:rPr sz="1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error by</a:t>
                      </a:r>
                      <a:r>
                        <a:rPr sz="1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looking</a:t>
                      </a:r>
                      <a:r>
                        <a:rPr sz="15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5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"slope."</a:t>
                      </a:r>
                      <a:r>
                        <a:rPr sz="15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5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acts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5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5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550" b="1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prevent</a:t>
                      </a:r>
                      <a:r>
                        <a:rPr sz="15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5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55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overshooting</a:t>
                      </a:r>
                      <a:r>
                        <a:rPr sz="155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 dirty="0">
                          <a:latin typeface="Calibri"/>
                          <a:cs typeface="Calibri"/>
                        </a:rPr>
                        <a:t>target.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6005829" y="3784727"/>
            <a:ext cx="552450" cy="781050"/>
            <a:chOff x="6005829" y="3784727"/>
            <a:chExt cx="552450" cy="781050"/>
          </a:xfrm>
        </p:grpSpPr>
        <p:sp>
          <p:nvSpPr>
            <p:cNvPr id="9" name="object 9"/>
            <p:cNvSpPr/>
            <p:nvPr/>
          </p:nvSpPr>
          <p:spPr>
            <a:xfrm>
              <a:off x="6012179" y="3791077"/>
              <a:ext cx="539750" cy="768350"/>
            </a:xfrm>
            <a:custGeom>
              <a:avLst/>
              <a:gdLst/>
              <a:ahLst/>
              <a:cxnLst/>
              <a:rect l="l" t="t" r="r" b="b"/>
              <a:pathLst>
                <a:path w="539750" h="768350">
                  <a:moveTo>
                    <a:pt x="539496" y="0"/>
                  </a:moveTo>
                  <a:lnTo>
                    <a:pt x="269748" y="269875"/>
                  </a:lnTo>
                  <a:lnTo>
                    <a:pt x="0" y="0"/>
                  </a:lnTo>
                  <a:lnTo>
                    <a:pt x="0" y="498475"/>
                  </a:lnTo>
                  <a:lnTo>
                    <a:pt x="269748" y="768350"/>
                  </a:lnTo>
                  <a:lnTo>
                    <a:pt x="539496" y="498475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12179" y="3791077"/>
              <a:ext cx="539750" cy="768350"/>
            </a:xfrm>
            <a:custGeom>
              <a:avLst/>
              <a:gdLst/>
              <a:ahLst/>
              <a:cxnLst/>
              <a:rect l="l" t="t" r="r" b="b"/>
              <a:pathLst>
                <a:path w="539750" h="768350">
                  <a:moveTo>
                    <a:pt x="539496" y="0"/>
                  </a:moveTo>
                  <a:lnTo>
                    <a:pt x="539496" y="498475"/>
                  </a:lnTo>
                  <a:lnTo>
                    <a:pt x="269748" y="768350"/>
                  </a:lnTo>
                  <a:lnTo>
                    <a:pt x="0" y="498475"/>
                  </a:lnTo>
                  <a:lnTo>
                    <a:pt x="0" y="0"/>
                  </a:lnTo>
                  <a:lnTo>
                    <a:pt x="269748" y="269875"/>
                  </a:lnTo>
                  <a:lnTo>
                    <a:pt x="539496" y="0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13779" y="4073715"/>
            <a:ext cx="33718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Sense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51676" y="3791077"/>
            <a:ext cx="5550535" cy="494030"/>
          </a:xfrm>
          <a:custGeom>
            <a:avLst/>
            <a:gdLst/>
            <a:ahLst/>
            <a:cxnLst/>
            <a:rect l="l" t="t" r="r" b="b"/>
            <a:pathLst>
              <a:path w="5550534" h="494029">
                <a:moveTo>
                  <a:pt x="5550408" y="82423"/>
                </a:moveTo>
                <a:lnTo>
                  <a:pt x="5550408" y="411606"/>
                </a:lnTo>
                <a:lnTo>
                  <a:pt x="5543942" y="443646"/>
                </a:lnTo>
                <a:lnTo>
                  <a:pt x="5526309" y="469804"/>
                </a:lnTo>
                <a:lnTo>
                  <a:pt x="5500151" y="487437"/>
                </a:lnTo>
                <a:lnTo>
                  <a:pt x="5468112" y="493903"/>
                </a:lnTo>
                <a:lnTo>
                  <a:pt x="0" y="493903"/>
                </a:lnTo>
                <a:lnTo>
                  <a:pt x="0" y="0"/>
                </a:lnTo>
                <a:lnTo>
                  <a:pt x="5468112" y="0"/>
                </a:lnTo>
                <a:lnTo>
                  <a:pt x="5500151" y="6484"/>
                </a:lnTo>
                <a:lnTo>
                  <a:pt x="5526309" y="24161"/>
                </a:lnTo>
                <a:lnTo>
                  <a:pt x="5543942" y="50363"/>
                </a:lnTo>
                <a:lnTo>
                  <a:pt x="5550408" y="82423"/>
                </a:lnTo>
                <a:close/>
              </a:path>
            </a:pathLst>
          </a:custGeom>
          <a:ln w="12699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55055" y="3354133"/>
            <a:ext cx="6092190" cy="78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Closing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Loop: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Flow</a:t>
            </a:r>
            <a:endParaRPr sz="1800">
              <a:latin typeface="Calibri"/>
              <a:cs typeface="Calibri"/>
            </a:endParaRPr>
          </a:p>
          <a:p>
            <a:pPr marL="1112520" indent="-113664">
              <a:lnSpc>
                <a:spcPct val="100000"/>
              </a:lnSpc>
              <a:spcBef>
                <a:spcPts val="2045"/>
              </a:spcBef>
              <a:buChar char="•"/>
              <a:tabLst>
                <a:tab pos="111252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feedback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wire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carries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Angular</a:t>
            </a:r>
            <a:r>
              <a:rPr sz="1500" b="1" spc="-4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Velocity</a:t>
            </a:r>
            <a:r>
              <a:rPr sz="1500" b="1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back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start.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5829" y="4388484"/>
            <a:ext cx="552450" cy="781050"/>
            <a:chOff x="6005829" y="4388484"/>
            <a:chExt cx="552450" cy="781050"/>
          </a:xfrm>
        </p:grpSpPr>
        <p:sp>
          <p:nvSpPr>
            <p:cNvPr id="15" name="object 15"/>
            <p:cNvSpPr/>
            <p:nvPr/>
          </p:nvSpPr>
          <p:spPr>
            <a:xfrm>
              <a:off x="6012179" y="4394834"/>
              <a:ext cx="539750" cy="768350"/>
            </a:xfrm>
            <a:custGeom>
              <a:avLst/>
              <a:gdLst/>
              <a:ahLst/>
              <a:cxnLst/>
              <a:rect l="l" t="t" r="r" b="b"/>
              <a:pathLst>
                <a:path w="539750" h="768350">
                  <a:moveTo>
                    <a:pt x="539496" y="0"/>
                  </a:moveTo>
                  <a:lnTo>
                    <a:pt x="269748" y="269747"/>
                  </a:lnTo>
                  <a:lnTo>
                    <a:pt x="0" y="0"/>
                  </a:lnTo>
                  <a:lnTo>
                    <a:pt x="0" y="498475"/>
                  </a:lnTo>
                  <a:lnTo>
                    <a:pt x="269748" y="768222"/>
                  </a:lnTo>
                  <a:lnTo>
                    <a:pt x="539496" y="498475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2179" y="4394834"/>
              <a:ext cx="539750" cy="768350"/>
            </a:xfrm>
            <a:custGeom>
              <a:avLst/>
              <a:gdLst/>
              <a:ahLst/>
              <a:cxnLst/>
              <a:rect l="l" t="t" r="r" b="b"/>
              <a:pathLst>
                <a:path w="539750" h="768350">
                  <a:moveTo>
                    <a:pt x="539496" y="0"/>
                  </a:moveTo>
                  <a:lnTo>
                    <a:pt x="539496" y="498475"/>
                  </a:lnTo>
                  <a:lnTo>
                    <a:pt x="269748" y="768222"/>
                  </a:lnTo>
                  <a:lnTo>
                    <a:pt x="0" y="498475"/>
                  </a:lnTo>
                  <a:lnTo>
                    <a:pt x="0" y="0"/>
                  </a:lnTo>
                  <a:lnTo>
                    <a:pt x="269748" y="269747"/>
                  </a:lnTo>
                  <a:lnTo>
                    <a:pt x="539496" y="0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27673" y="4681283"/>
            <a:ext cx="50165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Compare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51676" y="4394834"/>
            <a:ext cx="5550535" cy="503555"/>
          </a:xfrm>
          <a:custGeom>
            <a:avLst/>
            <a:gdLst/>
            <a:ahLst/>
            <a:cxnLst/>
            <a:rect l="l" t="t" r="r" b="b"/>
            <a:pathLst>
              <a:path w="5550534" h="503554">
                <a:moveTo>
                  <a:pt x="5550408" y="83819"/>
                </a:moveTo>
                <a:lnTo>
                  <a:pt x="5550408" y="419100"/>
                </a:lnTo>
                <a:lnTo>
                  <a:pt x="5543811" y="451772"/>
                </a:lnTo>
                <a:lnTo>
                  <a:pt x="5525833" y="478456"/>
                </a:lnTo>
                <a:lnTo>
                  <a:pt x="5499187" y="496448"/>
                </a:lnTo>
                <a:lnTo>
                  <a:pt x="5466588" y="503046"/>
                </a:lnTo>
                <a:lnTo>
                  <a:pt x="0" y="503046"/>
                </a:lnTo>
                <a:lnTo>
                  <a:pt x="0" y="0"/>
                </a:lnTo>
                <a:lnTo>
                  <a:pt x="5466588" y="0"/>
                </a:lnTo>
                <a:lnTo>
                  <a:pt x="5499187" y="6578"/>
                </a:lnTo>
                <a:lnTo>
                  <a:pt x="5525833" y="24526"/>
                </a:lnTo>
                <a:lnTo>
                  <a:pt x="5543811" y="51167"/>
                </a:lnTo>
                <a:lnTo>
                  <a:pt x="5550408" y="83819"/>
                </a:lnTo>
                <a:close/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58026" y="4389310"/>
            <a:ext cx="5493385" cy="46735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08915" marR="196850" indent="-113664">
              <a:lnSpc>
                <a:spcPts val="1660"/>
              </a:lnSpc>
              <a:spcBef>
                <a:spcPts val="285"/>
              </a:spcBef>
              <a:buChar char="•"/>
              <a:tabLst>
                <a:tab pos="210185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Summing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Junction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subtracts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actual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speed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 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target 	</a:t>
            </a:r>
            <a:r>
              <a:rPr sz="1500" dirty="0">
                <a:latin typeface="Calibri"/>
                <a:cs typeface="Calibri"/>
              </a:rPr>
              <a:t>speed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 find 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"Error."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05829" y="5001259"/>
            <a:ext cx="552450" cy="772160"/>
            <a:chOff x="6005829" y="5001259"/>
            <a:chExt cx="552450" cy="772160"/>
          </a:xfrm>
        </p:grpSpPr>
        <p:sp>
          <p:nvSpPr>
            <p:cNvPr id="21" name="object 21"/>
            <p:cNvSpPr/>
            <p:nvPr/>
          </p:nvSpPr>
          <p:spPr>
            <a:xfrm>
              <a:off x="6012179" y="5007609"/>
              <a:ext cx="539750" cy="759460"/>
            </a:xfrm>
            <a:custGeom>
              <a:avLst/>
              <a:gdLst/>
              <a:ahLst/>
              <a:cxnLst/>
              <a:rect l="l" t="t" r="r" b="b"/>
              <a:pathLst>
                <a:path w="539750" h="759460">
                  <a:moveTo>
                    <a:pt x="539496" y="0"/>
                  </a:moveTo>
                  <a:lnTo>
                    <a:pt x="269748" y="269747"/>
                  </a:lnTo>
                  <a:lnTo>
                    <a:pt x="0" y="0"/>
                  </a:lnTo>
                  <a:lnTo>
                    <a:pt x="0" y="489330"/>
                  </a:lnTo>
                  <a:lnTo>
                    <a:pt x="269748" y="759117"/>
                  </a:lnTo>
                  <a:lnTo>
                    <a:pt x="539496" y="489330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12179" y="5007609"/>
              <a:ext cx="539750" cy="759460"/>
            </a:xfrm>
            <a:custGeom>
              <a:avLst/>
              <a:gdLst/>
              <a:ahLst/>
              <a:cxnLst/>
              <a:rect l="l" t="t" r="r" b="b"/>
              <a:pathLst>
                <a:path w="539750" h="759460">
                  <a:moveTo>
                    <a:pt x="539496" y="0"/>
                  </a:moveTo>
                  <a:lnTo>
                    <a:pt x="539496" y="489330"/>
                  </a:lnTo>
                  <a:lnTo>
                    <a:pt x="269748" y="759117"/>
                  </a:lnTo>
                  <a:lnTo>
                    <a:pt x="0" y="489330"/>
                  </a:lnTo>
                  <a:lnTo>
                    <a:pt x="0" y="0"/>
                  </a:lnTo>
                  <a:lnTo>
                    <a:pt x="269748" y="269747"/>
                  </a:lnTo>
                  <a:lnTo>
                    <a:pt x="539496" y="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67425" y="5288597"/>
            <a:ext cx="42418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51676" y="5007609"/>
            <a:ext cx="5550535" cy="494030"/>
          </a:xfrm>
          <a:custGeom>
            <a:avLst/>
            <a:gdLst/>
            <a:ahLst/>
            <a:cxnLst/>
            <a:rect l="l" t="t" r="r" b="b"/>
            <a:pathLst>
              <a:path w="5550534" h="494029">
                <a:moveTo>
                  <a:pt x="5550408" y="82295"/>
                </a:moveTo>
                <a:lnTo>
                  <a:pt x="5550408" y="411606"/>
                </a:lnTo>
                <a:lnTo>
                  <a:pt x="5543942" y="443646"/>
                </a:lnTo>
                <a:lnTo>
                  <a:pt x="5526309" y="469804"/>
                </a:lnTo>
                <a:lnTo>
                  <a:pt x="5500151" y="487437"/>
                </a:lnTo>
                <a:lnTo>
                  <a:pt x="5468112" y="493902"/>
                </a:lnTo>
                <a:lnTo>
                  <a:pt x="0" y="493902"/>
                </a:lnTo>
                <a:lnTo>
                  <a:pt x="0" y="0"/>
                </a:lnTo>
                <a:lnTo>
                  <a:pt x="5468112" y="0"/>
                </a:lnTo>
                <a:lnTo>
                  <a:pt x="5500151" y="6465"/>
                </a:lnTo>
                <a:lnTo>
                  <a:pt x="5526309" y="24098"/>
                </a:lnTo>
                <a:lnTo>
                  <a:pt x="5543942" y="50256"/>
                </a:lnTo>
                <a:lnTo>
                  <a:pt x="5550408" y="82295"/>
                </a:lnTo>
                <a:close/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41592" y="4996624"/>
            <a:ext cx="5322570" cy="46735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5730" marR="5080" indent="-113664">
              <a:lnSpc>
                <a:spcPts val="1660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PID</a:t>
            </a:r>
            <a:r>
              <a:rPr sz="1500" b="1" spc="-8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Block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calculates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how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much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voltage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needed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based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	</a:t>
            </a:r>
            <a:r>
              <a:rPr sz="1500" dirty="0">
                <a:latin typeface="Calibri"/>
                <a:cs typeface="Calibri"/>
              </a:rPr>
              <a:t>size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error.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05829" y="5604890"/>
            <a:ext cx="552450" cy="772160"/>
            <a:chOff x="6005829" y="5604890"/>
            <a:chExt cx="552450" cy="772160"/>
          </a:xfrm>
        </p:grpSpPr>
        <p:sp>
          <p:nvSpPr>
            <p:cNvPr id="27" name="object 27"/>
            <p:cNvSpPr/>
            <p:nvPr/>
          </p:nvSpPr>
          <p:spPr>
            <a:xfrm>
              <a:off x="6012179" y="5611240"/>
              <a:ext cx="539750" cy="759460"/>
            </a:xfrm>
            <a:custGeom>
              <a:avLst/>
              <a:gdLst/>
              <a:ahLst/>
              <a:cxnLst/>
              <a:rect l="l" t="t" r="r" b="b"/>
              <a:pathLst>
                <a:path w="539750" h="759460">
                  <a:moveTo>
                    <a:pt x="539496" y="0"/>
                  </a:moveTo>
                  <a:lnTo>
                    <a:pt x="269748" y="269824"/>
                  </a:lnTo>
                  <a:lnTo>
                    <a:pt x="0" y="0"/>
                  </a:lnTo>
                  <a:lnTo>
                    <a:pt x="0" y="489331"/>
                  </a:lnTo>
                  <a:lnTo>
                    <a:pt x="269748" y="759142"/>
                  </a:lnTo>
                  <a:lnTo>
                    <a:pt x="539496" y="48933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12179" y="5611240"/>
              <a:ext cx="539750" cy="759460"/>
            </a:xfrm>
            <a:custGeom>
              <a:avLst/>
              <a:gdLst/>
              <a:ahLst/>
              <a:cxnLst/>
              <a:rect l="l" t="t" r="r" b="b"/>
              <a:pathLst>
                <a:path w="539750" h="759460">
                  <a:moveTo>
                    <a:pt x="539496" y="0"/>
                  </a:moveTo>
                  <a:lnTo>
                    <a:pt x="539496" y="489331"/>
                  </a:lnTo>
                  <a:lnTo>
                    <a:pt x="269748" y="759142"/>
                  </a:lnTo>
                  <a:lnTo>
                    <a:pt x="0" y="489331"/>
                  </a:lnTo>
                  <a:lnTo>
                    <a:pt x="0" y="0"/>
                  </a:lnTo>
                  <a:lnTo>
                    <a:pt x="269748" y="269824"/>
                  </a:lnTo>
                  <a:lnTo>
                    <a:pt x="539496" y="0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79946" y="5896533"/>
            <a:ext cx="19812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Act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51676" y="5611253"/>
            <a:ext cx="5550535" cy="494030"/>
          </a:xfrm>
          <a:custGeom>
            <a:avLst/>
            <a:gdLst/>
            <a:ahLst/>
            <a:cxnLst/>
            <a:rect l="l" t="t" r="r" b="b"/>
            <a:pathLst>
              <a:path w="5550534" h="494029">
                <a:moveTo>
                  <a:pt x="5550408" y="82308"/>
                </a:moveTo>
                <a:lnTo>
                  <a:pt x="5550408" y="411568"/>
                </a:lnTo>
                <a:lnTo>
                  <a:pt x="5543942" y="443612"/>
                </a:lnTo>
                <a:lnTo>
                  <a:pt x="5526309" y="469779"/>
                </a:lnTo>
                <a:lnTo>
                  <a:pt x="5500151" y="487421"/>
                </a:lnTo>
                <a:lnTo>
                  <a:pt x="5468112" y="493890"/>
                </a:lnTo>
                <a:lnTo>
                  <a:pt x="0" y="493890"/>
                </a:lnTo>
                <a:lnTo>
                  <a:pt x="0" y="0"/>
                </a:lnTo>
                <a:lnTo>
                  <a:pt x="5468112" y="0"/>
                </a:lnTo>
                <a:lnTo>
                  <a:pt x="5500151" y="6468"/>
                </a:lnTo>
                <a:lnTo>
                  <a:pt x="5526309" y="24109"/>
                </a:lnTo>
                <a:lnTo>
                  <a:pt x="5543942" y="50272"/>
                </a:lnTo>
                <a:lnTo>
                  <a:pt x="5550408" y="82308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641592" y="5604230"/>
            <a:ext cx="5306695" cy="46735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5730" marR="5080" indent="-113664">
              <a:lnSpc>
                <a:spcPts val="1660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calculated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voltage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enters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Electrical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Subsystem</a:t>
            </a:r>
            <a:r>
              <a:rPr sz="1500" spc="-10" dirty="0">
                <a:latin typeface="Calibri"/>
                <a:cs typeface="Calibri"/>
              </a:rPr>
              <a:t>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which 	generates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current,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creates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torque,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changes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speed.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2897" y="3426739"/>
            <a:ext cx="4898390" cy="2759710"/>
            <a:chOff x="572897" y="3426739"/>
            <a:chExt cx="4898390" cy="275971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431" y="3544093"/>
              <a:ext cx="4663321" cy="254999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4484" y="3428326"/>
              <a:ext cx="4895215" cy="2756535"/>
            </a:xfrm>
            <a:custGeom>
              <a:avLst/>
              <a:gdLst/>
              <a:ahLst/>
              <a:cxnLst/>
              <a:rect l="l" t="t" r="r" b="b"/>
              <a:pathLst>
                <a:path w="4895215" h="2756535">
                  <a:moveTo>
                    <a:pt x="0" y="2756154"/>
                  </a:moveTo>
                  <a:lnTo>
                    <a:pt x="4895215" y="2756154"/>
                  </a:lnTo>
                  <a:lnTo>
                    <a:pt x="4895215" y="0"/>
                  </a:lnTo>
                  <a:lnTo>
                    <a:pt x="0" y="0"/>
                  </a:lnTo>
                  <a:lnTo>
                    <a:pt x="0" y="2756154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337" y="2077870"/>
            <a:ext cx="11183239" cy="33095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7460" y="6435712"/>
            <a:ext cx="60706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5/7/2026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6381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6381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1764"/>
            <a:ext cx="9199245" cy="457834"/>
          </a:xfrm>
          <a:custGeom>
            <a:avLst/>
            <a:gdLst/>
            <a:ahLst/>
            <a:cxnLst/>
            <a:rect l="l" t="t" r="r" b="b"/>
            <a:pathLst>
              <a:path w="9199245" h="457834">
                <a:moveTo>
                  <a:pt x="9198864" y="0"/>
                </a:moveTo>
                <a:lnTo>
                  <a:pt x="0" y="0"/>
                </a:lnTo>
                <a:lnTo>
                  <a:pt x="0" y="457314"/>
                </a:lnTo>
                <a:lnTo>
                  <a:pt x="9198864" y="457314"/>
                </a:lnTo>
                <a:lnTo>
                  <a:pt x="9198864" y="0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876300">
              <a:lnSpc>
                <a:spcPct val="100000"/>
              </a:lnSpc>
              <a:spcBef>
                <a:spcPts val="245"/>
              </a:spcBef>
            </a:pPr>
            <a:r>
              <a:rPr dirty="0"/>
              <a:t>Controller</a:t>
            </a:r>
            <a:r>
              <a:rPr spc="85" dirty="0"/>
              <a:t> </a:t>
            </a:r>
            <a:r>
              <a:rPr dirty="0"/>
              <a:t>Performance</a:t>
            </a:r>
            <a:r>
              <a:rPr spc="70" dirty="0"/>
              <a:t> </a:t>
            </a:r>
            <a:r>
              <a:rPr dirty="0"/>
              <a:t>Metrics</a:t>
            </a:r>
            <a:r>
              <a:rPr spc="100" dirty="0"/>
              <a:t> </a:t>
            </a:r>
            <a:r>
              <a:rPr dirty="0"/>
              <a:t>&amp;</a:t>
            </a:r>
            <a:r>
              <a:rPr spc="70" dirty="0"/>
              <a:t> </a:t>
            </a:r>
            <a:r>
              <a:rPr spc="-10" dirty="0"/>
              <a:t>Evaluation:</a:t>
            </a:r>
          </a:p>
        </p:txBody>
      </p:sp>
      <p:pic>
        <p:nvPicPr>
          <p:cNvPr id="6" name="object 6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2355" y="1486280"/>
            <a:ext cx="11036935" cy="795655"/>
          </a:xfrm>
          <a:custGeom>
            <a:avLst/>
            <a:gdLst/>
            <a:ahLst/>
            <a:cxnLst/>
            <a:rect l="l" t="t" r="r" b="b"/>
            <a:pathLst>
              <a:path w="11036935" h="795655">
                <a:moveTo>
                  <a:pt x="10904220" y="0"/>
                </a:moveTo>
                <a:lnTo>
                  <a:pt x="132587" y="0"/>
                </a:lnTo>
                <a:lnTo>
                  <a:pt x="90679" y="6754"/>
                </a:lnTo>
                <a:lnTo>
                  <a:pt x="54282" y="25566"/>
                </a:lnTo>
                <a:lnTo>
                  <a:pt x="25581" y="54260"/>
                </a:lnTo>
                <a:lnTo>
                  <a:pt x="6759" y="90659"/>
                </a:lnTo>
                <a:lnTo>
                  <a:pt x="0" y="132588"/>
                </a:lnTo>
                <a:lnTo>
                  <a:pt x="0" y="663067"/>
                </a:lnTo>
                <a:lnTo>
                  <a:pt x="6759" y="704995"/>
                </a:lnTo>
                <a:lnTo>
                  <a:pt x="25581" y="741394"/>
                </a:lnTo>
                <a:lnTo>
                  <a:pt x="54282" y="770088"/>
                </a:lnTo>
                <a:lnTo>
                  <a:pt x="90679" y="788900"/>
                </a:lnTo>
                <a:lnTo>
                  <a:pt x="132587" y="795655"/>
                </a:lnTo>
                <a:lnTo>
                  <a:pt x="10904220" y="795655"/>
                </a:lnTo>
                <a:lnTo>
                  <a:pt x="10946148" y="788900"/>
                </a:lnTo>
                <a:lnTo>
                  <a:pt x="10982547" y="770088"/>
                </a:lnTo>
                <a:lnTo>
                  <a:pt x="11011241" y="741394"/>
                </a:lnTo>
                <a:lnTo>
                  <a:pt x="11030053" y="704995"/>
                </a:lnTo>
                <a:lnTo>
                  <a:pt x="11036808" y="663067"/>
                </a:lnTo>
                <a:lnTo>
                  <a:pt x="11036808" y="132588"/>
                </a:lnTo>
                <a:lnTo>
                  <a:pt x="11030053" y="90659"/>
                </a:lnTo>
                <a:lnTo>
                  <a:pt x="11011241" y="54260"/>
                </a:lnTo>
                <a:lnTo>
                  <a:pt x="10982547" y="25566"/>
                </a:lnTo>
                <a:lnTo>
                  <a:pt x="10946148" y="6754"/>
                </a:lnTo>
                <a:lnTo>
                  <a:pt x="1090422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2355" y="2565526"/>
            <a:ext cx="11036935" cy="796290"/>
          </a:xfrm>
          <a:custGeom>
            <a:avLst/>
            <a:gdLst/>
            <a:ahLst/>
            <a:cxnLst/>
            <a:rect l="l" t="t" r="r" b="b"/>
            <a:pathLst>
              <a:path w="11036935" h="796289">
                <a:moveTo>
                  <a:pt x="10904220" y="0"/>
                </a:moveTo>
                <a:lnTo>
                  <a:pt x="132587" y="0"/>
                </a:lnTo>
                <a:lnTo>
                  <a:pt x="90679" y="6766"/>
                </a:lnTo>
                <a:lnTo>
                  <a:pt x="54282" y="25603"/>
                </a:lnTo>
                <a:lnTo>
                  <a:pt x="25581" y="54315"/>
                </a:lnTo>
                <a:lnTo>
                  <a:pt x="6759" y="90708"/>
                </a:lnTo>
                <a:lnTo>
                  <a:pt x="0" y="132587"/>
                </a:lnTo>
                <a:lnTo>
                  <a:pt x="0" y="663067"/>
                </a:lnTo>
                <a:lnTo>
                  <a:pt x="6759" y="705008"/>
                </a:lnTo>
                <a:lnTo>
                  <a:pt x="25581" y="741439"/>
                </a:lnTo>
                <a:lnTo>
                  <a:pt x="54282" y="770170"/>
                </a:lnTo>
                <a:lnTo>
                  <a:pt x="90679" y="789014"/>
                </a:lnTo>
                <a:lnTo>
                  <a:pt x="132587" y="795782"/>
                </a:lnTo>
                <a:lnTo>
                  <a:pt x="10904220" y="795782"/>
                </a:lnTo>
                <a:lnTo>
                  <a:pt x="10946148" y="789014"/>
                </a:lnTo>
                <a:lnTo>
                  <a:pt x="10982547" y="770170"/>
                </a:lnTo>
                <a:lnTo>
                  <a:pt x="11011241" y="741439"/>
                </a:lnTo>
                <a:lnTo>
                  <a:pt x="11030053" y="705008"/>
                </a:lnTo>
                <a:lnTo>
                  <a:pt x="11036808" y="663067"/>
                </a:lnTo>
                <a:lnTo>
                  <a:pt x="11036808" y="132587"/>
                </a:lnTo>
                <a:lnTo>
                  <a:pt x="11030053" y="90708"/>
                </a:lnTo>
                <a:lnTo>
                  <a:pt x="11011241" y="54315"/>
                </a:lnTo>
                <a:lnTo>
                  <a:pt x="10982547" y="25603"/>
                </a:lnTo>
                <a:lnTo>
                  <a:pt x="10946148" y="6766"/>
                </a:lnTo>
                <a:lnTo>
                  <a:pt x="10904220" y="0"/>
                </a:lnTo>
                <a:close/>
              </a:path>
            </a:pathLst>
          </a:custGeom>
          <a:solidFill>
            <a:srgbClr val="AC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0125" y="3339020"/>
            <a:ext cx="75361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3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127635" algn="l"/>
              </a:tabLst>
            </a:pPr>
            <a:r>
              <a:rPr sz="1300" spc="-10" dirty="0">
                <a:latin typeface="Calibri"/>
                <a:cs typeface="Calibri"/>
              </a:rPr>
              <a:t>Significance: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Excessive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overshoot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indicates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poor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damping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can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cause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mechanical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gear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wear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shaft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fatigue.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01" y="1030350"/>
            <a:ext cx="10643870" cy="2063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u="sng" spc="-4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Transient</a:t>
            </a:r>
            <a:r>
              <a:rPr sz="1800" u="sng" spc="-65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Response</a:t>
            </a:r>
            <a:r>
              <a:rPr sz="1800" u="sng" spc="-1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 Metrics</a:t>
            </a:r>
            <a:endParaRPr sz="1800">
              <a:latin typeface="Calibri Light"/>
              <a:cs typeface="Calibri Light"/>
            </a:endParaRPr>
          </a:p>
          <a:p>
            <a:pPr marL="181610">
              <a:lnSpc>
                <a:spcPts val="2320"/>
              </a:lnSpc>
              <a:spcBef>
                <a:spcPts val="188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Rise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25" spc="-15" baseline="-18518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):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 10%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90%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reaching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2000">
              <a:latin typeface="Calibri"/>
              <a:cs typeface="Calibri"/>
            </a:endParaRPr>
          </a:p>
          <a:p>
            <a:pPr marL="181610">
              <a:lnSpc>
                <a:spcPts val="232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rad/s).</a:t>
            </a:r>
            <a:endParaRPr sz="2000">
              <a:latin typeface="Calibri"/>
              <a:cs typeface="Calibri"/>
            </a:endParaRPr>
          </a:p>
          <a:p>
            <a:pPr marL="532130" indent="-114935">
              <a:lnSpc>
                <a:spcPct val="100000"/>
              </a:lnSpc>
              <a:spcBef>
                <a:spcPts val="994"/>
              </a:spcBef>
              <a:buChar char="•"/>
              <a:tabLst>
                <a:tab pos="532130" algn="l"/>
              </a:tabLst>
            </a:pPr>
            <a:r>
              <a:rPr sz="1300" spc="-10" dirty="0">
                <a:latin typeface="Calibri"/>
                <a:cs typeface="Calibri"/>
              </a:rPr>
              <a:t>Significance: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Indicates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responsiveness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"aggressiveness"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motor.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3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Peak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Overshoot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025" baseline="-18518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):</a:t>
            </a:r>
            <a:r>
              <a:rPr sz="2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percentage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exceeds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setpoint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(100).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2355" y="3635628"/>
            <a:ext cx="11036935" cy="796290"/>
          </a:xfrm>
          <a:custGeom>
            <a:avLst/>
            <a:gdLst/>
            <a:ahLst/>
            <a:cxnLst/>
            <a:rect l="l" t="t" r="r" b="b"/>
            <a:pathLst>
              <a:path w="11036935" h="796289">
                <a:moveTo>
                  <a:pt x="10904220" y="0"/>
                </a:moveTo>
                <a:lnTo>
                  <a:pt x="132587" y="0"/>
                </a:lnTo>
                <a:lnTo>
                  <a:pt x="90679" y="6766"/>
                </a:lnTo>
                <a:lnTo>
                  <a:pt x="54282" y="25603"/>
                </a:lnTo>
                <a:lnTo>
                  <a:pt x="25581" y="54315"/>
                </a:lnTo>
                <a:lnTo>
                  <a:pt x="6759" y="90708"/>
                </a:lnTo>
                <a:lnTo>
                  <a:pt x="0" y="132588"/>
                </a:lnTo>
                <a:lnTo>
                  <a:pt x="0" y="663067"/>
                </a:lnTo>
                <a:lnTo>
                  <a:pt x="6759" y="705008"/>
                </a:lnTo>
                <a:lnTo>
                  <a:pt x="25581" y="741439"/>
                </a:lnTo>
                <a:lnTo>
                  <a:pt x="54282" y="770170"/>
                </a:lnTo>
                <a:lnTo>
                  <a:pt x="90679" y="789014"/>
                </a:lnTo>
                <a:lnTo>
                  <a:pt x="132587" y="795782"/>
                </a:lnTo>
                <a:lnTo>
                  <a:pt x="10904220" y="795782"/>
                </a:lnTo>
                <a:lnTo>
                  <a:pt x="10946148" y="789014"/>
                </a:lnTo>
                <a:lnTo>
                  <a:pt x="10982547" y="770170"/>
                </a:lnTo>
                <a:lnTo>
                  <a:pt x="11011241" y="741439"/>
                </a:lnTo>
                <a:lnTo>
                  <a:pt x="11030053" y="705008"/>
                </a:lnTo>
                <a:lnTo>
                  <a:pt x="11036808" y="663067"/>
                </a:lnTo>
                <a:lnTo>
                  <a:pt x="11036808" y="132588"/>
                </a:lnTo>
                <a:lnTo>
                  <a:pt x="11030053" y="90708"/>
                </a:lnTo>
                <a:lnTo>
                  <a:pt x="11011241" y="54315"/>
                </a:lnTo>
                <a:lnTo>
                  <a:pt x="10982547" y="25603"/>
                </a:lnTo>
                <a:lnTo>
                  <a:pt x="10946148" y="6766"/>
                </a:lnTo>
                <a:lnTo>
                  <a:pt x="10904220" y="0"/>
                </a:lnTo>
                <a:close/>
              </a:path>
            </a:pathLst>
          </a:custGeom>
          <a:solidFill>
            <a:srgbClr val="B43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9495" y="3839464"/>
            <a:ext cx="1074737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Settling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25" spc="-15" baseline="-18518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):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oscillations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stay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(usually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+\-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2%).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101" y="4418329"/>
            <a:ext cx="10381615" cy="1302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9430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519430" algn="l"/>
              </a:tabLst>
            </a:pPr>
            <a:r>
              <a:rPr sz="1300" spc="-10" dirty="0">
                <a:latin typeface="Calibri"/>
                <a:cs typeface="Calibri"/>
              </a:rPr>
              <a:t>Significance: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Defines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how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quickly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system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becomes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"stable"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ready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task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execution.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3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sz="1800" u="sng" spc="-3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Steady-</a:t>
            </a:r>
            <a:r>
              <a:rPr sz="1800" u="sng" spc="-1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State</a:t>
            </a:r>
            <a:r>
              <a:rPr sz="1800" u="sng" spc="-5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1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  <a:latin typeface="Calibri Light"/>
                <a:cs typeface="Calibri Light"/>
              </a:rPr>
              <a:t>Metrics</a:t>
            </a:r>
            <a:endParaRPr sz="1800">
              <a:latin typeface="Calibri Light"/>
              <a:cs typeface="Calibri Light"/>
            </a:endParaRPr>
          </a:p>
          <a:p>
            <a:pPr marL="294005">
              <a:lnSpc>
                <a:spcPct val="100000"/>
              </a:lnSpc>
              <a:spcBef>
                <a:spcPts val="1805"/>
              </a:spcBef>
            </a:pPr>
            <a:r>
              <a:rPr sz="2000" b="1" spc="-20" dirty="0">
                <a:latin typeface="Calibri"/>
                <a:cs typeface="Calibri"/>
              </a:rPr>
              <a:t>Steady-</a:t>
            </a:r>
            <a:r>
              <a:rPr sz="2000" b="1" spc="-10" dirty="0">
                <a:latin typeface="Calibri"/>
                <a:cs typeface="Calibri"/>
              </a:rPr>
              <a:t>State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Error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25" baseline="-18518" dirty="0">
                <a:latin typeface="Calibri"/>
                <a:cs typeface="Calibri"/>
              </a:rPr>
              <a:t>ss</a:t>
            </a:r>
            <a:r>
              <a:rPr sz="2000" b="1" dirty="0">
                <a:latin typeface="Calibri"/>
                <a:cs typeface="Calibri"/>
              </a:rPr>
              <a:t>):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desired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rad/s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795690"/>
            <a:ext cx="12189460" cy="62865"/>
          </a:xfrm>
          <a:custGeom>
            <a:avLst/>
            <a:gdLst/>
            <a:ahLst/>
            <a:cxnLst/>
            <a:rect l="l" t="t" r="r" b="b"/>
            <a:pathLst>
              <a:path w="12189460" h="62865">
                <a:moveTo>
                  <a:pt x="12188952" y="0"/>
                </a:moveTo>
                <a:lnTo>
                  <a:pt x="0" y="0"/>
                </a:lnTo>
                <a:lnTo>
                  <a:pt x="0" y="62309"/>
                </a:lnTo>
                <a:lnTo>
                  <a:pt x="12188952" y="62309"/>
                </a:lnTo>
                <a:lnTo>
                  <a:pt x="12188952" y="0"/>
                </a:lnTo>
                <a:close/>
              </a:path>
            </a:pathLst>
          </a:custGeom>
          <a:solidFill>
            <a:srgbClr val="1A4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605259" y="6435712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92620"/>
            <a:ext cx="9208135" cy="466725"/>
            <a:chOff x="0" y="292620"/>
            <a:chExt cx="9208135" cy="466725"/>
          </a:xfrm>
        </p:grpSpPr>
        <p:pic>
          <p:nvPicPr>
            <p:cNvPr id="5" name="object 5" descr="I:\arrow.GIF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" y="393255"/>
              <a:ext cx="274320" cy="2743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92620"/>
              <a:ext cx="9208135" cy="466725"/>
            </a:xfrm>
            <a:custGeom>
              <a:avLst/>
              <a:gdLst/>
              <a:ahLst/>
              <a:cxnLst/>
              <a:rect l="l" t="t" r="r" b="b"/>
              <a:pathLst>
                <a:path w="9208135" h="466725">
                  <a:moveTo>
                    <a:pt x="9208008" y="0"/>
                  </a:moveTo>
                  <a:lnTo>
                    <a:pt x="0" y="0"/>
                  </a:lnTo>
                  <a:lnTo>
                    <a:pt x="0" y="466458"/>
                  </a:lnTo>
                  <a:lnTo>
                    <a:pt x="9208008" y="466458"/>
                  </a:lnTo>
                  <a:lnTo>
                    <a:pt x="9208008" y="0"/>
                  </a:lnTo>
                  <a:close/>
                </a:path>
              </a:pathLst>
            </a:custGeom>
            <a:solidFill>
              <a:srgbClr val="D9D9D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78205">
              <a:lnSpc>
                <a:spcPct val="100000"/>
              </a:lnSpc>
              <a:spcBef>
                <a:spcPts val="254"/>
              </a:spcBef>
            </a:pPr>
            <a:r>
              <a:rPr dirty="0"/>
              <a:t>Heuristic</a:t>
            </a:r>
            <a:r>
              <a:rPr spc="114" dirty="0"/>
              <a:t> </a:t>
            </a:r>
            <a:r>
              <a:rPr dirty="0"/>
              <a:t>Analysis:</a:t>
            </a:r>
            <a:r>
              <a:rPr spc="85" dirty="0"/>
              <a:t> </a:t>
            </a:r>
            <a:r>
              <a:rPr dirty="0"/>
              <a:t>Manual</a:t>
            </a:r>
            <a:r>
              <a:rPr spc="10" dirty="0"/>
              <a:t> </a:t>
            </a:r>
            <a:r>
              <a:rPr dirty="0"/>
              <a:t>Tuning</a:t>
            </a:r>
            <a:r>
              <a:rPr spc="40" dirty="0"/>
              <a:t> </a:t>
            </a:r>
            <a:r>
              <a:rPr dirty="0"/>
              <a:t>&amp;</a:t>
            </a:r>
            <a:r>
              <a:rPr spc="75" dirty="0"/>
              <a:t> </a:t>
            </a:r>
            <a:r>
              <a:rPr dirty="0"/>
              <a:t>Offset</a:t>
            </a:r>
            <a:r>
              <a:rPr spc="135" dirty="0"/>
              <a:t> </a:t>
            </a:r>
            <a:r>
              <a:rPr spc="-10" dirty="0"/>
              <a:t>Issues</a:t>
            </a:r>
          </a:p>
        </p:txBody>
      </p:sp>
      <p:pic>
        <p:nvPicPr>
          <p:cNvPr id="8" name="object 8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2701" y="900493"/>
            <a:ext cx="228346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The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Steady-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State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Error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1812" y="1522857"/>
            <a:ext cx="8979535" cy="457834"/>
          </a:xfrm>
          <a:custGeom>
            <a:avLst/>
            <a:gdLst/>
            <a:ahLst/>
            <a:cxnLst/>
            <a:rect l="l" t="t" r="r" b="b"/>
            <a:pathLst>
              <a:path w="8979535" h="457835">
                <a:moveTo>
                  <a:pt x="8903208" y="0"/>
                </a:moveTo>
                <a:lnTo>
                  <a:pt x="76200" y="0"/>
                </a:lnTo>
                <a:lnTo>
                  <a:pt x="46537" y="5994"/>
                </a:lnTo>
                <a:lnTo>
                  <a:pt x="22317" y="22336"/>
                </a:lnTo>
                <a:lnTo>
                  <a:pt x="5987" y="46559"/>
                </a:lnTo>
                <a:lnTo>
                  <a:pt x="0" y="76200"/>
                </a:lnTo>
                <a:lnTo>
                  <a:pt x="0" y="381126"/>
                </a:lnTo>
                <a:lnTo>
                  <a:pt x="5987" y="410767"/>
                </a:lnTo>
                <a:lnTo>
                  <a:pt x="22317" y="434990"/>
                </a:lnTo>
                <a:lnTo>
                  <a:pt x="46537" y="451332"/>
                </a:lnTo>
                <a:lnTo>
                  <a:pt x="76200" y="457326"/>
                </a:lnTo>
                <a:lnTo>
                  <a:pt x="8903208" y="457326"/>
                </a:lnTo>
                <a:lnTo>
                  <a:pt x="8932848" y="451332"/>
                </a:lnTo>
                <a:lnTo>
                  <a:pt x="8957071" y="434990"/>
                </a:lnTo>
                <a:lnTo>
                  <a:pt x="8973413" y="410767"/>
                </a:lnTo>
                <a:lnTo>
                  <a:pt x="8979408" y="381126"/>
                </a:lnTo>
                <a:lnTo>
                  <a:pt x="8979408" y="76200"/>
                </a:lnTo>
                <a:lnTo>
                  <a:pt x="8973413" y="46559"/>
                </a:lnTo>
                <a:lnTo>
                  <a:pt x="8957071" y="22336"/>
                </a:lnTo>
                <a:lnTo>
                  <a:pt x="8932848" y="5994"/>
                </a:lnTo>
                <a:lnTo>
                  <a:pt x="890320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03620" y="2611247"/>
            <a:ext cx="5633085" cy="1856739"/>
          </a:xfrm>
          <a:custGeom>
            <a:avLst/>
            <a:gdLst/>
            <a:ahLst/>
            <a:cxnLst/>
            <a:rect l="l" t="t" r="r" b="b"/>
            <a:pathLst>
              <a:path w="5633084" h="1856739">
                <a:moveTo>
                  <a:pt x="5323332" y="0"/>
                </a:moveTo>
                <a:lnTo>
                  <a:pt x="309371" y="0"/>
                </a:lnTo>
                <a:lnTo>
                  <a:pt x="263665" y="3355"/>
                </a:lnTo>
                <a:lnTo>
                  <a:pt x="220038" y="13103"/>
                </a:lnTo>
                <a:lnTo>
                  <a:pt x="178968" y="28763"/>
                </a:lnTo>
                <a:lnTo>
                  <a:pt x="140936" y="49859"/>
                </a:lnTo>
                <a:lnTo>
                  <a:pt x="106420" y="75911"/>
                </a:lnTo>
                <a:lnTo>
                  <a:pt x="75899" y="106440"/>
                </a:lnTo>
                <a:lnTo>
                  <a:pt x="49853" y="140968"/>
                </a:lnTo>
                <a:lnTo>
                  <a:pt x="28761" y="179017"/>
                </a:lnTo>
                <a:lnTo>
                  <a:pt x="13102" y="220107"/>
                </a:lnTo>
                <a:lnTo>
                  <a:pt x="3355" y="263761"/>
                </a:lnTo>
                <a:lnTo>
                  <a:pt x="0" y="309499"/>
                </a:lnTo>
                <a:lnTo>
                  <a:pt x="0" y="1547240"/>
                </a:lnTo>
                <a:lnTo>
                  <a:pt x="3355" y="1592978"/>
                </a:lnTo>
                <a:lnTo>
                  <a:pt x="13102" y="1636632"/>
                </a:lnTo>
                <a:lnTo>
                  <a:pt x="28761" y="1677722"/>
                </a:lnTo>
                <a:lnTo>
                  <a:pt x="49853" y="1715771"/>
                </a:lnTo>
                <a:lnTo>
                  <a:pt x="75899" y="1750299"/>
                </a:lnTo>
                <a:lnTo>
                  <a:pt x="106420" y="1780828"/>
                </a:lnTo>
                <a:lnTo>
                  <a:pt x="140936" y="1806880"/>
                </a:lnTo>
                <a:lnTo>
                  <a:pt x="178968" y="1827976"/>
                </a:lnTo>
                <a:lnTo>
                  <a:pt x="220038" y="1843636"/>
                </a:lnTo>
                <a:lnTo>
                  <a:pt x="263665" y="1853384"/>
                </a:lnTo>
                <a:lnTo>
                  <a:pt x="309371" y="1856739"/>
                </a:lnTo>
                <a:lnTo>
                  <a:pt x="5323332" y="1856739"/>
                </a:lnTo>
                <a:lnTo>
                  <a:pt x="5369038" y="1853384"/>
                </a:lnTo>
                <a:lnTo>
                  <a:pt x="5412665" y="1843636"/>
                </a:lnTo>
                <a:lnTo>
                  <a:pt x="5453735" y="1827976"/>
                </a:lnTo>
                <a:lnTo>
                  <a:pt x="5491767" y="1806880"/>
                </a:lnTo>
                <a:lnTo>
                  <a:pt x="5526283" y="1780828"/>
                </a:lnTo>
                <a:lnTo>
                  <a:pt x="5556804" y="1750299"/>
                </a:lnTo>
                <a:lnTo>
                  <a:pt x="5582850" y="1715771"/>
                </a:lnTo>
                <a:lnTo>
                  <a:pt x="5603942" y="1677722"/>
                </a:lnTo>
                <a:lnTo>
                  <a:pt x="5619601" y="1636632"/>
                </a:lnTo>
                <a:lnTo>
                  <a:pt x="5629348" y="1592978"/>
                </a:lnTo>
                <a:lnTo>
                  <a:pt x="5632704" y="1547240"/>
                </a:lnTo>
                <a:lnTo>
                  <a:pt x="5632704" y="309499"/>
                </a:lnTo>
                <a:lnTo>
                  <a:pt x="5629348" y="263761"/>
                </a:lnTo>
                <a:lnTo>
                  <a:pt x="5619601" y="220107"/>
                </a:lnTo>
                <a:lnTo>
                  <a:pt x="5603942" y="179017"/>
                </a:lnTo>
                <a:lnTo>
                  <a:pt x="5582850" y="140968"/>
                </a:lnTo>
                <a:lnTo>
                  <a:pt x="5556804" y="106440"/>
                </a:lnTo>
                <a:lnTo>
                  <a:pt x="5526283" y="75911"/>
                </a:lnTo>
                <a:lnTo>
                  <a:pt x="5491767" y="49859"/>
                </a:lnTo>
                <a:lnTo>
                  <a:pt x="5453735" y="28763"/>
                </a:lnTo>
                <a:lnTo>
                  <a:pt x="5412665" y="13103"/>
                </a:lnTo>
                <a:lnTo>
                  <a:pt x="5369038" y="3355"/>
                </a:lnTo>
                <a:lnTo>
                  <a:pt x="532333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5807" y="1565719"/>
            <a:ext cx="10776585" cy="2725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8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difference</a:t>
            </a:r>
            <a:r>
              <a:rPr sz="18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8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actual</a:t>
            </a:r>
            <a:r>
              <a:rPr sz="18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8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approaches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infinity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Calibri"/>
              <a:cs typeface="Calibri"/>
            </a:endParaRPr>
          </a:p>
          <a:p>
            <a:pPr marL="17589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setting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Integral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(I)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gain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0,</a:t>
            </a:r>
            <a:r>
              <a:rPr sz="1800" b="1" spc="3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output will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settle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blow </a:t>
            </a:r>
            <a:r>
              <a:rPr sz="1800" b="1" spc="-25" dirty="0"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800">
              <a:latin typeface="Calibri"/>
              <a:cs typeface="Calibri"/>
            </a:endParaRPr>
          </a:p>
          <a:p>
            <a:pPr marL="5412105" marR="43180">
              <a:lnSpc>
                <a:spcPct val="915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Physics: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Integral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term,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controller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doesn't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"memory"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error.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voltage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difference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(P)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(D).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motor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gets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"close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enough"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100,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friction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(B)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Back-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(e</a:t>
            </a:r>
            <a:r>
              <a:rPr sz="1800" baseline="-16203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balance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control effort,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stops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climbing.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9851" y="5005514"/>
            <a:ext cx="218694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"gap"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Steady-State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Error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9704" y="2749905"/>
            <a:ext cx="5824855" cy="3235325"/>
            <a:chOff x="179704" y="2749905"/>
            <a:chExt cx="5824855" cy="323532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79" y="2753080"/>
              <a:ext cx="5733288" cy="32285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1292" y="2751493"/>
              <a:ext cx="5736590" cy="3232150"/>
            </a:xfrm>
            <a:custGeom>
              <a:avLst/>
              <a:gdLst/>
              <a:ahLst/>
              <a:cxnLst/>
              <a:rect l="l" t="t" r="r" b="b"/>
              <a:pathLst>
                <a:path w="5736590" h="3232150">
                  <a:moveTo>
                    <a:pt x="0" y="3231768"/>
                  </a:moveTo>
                  <a:lnTo>
                    <a:pt x="5736463" y="3231768"/>
                  </a:lnTo>
                  <a:lnTo>
                    <a:pt x="5736463" y="0"/>
                  </a:lnTo>
                  <a:lnTo>
                    <a:pt x="0" y="0"/>
                  </a:lnTo>
                  <a:lnTo>
                    <a:pt x="0" y="3231768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20739" y="389178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0"/>
                  </a:moveTo>
                  <a:lnTo>
                    <a:pt x="12573" y="0"/>
                  </a:lnTo>
                  <a:lnTo>
                    <a:pt x="22860" y="1650"/>
                  </a:lnTo>
                  <a:lnTo>
                    <a:pt x="22860" y="3810"/>
                  </a:lnTo>
                  <a:lnTo>
                    <a:pt x="22860" y="19050"/>
                  </a:lnTo>
                  <a:lnTo>
                    <a:pt x="22860" y="21081"/>
                  </a:lnTo>
                  <a:lnTo>
                    <a:pt x="33147" y="22860"/>
                  </a:lnTo>
                  <a:lnTo>
                    <a:pt x="45720" y="22860"/>
                  </a:lnTo>
                  <a:lnTo>
                    <a:pt x="33147" y="22860"/>
                  </a:lnTo>
                  <a:lnTo>
                    <a:pt x="22860" y="24511"/>
                  </a:lnTo>
                  <a:lnTo>
                    <a:pt x="22860" y="26669"/>
                  </a:lnTo>
                  <a:lnTo>
                    <a:pt x="22860" y="41910"/>
                  </a:lnTo>
                  <a:lnTo>
                    <a:pt x="22860" y="43942"/>
                  </a:lnTo>
                  <a:lnTo>
                    <a:pt x="12573" y="45719"/>
                  </a:lnTo>
                  <a:lnTo>
                    <a:pt x="0" y="4571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28359" y="3910075"/>
              <a:ext cx="76200" cy="1105535"/>
            </a:xfrm>
            <a:custGeom>
              <a:avLst/>
              <a:gdLst/>
              <a:ahLst/>
              <a:cxnLst/>
              <a:rect l="l" t="t" r="r" b="b"/>
              <a:pathLst>
                <a:path w="76200" h="1105535">
                  <a:moveTo>
                    <a:pt x="31750" y="1028954"/>
                  </a:moveTo>
                  <a:lnTo>
                    <a:pt x="0" y="1028954"/>
                  </a:lnTo>
                  <a:lnTo>
                    <a:pt x="38100" y="1105154"/>
                  </a:lnTo>
                  <a:lnTo>
                    <a:pt x="69850" y="1041654"/>
                  </a:lnTo>
                  <a:lnTo>
                    <a:pt x="31750" y="1041654"/>
                  </a:lnTo>
                  <a:lnTo>
                    <a:pt x="31750" y="1028954"/>
                  </a:lnTo>
                  <a:close/>
                </a:path>
                <a:path w="76200" h="1105535">
                  <a:moveTo>
                    <a:pt x="44450" y="0"/>
                  </a:moveTo>
                  <a:lnTo>
                    <a:pt x="31750" y="0"/>
                  </a:lnTo>
                  <a:lnTo>
                    <a:pt x="31750" y="1041654"/>
                  </a:lnTo>
                  <a:lnTo>
                    <a:pt x="44450" y="1041654"/>
                  </a:lnTo>
                  <a:lnTo>
                    <a:pt x="44450" y="0"/>
                  </a:lnTo>
                  <a:close/>
                </a:path>
                <a:path w="76200" h="1105535">
                  <a:moveTo>
                    <a:pt x="76200" y="1028954"/>
                  </a:moveTo>
                  <a:lnTo>
                    <a:pt x="44450" y="1028954"/>
                  </a:lnTo>
                  <a:lnTo>
                    <a:pt x="44450" y="1041654"/>
                  </a:lnTo>
                  <a:lnTo>
                    <a:pt x="69850" y="1041654"/>
                  </a:lnTo>
                  <a:lnTo>
                    <a:pt x="76200" y="1028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"/>
            <a:ext cx="12188952" cy="68579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7460" y="6435712"/>
            <a:ext cx="60706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5/7/2026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8530" y="6435712"/>
            <a:ext cx="1905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8530" y="6435712"/>
            <a:ext cx="1905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2620"/>
            <a:ext cx="9208135" cy="466725"/>
          </a:xfrm>
          <a:custGeom>
            <a:avLst/>
            <a:gdLst/>
            <a:ahLst/>
            <a:cxnLst/>
            <a:rect l="l" t="t" r="r" b="b"/>
            <a:pathLst>
              <a:path w="9208135" h="466725">
                <a:moveTo>
                  <a:pt x="9208008" y="0"/>
                </a:moveTo>
                <a:lnTo>
                  <a:pt x="0" y="0"/>
                </a:lnTo>
                <a:lnTo>
                  <a:pt x="0" y="466458"/>
                </a:lnTo>
                <a:lnTo>
                  <a:pt x="9208008" y="466458"/>
                </a:lnTo>
                <a:lnTo>
                  <a:pt x="9208008" y="0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09625">
              <a:lnSpc>
                <a:spcPct val="100000"/>
              </a:lnSpc>
              <a:spcBef>
                <a:spcPts val="254"/>
              </a:spcBef>
            </a:pPr>
            <a:r>
              <a:rPr dirty="0"/>
              <a:t>System</a:t>
            </a:r>
            <a:r>
              <a:rPr spc="114" dirty="0"/>
              <a:t> </a:t>
            </a:r>
            <a:r>
              <a:rPr dirty="0"/>
              <a:t>Computational</a:t>
            </a:r>
            <a:r>
              <a:rPr spc="140" dirty="0"/>
              <a:t> </a:t>
            </a:r>
            <a:r>
              <a:rPr dirty="0"/>
              <a:t>Optimization</a:t>
            </a:r>
            <a:r>
              <a:rPr spc="140" dirty="0"/>
              <a:t> </a:t>
            </a:r>
            <a:r>
              <a:rPr dirty="0"/>
              <a:t>(PID</a:t>
            </a:r>
            <a:r>
              <a:rPr spc="80" dirty="0"/>
              <a:t> </a:t>
            </a:r>
            <a:r>
              <a:rPr dirty="0"/>
              <a:t>Auto-</a:t>
            </a:r>
            <a:r>
              <a:rPr spc="-10" dirty="0"/>
              <a:t>Tuning)</a:t>
            </a:r>
          </a:p>
        </p:txBody>
      </p:sp>
      <p:pic>
        <p:nvPicPr>
          <p:cNvPr id="6" name="object 6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70" y="3107435"/>
            <a:ext cx="8782830" cy="167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7270" y="3784091"/>
            <a:ext cx="8782830" cy="167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7270" y="4460747"/>
            <a:ext cx="8782830" cy="167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2701" y="1000696"/>
            <a:ext cx="9355455" cy="407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Objective</a:t>
            </a:r>
            <a:endParaRPr sz="1800">
              <a:latin typeface="Calibri Light"/>
              <a:cs typeface="Calibri Light"/>
            </a:endParaRPr>
          </a:p>
          <a:p>
            <a:pPr marL="709295" marR="68580">
              <a:lnSpc>
                <a:spcPct val="100000"/>
              </a:lnSpc>
              <a:spcBef>
                <a:spcPts val="1525"/>
              </a:spcBef>
            </a:pPr>
            <a:r>
              <a:rPr sz="1800" spc="-10" dirty="0">
                <a:latin typeface="Calibri"/>
                <a:cs typeface="Calibri"/>
              </a:rPr>
              <a:t>Auto-</a:t>
            </a:r>
            <a:r>
              <a:rPr sz="1800" dirty="0">
                <a:latin typeface="Calibri"/>
                <a:cs typeface="Calibri"/>
              </a:rPr>
              <a:t>tuning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algorithmically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determining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baseline="-16203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baseline="-16203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baseline="-16203" dirty="0">
                <a:latin typeface="Calibri"/>
                <a:cs typeface="Calibri"/>
              </a:rPr>
              <a:t>d</a:t>
            </a:r>
            <a:r>
              <a:rPr sz="1800" spc="120" baseline="-1620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gains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achieve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Target</a:t>
            </a:r>
            <a:r>
              <a:rPr sz="1800" b="1" dirty="0">
                <a:latin typeface="Calibri"/>
                <a:cs typeface="Calibri"/>
              </a:rPr>
              <a:t> Response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Unlike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"trial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error,"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Plant's </a:t>
            </a:r>
            <a:r>
              <a:rPr sz="1800" b="1" dirty="0">
                <a:latin typeface="Calibri"/>
                <a:cs typeface="Calibri"/>
              </a:rPr>
              <a:t>Frequency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Response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balance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stability.</a:t>
            </a:r>
            <a:endParaRPr sz="1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575"/>
              </a:spcBef>
            </a:pP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Small-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Signal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Linearization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>
              <a:latin typeface="Calibri Light"/>
              <a:cs typeface="Calibri Light"/>
            </a:endParaRPr>
          </a:p>
          <a:p>
            <a:pPr marL="690880">
              <a:lnSpc>
                <a:spcPts val="2155"/>
              </a:lnSpc>
            </a:pPr>
            <a:r>
              <a:rPr sz="1850" b="1" dirty="0">
                <a:latin typeface="Calibri"/>
                <a:cs typeface="Calibri"/>
              </a:rPr>
              <a:t>Linearization</a:t>
            </a:r>
            <a:r>
              <a:rPr sz="1850" dirty="0">
                <a:latin typeface="Calibri"/>
                <a:cs typeface="Calibri"/>
              </a:rPr>
              <a:t>:</a:t>
            </a:r>
            <a:r>
              <a:rPr sz="1850" spc="8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treats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your</a:t>
            </a:r>
            <a:r>
              <a:rPr sz="1850" spc="8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KVL</a:t>
            </a:r>
            <a:r>
              <a:rPr sz="1850" spc="8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and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Newton-Euler</a:t>
            </a:r>
            <a:r>
              <a:rPr sz="1850" spc="7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subsystems</a:t>
            </a:r>
            <a:r>
              <a:rPr sz="1850" spc="1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as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12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unified</a:t>
            </a:r>
            <a:endParaRPr sz="1850">
              <a:latin typeface="Calibri"/>
              <a:cs typeface="Calibri"/>
            </a:endParaRPr>
          </a:p>
          <a:p>
            <a:pPr marL="690880">
              <a:lnSpc>
                <a:spcPts val="2155"/>
              </a:lnSpc>
            </a:pPr>
            <a:r>
              <a:rPr sz="1850" dirty="0">
                <a:latin typeface="Calibri"/>
                <a:cs typeface="Calibri"/>
              </a:rPr>
              <a:t>mathematical</a:t>
            </a:r>
            <a:r>
              <a:rPr sz="1850" spc="12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model.</a:t>
            </a:r>
            <a:endParaRPr sz="1850">
              <a:latin typeface="Calibri"/>
              <a:cs typeface="Calibri"/>
            </a:endParaRPr>
          </a:p>
          <a:p>
            <a:pPr marL="690880" marR="673100">
              <a:lnSpc>
                <a:spcPts val="2090"/>
              </a:lnSpc>
              <a:spcBef>
                <a:spcPts val="1200"/>
              </a:spcBef>
            </a:pPr>
            <a:r>
              <a:rPr sz="1850" b="1" dirty="0">
                <a:latin typeface="Calibri"/>
                <a:cs typeface="Calibri"/>
              </a:rPr>
              <a:t>Frequency</a:t>
            </a:r>
            <a:r>
              <a:rPr sz="1850" b="1" spc="130" dirty="0">
                <a:latin typeface="Calibri"/>
                <a:cs typeface="Calibri"/>
              </a:rPr>
              <a:t> </a:t>
            </a:r>
            <a:r>
              <a:rPr sz="1850" b="1" dirty="0">
                <a:latin typeface="Calibri"/>
                <a:cs typeface="Calibri"/>
              </a:rPr>
              <a:t>Domain</a:t>
            </a:r>
            <a:r>
              <a:rPr sz="1850" b="1" spc="155" dirty="0">
                <a:latin typeface="Calibri"/>
                <a:cs typeface="Calibri"/>
              </a:rPr>
              <a:t> </a:t>
            </a:r>
            <a:r>
              <a:rPr sz="1850" b="1" dirty="0">
                <a:latin typeface="Calibri"/>
                <a:cs typeface="Calibri"/>
              </a:rPr>
              <a:t>Analysis</a:t>
            </a:r>
            <a:r>
              <a:rPr sz="1850" dirty="0">
                <a:latin typeface="Calibri"/>
                <a:cs typeface="Calibri"/>
              </a:rPr>
              <a:t>:</a:t>
            </a:r>
            <a:r>
              <a:rPr sz="1850" spc="7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analyzes</a:t>
            </a:r>
            <a:r>
              <a:rPr sz="1850" spc="14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the</a:t>
            </a:r>
            <a:r>
              <a:rPr sz="1850" spc="8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"Phase</a:t>
            </a:r>
            <a:r>
              <a:rPr sz="1850" spc="1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Margin"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and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"Gain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Margin"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to </a:t>
            </a:r>
            <a:r>
              <a:rPr sz="1850" dirty="0">
                <a:latin typeface="Calibri"/>
                <a:cs typeface="Calibri"/>
              </a:rPr>
              <a:t>ensure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the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system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doesn't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oscillate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uncontrollably.</a:t>
            </a:r>
            <a:endParaRPr sz="1850">
              <a:latin typeface="Calibri"/>
              <a:cs typeface="Calibri"/>
            </a:endParaRPr>
          </a:p>
          <a:p>
            <a:pPr marL="690880" marR="170180">
              <a:lnSpc>
                <a:spcPts val="2090"/>
              </a:lnSpc>
              <a:spcBef>
                <a:spcPts val="1160"/>
              </a:spcBef>
            </a:pPr>
            <a:r>
              <a:rPr sz="1850" b="1" dirty="0">
                <a:latin typeface="Calibri"/>
                <a:cs typeface="Calibri"/>
              </a:rPr>
              <a:t>Cost</a:t>
            </a:r>
            <a:r>
              <a:rPr sz="1850" b="1" spc="70" dirty="0">
                <a:latin typeface="Calibri"/>
                <a:cs typeface="Calibri"/>
              </a:rPr>
              <a:t> </a:t>
            </a:r>
            <a:r>
              <a:rPr sz="1850" b="1" dirty="0">
                <a:latin typeface="Calibri"/>
                <a:cs typeface="Calibri"/>
              </a:rPr>
              <a:t>Function</a:t>
            </a:r>
            <a:r>
              <a:rPr sz="1850" dirty="0">
                <a:latin typeface="Calibri"/>
                <a:cs typeface="Calibri"/>
              </a:rPr>
              <a:t>:</a:t>
            </a:r>
            <a:r>
              <a:rPr sz="1850" spc="8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attempts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to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minimize</a:t>
            </a:r>
            <a:r>
              <a:rPr sz="1850" spc="16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"Cost</a:t>
            </a:r>
            <a:r>
              <a:rPr sz="1850" spc="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Function"</a:t>
            </a:r>
            <a:r>
              <a:rPr sz="1850" spc="1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where</a:t>
            </a:r>
            <a:r>
              <a:rPr sz="1850" spc="8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weighs</a:t>
            </a:r>
            <a:r>
              <a:rPr sz="1850" spc="240" dirty="0">
                <a:latin typeface="Calibri"/>
                <a:cs typeface="Calibri"/>
              </a:rPr>
              <a:t> </a:t>
            </a:r>
            <a:r>
              <a:rPr sz="1850" b="1" dirty="0">
                <a:latin typeface="Calibri"/>
                <a:cs typeface="Calibri"/>
              </a:rPr>
              <a:t>Settling</a:t>
            </a:r>
            <a:r>
              <a:rPr sz="1850" b="1" spc="50" dirty="0">
                <a:latin typeface="Calibri"/>
                <a:cs typeface="Calibri"/>
              </a:rPr>
              <a:t> </a:t>
            </a:r>
            <a:r>
              <a:rPr sz="1850" b="1" spc="-20" dirty="0">
                <a:latin typeface="Calibri"/>
                <a:cs typeface="Calibri"/>
              </a:rPr>
              <a:t>Time </a:t>
            </a:r>
            <a:r>
              <a:rPr sz="1850" dirty="0">
                <a:latin typeface="Calibri"/>
                <a:cs typeface="Calibri"/>
              </a:rPr>
              <a:t>against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b="1" spc="-10" dirty="0">
                <a:latin typeface="Calibri"/>
                <a:cs typeface="Calibri"/>
              </a:rPr>
              <a:t>Overshoot</a:t>
            </a:r>
            <a:r>
              <a:rPr sz="1850" spc="-10" dirty="0">
                <a:latin typeface="Calibri"/>
                <a:cs typeface="Calibri"/>
              </a:rPr>
              <a:t>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8530" y="6435712"/>
            <a:ext cx="1905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2620"/>
            <a:ext cx="9208135" cy="466725"/>
          </a:xfrm>
          <a:custGeom>
            <a:avLst/>
            <a:gdLst/>
            <a:ahLst/>
            <a:cxnLst/>
            <a:rect l="l" t="t" r="r" b="b"/>
            <a:pathLst>
              <a:path w="9208135" h="466725">
                <a:moveTo>
                  <a:pt x="9208008" y="0"/>
                </a:moveTo>
                <a:lnTo>
                  <a:pt x="0" y="0"/>
                </a:lnTo>
                <a:lnTo>
                  <a:pt x="0" y="466458"/>
                </a:lnTo>
                <a:lnTo>
                  <a:pt x="9208008" y="466458"/>
                </a:lnTo>
                <a:lnTo>
                  <a:pt x="9208008" y="0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78205">
              <a:lnSpc>
                <a:spcPct val="100000"/>
              </a:lnSpc>
              <a:spcBef>
                <a:spcPts val="254"/>
              </a:spcBef>
            </a:pPr>
            <a:r>
              <a:rPr dirty="0"/>
              <a:t>System</a:t>
            </a:r>
            <a:r>
              <a:rPr spc="125" dirty="0"/>
              <a:t> </a:t>
            </a:r>
            <a:r>
              <a:rPr dirty="0"/>
              <a:t>Computational</a:t>
            </a:r>
            <a:r>
              <a:rPr spc="145" dirty="0"/>
              <a:t> </a:t>
            </a:r>
            <a:r>
              <a:rPr dirty="0"/>
              <a:t>Optimization</a:t>
            </a:r>
            <a:r>
              <a:rPr spc="120" dirty="0"/>
              <a:t> </a:t>
            </a:r>
            <a:r>
              <a:rPr dirty="0"/>
              <a:t>(PID</a:t>
            </a:r>
            <a:r>
              <a:rPr spc="80" dirty="0"/>
              <a:t> </a:t>
            </a:r>
            <a:r>
              <a:rPr dirty="0"/>
              <a:t>Auto-</a:t>
            </a:r>
            <a:r>
              <a:rPr spc="-10" dirty="0"/>
              <a:t>Tuning)</a:t>
            </a:r>
          </a:p>
        </p:txBody>
      </p:sp>
      <p:pic>
        <p:nvPicPr>
          <p:cNvPr id="6" name="object 6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0801" y="977328"/>
            <a:ext cx="10626725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Advantages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Auto-</a:t>
            </a:r>
            <a:r>
              <a:rPr sz="1800" spc="-20" dirty="0">
                <a:latin typeface="Calibri"/>
                <a:cs typeface="Calibri"/>
              </a:rPr>
              <a:t>Tune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Calibri"/>
              <a:cs typeface="Calibri"/>
            </a:endParaRPr>
          </a:p>
          <a:p>
            <a:pPr marL="408940" marR="31369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Optimal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Balance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"Critically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Damped"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state—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fastest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 zero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minimal overshoot.</a:t>
            </a:r>
            <a:endParaRPr sz="1800">
              <a:latin typeface="Calibri"/>
              <a:cs typeface="Calibri"/>
            </a:endParaRPr>
          </a:p>
          <a:p>
            <a:pPr marL="408940" marR="50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Robustness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"Stability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Margin."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motor's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resistance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(R)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changes slightly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heat,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controller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stays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stable.</a:t>
            </a:r>
            <a:endParaRPr sz="1800">
              <a:latin typeface="Calibri"/>
              <a:cs typeface="Calibri"/>
            </a:endParaRPr>
          </a:p>
          <a:p>
            <a:pPr marL="408940" marR="247015">
              <a:lnSpc>
                <a:spcPct val="100000"/>
              </a:lnSpc>
              <a:spcBef>
                <a:spcPts val="10"/>
              </a:spcBef>
            </a:pPr>
            <a:r>
              <a:rPr sz="1800" b="1" spc="-10" dirty="0">
                <a:latin typeface="Calibri"/>
                <a:cs typeface="Calibri"/>
              </a:rPr>
              <a:t>Efficiency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replaces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heuristic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tuning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mathematically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guaranteed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Twin's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B).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0872" y="3426714"/>
            <a:ext cx="4715510" cy="2649855"/>
            <a:chOff x="380872" y="3426714"/>
            <a:chExt cx="4715510" cy="26498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47" y="3429876"/>
              <a:ext cx="4709160" cy="264325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2460" y="3428301"/>
              <a:ext cx="4712335" cy="2646680"/>
            </a:xfrm>
            <a:custGeom>
              <a:avLst/>
              <a:gdLst/>
              <a:ahLst/>
              <a:cxnLst/>
              <a:rect l="l" t="t" r="r" b="b"/>
              <a:pathLst>
                <a:path w="4712335" h="2646679">
                  <a:moveTo>
                    <a:pt x="0" y="2646426"/>
                  </a:moveTo>
                  <a:lnTo>
                    <a:pt x="4712335" y="2646426"/>
                  </a:lnTo>
                  <a:lnTo>
                    <a:pt x="4712335" y="0"/>
                  </a:lnTo>
                  <a:lnTo>
                    <a:pt x="0" y="0"/>
                  </a:lnTo>
                  <a:lnTo>
                    <a:pt x="0" y="2646426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461380" y="3084702"/>
          <a:ext cx="6471284" cy="318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1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Observed</a:t>
                      </a:r>
                      <a:r>
                        <a:rPr sz="1050" b="1" spc="1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Technical</a:t>
                      </a:r>
                      <a:r>
                        <a:rPr sz="1050" b="1" spc="17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Significance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Setpoint</a:t>
                      </a:r>
                      <a:r>
                        <a:rPr sz="1050" b="1" spc="1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(Target)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1050" b="1" spc="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rad/s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2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desired</a:t>
                      </a:r>
                      <a:r>
                        <a:rPr sz="1050" spc="9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steady-state</a:t>
                      </a:r>
                      <a:r>
                        <a:rPr sz="1050" spc="1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angular</a:t>
                      </a:r>
                      <a:r>
                        <a:rPr sz="1050" spc="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velocity.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Peak</a:t>
                      </a:r>
                      <a:r>
                        <a:rPr sz="1050" b="1" spc="8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Amplitude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~109</a:t>
                      </a:r>
                      <a:r>
                        <a:rPr sz="1050" b="1" spc="1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rad/s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19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highest</a:t>
                      </a:r>
                      <a:r>
                        <a:rPr sz="1050" spc="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sz="1050" spc="1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reached</a:t>
                      </a:r>
                      <a:r>
                        <a:rPr sz="1050" spc="1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during</a:t>
                      </a:r>
                      <a:r>
                        <a:rPr sz="1050" spc="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1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transient</a:t>
                      </a:r>
                      <a:r>
                        <a:rPr sz="1050" spc="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phase.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Overshoot</a:t>
                      </a:r>
                      <a:r>
                        <a:rPr sz="1050" b="1" spc="16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(M</a:t>
                      </a:r>
                      <a:r>
                        <a:rPr sz="1050" b="1" spc="-30" baseline="-15873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10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1050" b="1" spc="-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~9%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73990">
                        <a:lnSpc>
                          <a:spcPct val="108800"/>
                        </a:lnSpc>
                        <a:spcBef>
                          <a:spcPts val="775"/>
                        </a:spcBef>
                      </a:pP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Calculated</a:t>
                      </a:r>
                      <a:r>
                        <a:rPr sz="1050" spc="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050" spc="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((109</a:t>
                      </a:r>
                      <a:r>
                        <a:rPr sz="1050" spc="114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050" spc="9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100)</a:t>
                      </a:r>
                      <a:r>
                        <a:rPr sz="1050" spc="1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100)</a:t>
                      </a:r>
                      <a:r>
                        <a:rPr sz="1050" spc="1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*100.</a:t>
                      </a:r>
                      <a:r>
                        <a:rPr sz="10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Excellent</a:t>
                      </a:r>
                      <a:r>
                        <a:rPr sz="1050" spc="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114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motor safety.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Rise</a:t>
                      </a:r>
                      <a:r>
                        <a:rPr sz="1050" b="1" spc="9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050" b="1" spc="9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(T</a:t>
                      </a:r>
                      <a:r>
                        <a:rPr sz="1050" b="1" spc="-30" baseline="-15873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0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~0.65</a:t>
                      </a:r>
                      <a:r>
                        <a:rPr sz="1050" b="1" spc="1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1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050" spc="6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taken</a:t>
                      </a:r>
                      <a:r>
                        <a:rPr sz="1050" spc="114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climb</a:t>
                      </a:r>
                      <a:r>
                        <a:rPr sz="1050" spc="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050" spc="10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r>
                        <a:rPr sz="1050" spc="1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90%</a:t>
                      </a:r>
                      <a:r>
                        <a:rPr sz="1050" spc="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6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setpoint.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Settling</a:t>
                      </a:r>
                      <a:r>
                        <a:rPr sz="1050" b="1" spc="1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050" b="1" spc="9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(T</a:t>
                      </a:r>
                      <a:r>
                        <a:rPr sz="1050" b="1" spc="-30" baseline="-15873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0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~1.8</a:t>
                      </a:r>
                      <a:r>
                        <a:rPr sz="1050" b="1" spc="1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17804">
                        <a:lnSpc>
                          <a:spcPct val="1088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1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050" spc="6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1050" spc="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1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stay</a:t>
                      </a:r>
                      <a:r>
                        <a:rPr sz="1050" spc="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within</a:t>
                      </a:r>
                      <a:r>
                        <a:rPr sz="1050" spc="114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2%</a:t>
                      </a:r>
                      <a:r>
                        <a:rPr sz="1050" spc="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7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050" spc="6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10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rad/s </a:t>
                      </a:r>
                      <a:r>
                        <a:rPr sz="10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target.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Steady-State</a:t>
                      </a:r>
                      <a:r>
                        <a:rPr sz="1050" b="1" spc="1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sz="1050" b="1" spc="19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(e{</a:t>
                      </a:r>
                      <a:r>
                        <a:rPr sz="1050" b="1" spc="-15" baseline="-15873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ss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})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0%</a:t>
                      </a:r>
                      <a:r>
                        <a:rPr sz="1050" b="1" spc="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(Zero)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Confirms</a:t>
                      </a:r>
                      <a:r>
                        <a:rPr sz="1050" spc="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1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8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Integral</a:t>
                      </a:r>
                      <a:r>
                        <a:rPr sz="1050" spc="8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gain</a:t>
                      </a:r>
                      <a:r>
                        <a:rPr sz="1050" spc="1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(K</a:t>
                      </a:r>
                      <a:r>
                        <a:rPr sz="1050" baseline="-15873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sz="1050" spc="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perfectly</a:t>
                      </a:r>
                      <a:r>
                        <a:rPr sz="1050" spc="1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tuned.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"/>
            <a:ext cx="12188952" cy="68579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7460" y="6435712"/>
            <a:ext cx="60706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5/7/2026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8530" y="6435712"/>
            <a:ext cx="1905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8530" y="6435712"/>
            <a:ext cx="1905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2620"/>
            <a:ext cx="9208135" cy="466725"/>
          </a:xfrm>
          <a:custGeom>
            <a:avLst/>
            <a:gdLst/>
            <a:ahLst/>
            <a:cxnLst/>
            <a:rect l="l" t="t" r="r" b="b"/>
            <a:pathLst>
              <a:path w="9208135" h="466725">
                <a:moveTo>
                  <a:pt x="9208008" y="0"/>
                </a:moveTo>
                <a:lnTo>
                  <a:pt x="0" y="0"/>
                </a:lnTo>
                <a:lnTo>
                  <a:pt x="0" y="466458"/>
                </a:lnTo>
                <a:lnTo>
                  <a:pt x="9208008" y="466458"/>
                </a:lnTo>
                <a:lnTo>
                  <a:pt x="9208008" y="0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09625">
              <a:lnSpc>
                <a:spcPct val="100000"/>
              </a:lnSpc>
              <a:spcBef>
                <a:spcPts val="254"/>
              </a:spcBef>
            </a:pPr>
            <a:r>
              <a:rPr spc="-10" dirty="0"/>
              <a:t>Conclusion</a:t>
            </a:r>
          </a:p>
        </p:txBody>
      </p:sp>
      <p:pic>
        <p:nvPicPr>
          <p:cNvPr id="6" name="object 6" descr="I:\arrow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393255"/>
            <a:ext cx="274320" cy="2743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29283" y="1129538"/>
            <a:ext cx="9939655" cy="0"/>
          </a:xfrm>
          <a:custGeom>
            <a:avLst/>
            <a:gdLst/>
            <a:ahLst/>
            <a:cxnLst/>
            <a:rect l="l" t="t" r="r" b="b"/>
            <a:pathLst>
              <a:path w="9939655">
                <a:moveTo>
                  <a:pt x="0" y="0"/>
                </a:moveTo>
                <a:lnTo>
                  <a:pt x="9939528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29283" y="2281935"/>
            <a:ext cx="9939655" cy="0"/>
          </a:xfrm>
          <a:custGeom>
            <a:avLst/>
            <a:gdLst/>
            <a:ahLst/>
            <a:cxnLst/>
            <a:rect l="l" t="t" r="r" b="b"/>
            <a:pathLst>
              <a:path w="9939655">
                <a:moveTo>
                  <a:pt x="0" y="0"/>
                </a:moveTo>
                <a:lnTo>
                  <a:pt x="9939528" y="0"/>
                </a:lnTo>
              </a:path>
            </a:pathLst>
          </a:custGeom>
          <a:ln w="12700">
            <a:solidFill>
              <a:srgbClr val="B43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6746" y="1141920"/>
            <a:ext cx="9883775" cy="2207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0800" marR="334010">
              <a:lnSpc>
                <a:spcPct val="91800"/>
              </a:lnSpc>
              <a:spcBef>
                <a:spcPts val="28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successfully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demonstrates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design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Motor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Twin.</a:t>
            </a:r>
            <a:r>
              <a:rPr sz="1800" spc="-25" dirty="0">
                <a:latin typeface="Calibri"/>
                <a:cs typeface="Calibri"/>
              </a:rPr>
              <a:t> By </a:t>
            </a:r>
            <a:r>
              <a:rPr sz="1800" spc="-10" dirty="0">
                <a:latin typeface="Calibri"/>
                <a:cs typeface="Calibri"/>
              </a:rPr>
              <a:t>transitioning</a:t>
            </a:r>
            <a:r>
              <a:rPr sz="1800" dirty="0">
                <a:latin typeface="Calibri"/>
                <a:cs typeface="Calibri"/>
              </a:rPr>
              <a:t> from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unregulated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Deterministic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Plant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Closed-</a:t>
            </a:r>
            <a:r>
              <a:rPr sz="1800" b="1" dirty="0">
                <a:latin typeface="Calibri"/>
                <a:cs typeface="Calibri"/>
              </a:rPr>
              <a:t>Loop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PID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Architecture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achieved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setpoint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tracking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rad/s.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800">
              <a:latin typeface="Calibri"/>
              <a:cs typeface="Calibri"/>
            </a:endParaRPr>
          </a:p>
          <a:p>
            <a:pPr marL="50800" marR="43180">
              <a:lnSpc>
                <a:spcPct val="91300"/>
              </a:lnSpc>
            </a:pPr>
            <a:r>
              <a:rPr sz="1800" spc="-10" dirty="0">
                <a:latin typeface="Calibri"/>
                <a:cs typeface="Calibri"/>
              </a:rPr>
              <a:t>Comparative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reveals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heuristic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tuning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safety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baseline,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computational </a:t>
            </a:r>
            <a:r>
              <a:rPr sz="1800" b="1" spc="-10" dirty="0">
                <a:latin typeface="Calibri"/>
                <a:cs typeface="Calibri"/>
              </a:rPr>
              <a:t>Auto-Tuning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yields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superior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stability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margin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(60</a:t>
            </a:r>
            <a:r>
              <a:rPr sz="1800" baseline="27777" dirty="0">
                <a:latin typeface="Calibri"/>
                <a:cs typeface="Calibri"/>
              </a:rPr>
              <a:t>0</a:t>
            </a:r>
            <a:r>
              <a:rPr sz="1800" spc="97" baseline="27777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Phase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Margin).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Furthermore,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model’s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ability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reject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0.002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Nm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load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disturbance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confirms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 high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fidelity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readiness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real-</a:t>
            </a:r>
            <a:r>
              <a:rPr sz="1800" dirty="0">
                <a:latin typeface="Calibri"/>
                <a:cs typeface="Calibri"/>
              </a:rPr>
              <a:t>world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robotic implementation.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229866" y="3510279"/>
          <a:ext cx="7718424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Tuning</a:t>
                      </a:r>
                      <a:r>
                        <a:rPr sz="1200" b="1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Rise</a:t>
                      </a:r>
                      <a:r>
                        <a:rPr sz="1200" b="1" spc="-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b="1" spc="-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(Tr)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Overshoot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(Mp)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Steady-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sz="1200" b="1" spc="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(ess)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Verdict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r>
                        <a:rPr sz="1200" b="1" spc="-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(P-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only)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Slow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200" b="1" spc="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(Offset)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302895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Inadequate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precision tasks.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Ziegler-Nichols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Fastest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~20%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Zero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67437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but</a:t>
                      </a:r>
                      <a:r>
                        <a:rPr sz="1200" spc="-7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risks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mechanical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stress.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Auto-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Tune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Balanced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~9%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(Optimal)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20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Zero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224154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Best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200" b="1" spc="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-6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Twin.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60" y="6420573"/>
            <a:ext cx="83439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solidFill>
                  <a:srgbClr val="888888"/>
                </a:solidFill>
                <a:latin typeface="Calibri"/>
                <a:cs typeface="Calibri"/>
              </a:rPr>
              <a:t>07.05.2026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8530" y="6435712"/>
            <a:ext cx="1905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327" y="1134110"/>
            <a:ext cx="11588115" cy="0"/>
          </a:xfrm>
          <a:custGeom>
            <a:avLst/>
            <a:gdLst/>
            <a:ahLst/>
            <a:cxnLst/>
            <a:rect l="l" t="t" r="r" b="b"/>
            <a:pathLst>
              <a:path w="11588115">
                <a:moveTo>
                  <a:pt x="0" y="0"/>
                </a:moveTo>
                <a:lnTo>
                  <a:pt x="11587607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4855" y="2089162"/>
            <a:ext cx="5712460" cy="21685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204"/>
              </a:spcBef>
              <a:buFont typeface="Courier New"/>
              <a:buChar char="o"/>
              <a:tabLst>
                <a:tab pos="338455" algn="l"/>
              </a:tabLst>
            </a:pPr>
            <a:r>
              <a:rPr sz="1350" dirty="0">
                <a:latin typeface="Calibri"/>
                <a:cs typeface="Calibri"/>
              </a:rPr>
              <a:t>Topic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selected: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PID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Controller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Simulation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DC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Motor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(MATLAB/Simulink)</a:t>
            </a:r>
            <a:endParaRPr sz="135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110"/>
              </a:spcBef>
              <a:buFont typeface="Courier New"/>
              <a:buChar char="o"/>
              <a:tabLst>
                <a:tab pos="338455" algn="l"/>
              </a:tabLst>
            </a:pPr>
            <a:r>
              <a:rPr sz="1350" dirty="0">
                <a:latin typeface="Calibri"/>
                <a:cs typeface="Calibri"/>
              </a:rPr>
              <a:t>Problem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statement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defined</a:t>
            </a:r>
            <a:endParaRPr sz="135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338455" algn="l"/>
              </a:tabLst>
            </a:pPr>
            <a:r>
              <a:rPr sz="1350" dirty="0">
                <a:latin typeface="Calibri"/>
                <a:cs typeface="Calibri"/>
              </a:rPr>
              <a:t>DC</a:t>
            </a:r>
            <a:r>
              <a:rPr sz="1350" spc="1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Motor</a:t>
            </a:r>
            <a:r>
              <a:rPr sz="1350" spc="10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mathematical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model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studied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(electrical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+</a:t>
            </a:r>
            <a:r>
              <a:rPr sz="1350" spc="20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mechanical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equations)</a:t>
            </a:r>
            <a:endParaRPr sz="13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298450" algn="l"/>
              </a:tabLst>
            </a:pPr>
            <a:r>
              <a:rPr sz="1350" dirty="0">
                <a:latin typeface="Calibri"/>
                <a:cs typeface="Calibri"/>
              </a:rPr>
              <a:t>PID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theory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reviewed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(P,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I,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terms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control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law)</a:t>
            </a:r>
            <a:endParaRPr sz="135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110"/>
              </a:spcBef>
              <a:buFont typeface="Courier New"/>
              <a:buChar char="o"/>
              <a:tabLst>
                <a:tab pos="338455" algn="l"/>
              </a:tabLst>
            </a:pPr>
            <a:r>
              <a:rPr sz="1350" dirty="0">
                <a:latin typeface="Calibri"/>
                <a:cs typeface="Calibri"/>
              </a:rPr>
              <a:t>Simulink</a:t>
            </a:r>
            <a:r>
              <a:rPr sz="1350" spc="1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model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structure</a:t>
            </a:r>
            <a:r>
              <a:rPr sz="1350" spc="10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planned</a:t>
            </a:r>
            <a:endParaRPr sz="13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35"/>
              </a:spcBef>
              <a:buFont typeface="Courier New"/>
              <a:buChar char="o"/>
              <a:tabLst>
                <a:tab pos="298450" algn="l"/>
              </a:tabLst>
            </a:pPr>
            <a:r>
              <a:rPr sz="1350" dirty="0">
                <a:latin typeface="Calibri"/>
                <a:cs typeface="Calibri"/>
              </a:rPr>
              <a:t>Tuning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methods</a:t>
            </a:r>
            <a:r>
              <a:rPr sz="1350" spc="1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identified</a:t>
            </a:r>
            <a:r>
              <a:rPr sz="1350" spc="2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(Manual,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Ziegler-Nichols,</a:t>
            </a:r>
            <a:r>
              <a:rPr sz="1350" spc="1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Auto-</a:t>
            </a:r>
            <a:r>
              <a:rPr sz="1350" spc="-10" dirty="0">
                <a:latin typeface="Calibri"/>
                <a:cs typeface="Calibri"/>
              </a:rPr>
              <a:t>tune)</a:t>
            </a:r>
            <a:endParaRPr sz="13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298450" algn="l"/>
              </a:tabLst>
            </a:pPr>
            <a:r>
              <a:rPr sz="1350" dirty="0">
                <a:latin typeface="Calibri"/>
                <a:cs typeface="Calibri"/>
              </a:rPr>
              <a:t>Concept</a:t>
            </a:r>
            <a:r>
              <a:rPr sz="1350" spc="1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presentation</a:t>
            </a:r>
            <a:r>
              <a:rPr sz="1350" spc="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slides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prepared</a:t>
            </a:r>
            <a:endParaRPr sz="13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Courier New"/>
              <a:buChar char="o"/>
              <a:tabLst>
                <a:tab pos="298450" algn="l"/>
              </a:tabLst>
            </a:pPr>
            <a:r>
              <a:rPr sz="1350" dirty="0">
                <a:latin typeface="Calibri"/>
                <a:cs typeface="Calibri"/>
              </a:rPr>
              <a:t>Build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DC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Motor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transfer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function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Simulink</a:t>
            </a:r>
            <a:endParaRPr sz="13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298450" algn="l"/>
              </a:tabLst>
            </a:pPr>
            <a:r>
              <a:rPr sz="1350" dirty="0">
                <a:latin typeface="Calibri"/>
                <a:cs typeface="Calibri"/>
              </a:rPr>
              <a:t>Implement</a:t>
            </a:r>
            <a:r>
              <a:rPr sz="1350" spc="1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PID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Controller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block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closed-</a:t>
            </a:r>
            <a:r>
              <a:rPr sz="1350" spc="-20" dirty="0">
                <a:latin typeface="Calibri"/>
                <a:cs typeface="Calibri"/>
              </a:rPr>
              <a:t>loop</a:t>
            </a:r>
            <a:endParaRPr sz="13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298450" algn="l"/>
              </a:tabLst>
            </a:pPr>
            <a:r>
              <a:rPr sz="1350" dirty="0">
                <a:latin typeface="Calibri"/>
                <a:cs typeface="Calibri"/>
              </a:rPr>
              <a:t>Implemented</a:t>
            </a:r>
            <a:r>
              <a:rPr sz="1350" spc="1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PID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Manual</a:t>
            </a:r>
            <a:r>
              <a:rPr sz="1350" spc="1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with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I=0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Auto-tune</a:t>
            </a:r>
            <a:r>
              <a:rPr sz="1350" spc="1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methods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855" y="1204023"/>
            <a:ext cx="2515235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701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417CC"/>
                </a:solidFill>
                <a:latin typeface="Arial MT"/>
                <a:cs typeface="Arial MT"/>
              </a:rPr>
              <a:t>Group</a:t>
            </a:r>
            <a:r>
              <a:rPr sz="1800" spc="-15" dirty="0">
                <a:solidFill>
                  <a:srgbClr val="2417C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417CC"/>
                </a:solidFill>
                <a:latin typeface="Arial MT"/>
                <a:cs typeface="Arial MT"/>
              </a:rPr>
              <a:t>members</a:t>
            </a:r>
            <a:r>
              <a:rPr sz="1800" spc="-10" dirty="0">
                <a:latin typeface="Calibri"/>
                <a:cs typeface="Calibri"/>
              </a:rPr>
              <a:t>: </a:t>
            </a:r>
            <a:r>
              <a:rPr sz="1800" dirty="0">
                <a:solidFill>
                  <a:srgbClr val="2417CC"/>
                </a:solidFill>
                <a:latin typeface="Arial MT"/>
                <a:cs typeface="Arial MT"/>
              </a:rPr>
              <a:t>Date:</a:t>
            </a:r>
            <a:r>
              <a:rPr sz="1800" spc="30" dirty="0">
                <a:solidFill>
                  <a:srgbClr val="2417CC"/>
                </a:solidFill>
                <a:latin typeface="Arial MT"/>
                <a:cs typeface="Arial MT"/>
              </a:rPr>
              <a:t> </a:t>
            </a:r>
            <a:r>
              <a:rPr lang="en-IN" sz="1800" spc="-10" dirty="0">
                <a:latin typeface="Arial MT"/>
                <a:cs typeface="Arial MT"/>
              </a:rPr>
              <a:t>09</a:t>
            </a:r>
            <a:r>
              <a:rPr sz="1800" spc="-10" dirty="0">
                <a:latin typeface="Arial MT"/>
                <a:cs typeface="Arial MT"/>
              </a:rPr>
              <a:t>-0</a:t>
            </a:r>
            <a:r>
              <a:rPr lang="en-IN" sz="1800" spc="-10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20" dirty="0">
                <a:latin typeface="Arial MT"/>
                <a:cs typeface="Arial MT"/>
              </a:rPr>
              <a:t>2026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u="sng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Work</a:t>
            </a:r>
            <a:r>
              <a:rPr sz="1800" u="sng" spc="-5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completed</a:t>
            </a:r>
            <a:r>
              <a:rPr sz="1800" u="sng" spc="-3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/Status: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0" y="771043"/>
            <a:ext cx="90333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0" spc="-10" dirty="0">
                <a:solidFill>
                  <a:srgbClr val="2417CC"/>
                </a:solidFill>
                <a:latin typeface="Arial MT"/>
                <a:cs typeface="Arial MT"/>
              </a:rPr>
              <a:t>Project</a:t>
            </a:r>
            <a:r>
              <a:rPr sz="1800" b="0" spc="-10" dirty="0">
                <a:solidFill>
                  <a:srgbClr val="000000"/>
                </a:solidFill>
                <a:latin typeface="Arial MT"/>
                <a:cs typeface="Arial MT"/>
              </a:rPr>
              <a:t>:</a:t>
            </a:r>
            <a:r>
              <a:rPr lang="en-IN" sz="18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Design</a:t>
            </a:r>
            <a:r>
              <a:rPr lang="en-US" sz="1800" b="0" spc="50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and</a:t>
            </a:r>
            <a:r>
              <a:rPr lang="en-US" sz="1800" b="0" spc="55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Simulation</a:t>
            </a:r>
            <a:r>
              <a:rPr lang="en-US" sz="1800" b="0" spc="55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of</a:t>
            </a:r>
            <a:r>
              <a:rPr lang="en-US" sz="1800" b="0" spc="75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a</a:t>
            </a:r>
            <a:r>
              <a:rPr lang="en-US" sz="1800" b="0" spc="95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PID</a:t>
            </a:r>
            <a:r>
              <a:rPr lang="en-US" sz="1800" b="0" spc="45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Controller</a:t>
            </a:r>
            <a:r>
              <a:rPr lang="en-US" sz="1800" b="0" spc="50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for</a:t>
            </a:r>
            <a:r>
              <a:rPr lang="en-US" sz="1800" b="0" spc="55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Precise</a:t>
            </a:r>
            <a:r>
              <a:rPr lang="en-US" sz="1800" b="0" spc="140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DC</a:t>
            </a:r>
            <a:r>
              <a:rPr lang="en-US" sz="1800" b="0" spc="75" dirty="0">
                <a:solidFill>
                  <a:schemeClr val="tx1"/>
                </a:solidFill>
              </a:rPr>
              <a:t> </a:t>
            </a:r>
            <a:r>
              <a:rPr lang="en-US" sz="1800" b="0" spc="-10" dirty="0">
                <a:solidFill>
                  <a:schemeClr val="tx1"/>
                </a:solidFill>
              </a:rPr>
              <a:t>Motor </a:t>
            </a:r>
            <a:r>
              <a:rPr lang="en-US" sz="1800" b="0" dirty="0">
                <a:solidFill>
                  <a:schemeClr val="tx1"/>
                </a:solidFill>
              </a:rPr>
              <a:t>Speed</a:t>
            </a:r>
            <a:r>
              <a:rPr lang="en-US" sz="1800" b="0" spc="100" dirty="0">
                <a:solidFill>
                  <a:schemeClr val="tx1"/>
                </a:solidFill>
              </a:rPr>
              <a:t> </a:t>
            </a:r>
            <a:r>
              <a:rPr lang="en-US" sz="1800" b="0" spc="-10" dirty="0">
                <a:solidFill>
                  <a:schemeClr val="tx1"/>
                </a:solidFill>
              </a:rPr>
              <a:t>Control</a:t>
            </a:r>
            <a:br>
              <a:rPr lang="en-US" sz="1800" dirty="0"/>
            </a:b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634" y="4286186"/>
            <a:ext cx="1207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Next</a:t>
            </a:r>
            <a:r>
              <a:rPr sz="1800" u="sng" spc="-1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 Steps: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792" y="4799729"/>
            <a:ext cx="199195" cy="1987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031" y="5148071"/>
            <a:ext cx="461772" cy="3794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031" y="5577840"/>
            <a:ext cx="461772" cy="3794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54634" y="4780597"/>
            <a:ext cx="4766945" cy="10864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323850">
              <a:lnSpc>
                <a:spcPct val="102400"/>
              </a:lnSpc>
              <a:spcBef>
                <a:spcPts val="80"/>
              </a:spcBef>
            </a:pPr>
            <a:r>
              <a:rPr sz="1350" dirty="0">
                <a:latin typeface="Calibri"/>
                <a:cs typeface="Calibri"/>
              </a:rPr>
              <a:t>Apply</a:t>
            </a:r>
            <a:r>
              <a:rPr sz="1350" spc="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all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Ziegler-Nichols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manual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tuning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methods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16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run </a:t>
            </a:r>
            <a:r>
              <a:rPr sz="1350" spc="-10" dirty="0">
                <a:latin typeface="Calibri"/>
                <a:cs typeface="Calibri"/>
              </a:rPr>
              <a:t>simulations</a:t>
            </a:r>
            <a:endParaRPr sz="1350">
              <a:latin typeface="Calibri"/>
              <a:cs typeface="Calibri"/>
            </a:endParaRPr>
          </a:p>
          <a:p>
            <a:pPr marL="12700" marR="98425" indent="323850">
              <a:lnSpc>
                <a:spcPts val="1730"/>
              </a:lnSpc>
              <a:spcBef>
                <a:spcPts val="5"/>
              </a:spcBef>
            </a:pPr>
            <a:r>
              <a:rPr sz="1350" dirty="0">
                <a:latin typeface="Calibri"/>
                <a:cs typeface="Calibri"/>
              </a:rPr>
              <a:t>Record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step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response,</a:t>
            </a:r>
            <a:r>
              <a:rPr sz="1350" spc="20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settling</a:t>
            </a:r>
            <a:r>
              <a:rPr sz="1350" spc="1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time,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overshoot,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steady-</a:t>
            </a:r>
            <a:r>
              <a:rPr sz="1350" spc="-10" dirty="0">
                <a:latin typeface="Calibri"/>
                <a:cs typeface="Calibri"/>
              </a:rPr>
              <a:t>state error</a:t>
            </a:r>
            <a:endParaRPr sz="1350">
              <a:latin typeface="Calibri"/>
              <a:cs typeface="Calibri"/>
            </a:endParaRPr>
          </a:p>
          <a:p>
            <a:pPr marL="336550">
              <a:lnSpc>
                <a:spcPts val="1585"/>
              </a:lnSpc>
            </a:pPr>
            <a:r>
              <a:rPr sz="1350" dirty="0">
                <a:latin typeface="Calibri"/>
                <a:cs typeface="Calibri"/>
              </a:rPr>
              <a:t>Compare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results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across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tuning</a:t>
            </a:r>
            <a:r>
              <a:rPr sz="1350" spc="17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methods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71131" y="1220977"/>
            <a:ext cx="0" cy="5071110"/>
          </a:xfrm>
          <a:custGeom>
            <a:avLst/>
            <a:gdLst/>
            <a:ahLst/>
            <a:cxnLst/>
            <a:rect l="l" t="t" r="r" b="b"/>
            <a:pathLst>
              <a:path h="5071110">
                <a:moveTo>
                  <a:pt x="0" y="0"/>
                </a:moveTo>
                <a:lnTo>
                  <a:pt x="0" y="5070970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96835" y="1402778"/>
            <a:ext cx="2185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Discussion</a:t>
            </a:r>
            <a:r>
              <a:rPr sz="1800" u="sng" spc="-3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Required: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90918" y="3813238"/>
            <a:ext cx="2287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Project</a:t>
            </a:r>
            <a:r>
              <a:rPr sz="1800" u="sng" spc="-25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2417CC"/>
                </a:solidFill>
                <a:uFill>
                  <a:solidFill>
                    <a:srgbClr val="2417CC"/>
                  </a:solidFill>
                </a:uFill>
                <a:latin typeface="Arial MT"/>
                <a:cs typeface="Arial MT"/>
              </a:rPr>
              <a:t>Requirements: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0918" y="4260100"/>
            <a:ext cx="3195955" cy="6756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97815" algn="l"/>
              </a:tabLst>
            </a:pPr>
            <a:r>
              <a:rPr sz="1350" dirty="0">
                <a:latin typeface="Calibri"/>
                <a:cs typeface="Calibri"/>
              </a:rPr>
              <a:t>MATLAB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R2023a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or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later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(with</a:t>
            </a:r>
            <a:r>
              <a:rPr sz="1350" spc="9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Simulink)</a:t>
            </a:r>
            <a:endParaRPr sz="135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7815" algn="l"/>
              </a:tabLst>
            </a:pPr>
            <a:r>
              <a:rPr sz="1350" dirty="0">
                <a:latin typeface="Calibri"/>
                <a:cs typeface="Calibri"/>
              </a:rPr>
              <a:t>Control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System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Toolbox</a:t>
            </a:r>
            <a:endParaRPr sz="135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97815" algn="l"/>
              </a:tabLst>
            </a:pPr>
            <a:r>
              <a:rPr sz="1350" dirty="0">
                <a:latin typeface="Calibri"/>
                <a:cs typeface="Calibri"/>
              </a:rPr>
              <a:t>Standard</a:t>
            </a:r>
            <a:r>
              <a:rPr sz="1350" spc="1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PC/Laptop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(</a:t>
            </a:r>
            <a:r>
              <a:rPr sz="1350" spc="1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simulation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only)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9474D-EF45-C54D-B100-AA33F94E1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2286000"/>
            <a:ext cx="11306810" cy="1477328"/>
          </a:xfrm>
        </p:spPr>
        <p:txBody>
          <a:bodyPr/>
          <a:lstStyle/>
          <a:p>
            <a:pPr algn="ctr"/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8936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1363</Words>
  <Application>Microsoft Office PowerPoint</Application>
  <PresentationFormat>Widescreen</PresentationFormat>
  <Paragraphs>200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MT</vt:lpstr>
      <vt:lpstr>Calibri</vt:lpstr>
      <vt:lpstr>Calibri Light</vt:lpstr>
      <vt:lpstr>Cambria Math</vt:lpstr>
      <vt:lpstr>Courier New</vt:lpstr>
      <vt:lpstr>Times New Roman</vt:lpstr>
      <vt:lpstr>Verdana</vt:lpstr>
      <vt:lpstr>Office Theme</vt:lpstr>
      <vt:lpstr>WELCOME! TO TECHNOLOGY CAMPUS CHAM</vt:lpstr>
      <vt:lpstr>TECHNOLOGY CAMPUS</vt:lpstr>
      <vt:lpstr>Group Members</vt:lpstr>
      <vt:lpstr>Transition: "Why we need Closed-Loop PID Control:</vt:lpstr>
      <vt:lpstr>PowerPoint Presentation</vt:lpstr>
      <vt:lpstr>Implementing the PID:</vt:lpstr>
      <vt:lpstr>PowerPoint Presentation</vt:lpstr>
      <vt:lpstr>Controller Performance Metrics &amp; Evaluation:</vt:lpstr>
      <vt:lpstr>Heuristic Analysis: Manual Tuning &amp; Offset Issues</vt:lpstr>
      <vt:lpstr>PowerPoint Presentation</vt:lpstr>
      <vt:lpstr>System Computational Optimization (PID Auto-Tuning)</vt:lpstr>
      <vt:lpstr>System Computational Optimization (PID Auto-Tuning)</vt:lpstr>
      <vt:lpstr>PowerPoint Presentation</vt:lpstr>
      <vt:lpstr>Conclusion</vt:lpstr>
      <vt:lpstr>Project: Design and Simulation of a PID Controller for Precise DC Motor Speed Control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Sandra Maier</dc:creator>
  <cp:lastModifiedBy>Ameer Khan</cp:lastModifiedBy>
  <cp:revision>1</cp:revision>
  <dcterms:created xsi:type="dcterms:W3CDTF">2026-06-07T12:56:44Z</dcterms:created>
  <dcterms:modified xsi:type="dcterms:W3CDTF">2026-06-07T14:32:09Z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2026-05-07T00:00:00Z</vt:filetime>
  </property>
  <property fmtid="{D5CDD505-2E9C-101B-9397-08002B2CF9AE}" pid="4" name="LastSaved">
    <vt:filetime>2026-06-07T00:00:00Z</vt:filetime>
  </property>
</Properties>
</file>